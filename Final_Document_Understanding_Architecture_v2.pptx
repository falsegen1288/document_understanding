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731520" y="731520"/>
            <a:ext cx="2560320" cy="320040"/>
          </a:xfrm>
          <a:prstGeom prst="rect">
            <a:avLst/>
          </a:prstGeom>
          <a:solidFill>
            <a:srgbClr val="0F2847"/>
          </a:solidFill>
          <a:ln w="12700">
            <a:solidFill>
              <a:srgbClr val="38BDF8"/>
            </a:solidFill>
            <a:prstDash val="solid"/>
          </a:ln>
        </p:spPr>
      </p:sp>
      <p:sp>
        <p:nvSpPr>
          <p:cNvPr id="3" name="Text 1"/>
          <p:cNvSpPr/>
          <p:nvPr/>
        </p:nvSpPr>
        <p:spPr>
          <a:xfrm>
            <a:off x="731520" y="731520"/>
            <a:ext cx="2560320" cy="320040"/>
          </a:xfrm>
          <a:prstGeom prst="rect">
            <a:avLst/>
          </a:prstGeom>
          <a:noFill/>
          <a:ln/>
        </p:spPr>
        <p:txBody>
          <a:bodyPr wrap="square" rtlCol="0" anchor="ctr"/>
          <a:lstStyle/>
          <a:p>
            <a:pPr algn="ctr" indent="0" marL="0">
              <a:buNone/>
            </a:pPr>
            <a:r>
              <a:rPr lang="en-US" sz="950" b="1" spc="120" kern="0" dirty="0">
                <a:solidFill>
                  <a:srgbClr val="38BDF8"/>
                </a:solidFill>
                <a:latin typeface="Calibri" pitchFamily="34" charset="0"/>
                <a:ea typeface="Calibri" pitchFamily="34" charset="-122"/>
                <a:cs typeface="Calibri" pitchFamily="34" charset="-120"/>
              </a:rPr>
              <a:t>ENTERPRISE ARCHITECTURE DECK</a:t>
            </a:r>
            <a:endParaRPr lang="en-US" sz="950" dirty="0"/>
          </a:p>
        </p:txBody>
      </p:sp>
      <p:sp>
        <p:nvSpPr>
          <p:cNvPr id="4" name="Text 2"/>
          <p:cNvSpPr/>
          <p:nvPr/>
        </p:nvSpPr>
        <p:spPr>
          <a:xfrm>
            <a:off x="731520" y="1234440"/>
            <a:ext cx="10698480" cy="1371600"/>
          </a:xfrm>
          <a:prstGeom prst="rect">
            <a:avLst/>
          </a:prstGeom>
          <a:noFill/>
          <a:ln/>
        </p:spPr>
        <p:txBody>
          <a:bodyPr wrap="square" rtlCol="0" anchor="ctr"/>
          <a:lstStyle/>
          <a:p>
            <a:pPr indent="0" marL="0">
              <a:buNone/>
            </a:pPr>
            <a:r>
              <a:rPr lang="en-US" sz="3400" b="1" dirty="0">
                <a:solidFill>
                  <a:srgbClr val="F8FAFC"/>
                </a:solidFill>
                <a:latin typeface="Calibri" pitchFamily="34" charset="0"/>
                <a:ea typeface="Calibri" pitchFamily="34" charset="-122"/>
                <a:cs typeface="Calibri" pitchFamily="34" charset="-120"/>
              </a:rPr>
              <a:t>Unified Document Understanding &amp;</a:t>
            </a:r>
            <a:endParaRPr lang="en-US" sz="3400" dirty="0"/>
          </a:p>
          <a:p>
            <a:pPr indent="0" marL="0">
              <a:buNone/>
            </a:pPr>
            <a:r>
              <a:rPr lang="en-US" sz="3400" b="1" dirty="0">
                <a:solidFill>
                  <a:srgbClr val="F8FAFC"/>
                </a:solidFill>
                <a:latin typeface="Calibri" pitchFamily="34" charset="0"/>
                <a:ea typeface="Calibri" pitchFamily="34" charset="-122"/>
                <a:cs typeface="Calibri" pitchFamily="34" charset="-120"/>
              </a:rPr>
              <a:t>Layout Benchmarking Platform</a:t>
            </a:r>
            <a:endParaRPr lang="en-US" sz="3400" dirty="0"/>
          </a:p>
        </p:txBody>
      </p:sp>
      <p:sp>
        <p:nvSpPr>
          <p:cNvPr id="5" name="Text 3"/>
          <p:cNvSpPr/>
          <p:nvPr/>
        </p:nvSpPr>
        <p:spPr>
          <a:xfrm>
            <a:off x="731520" y="2697480"/>
            <a:ext cx="10698480" cy="365760"/>
          </a:xfrm>
          <a:prstGeom prst="rect">
            <a:avLst/>
          </a:prstGeom>
          <a:noFill/>
          <a:ln/>
        </p:spPr>
        <p:txBody>
          <a:bodyPr wrap="square" rtlCol="0" anchor="ctr"/>
          <a:lstStyle/>
          <a:p>
            <a:pPr indent="0" marL="0">
              <a:buNone/>
            </a:pPr>
            <a:r>
              <a:rPr lang="en-US" sz="1250" dirty="0">
                <a:solidFill>
                  <a:srgbClr val="94A3B8"/>
                </a:solidFill>
                <a:latin typeface="Calibri" pitchFamily="34" charset="0"/>
                <a:ea typeface="Calibri" pitchFamily="34" charset="-122"/>
                <a:cs typeface="Calibri" pitchFamily="34" charset="-120"/>
              </a:rPr>
              <a:t>High-Fidelity 2D Spatial Grounding · Gemini 3.6 Flash Multimodal Vision · Hybrid RRF Retrieval · Zero-Drift Financial Arithmetic</a:t>
            </a:r>
            <a:endParaRPr lang="en-US" sz="1250" dirty="0"/>
          </a:p>
        </p:txBody>
      </p:sp>
      <p:sp>
        <p:nvSpPr>
          <p:cNvPr id="6" name="Shape 4"/>
          <p:cNvSpPr/>
          <p:nvPr/>
        </p:nvSpPr>
        <p:spPr>
          <a:xfrm>
            <a:off x="731520" y="3246120"/>
            <a:ext cx="10698480" cy="1234440"/>
          </a:xfrm>
          <a:prstGeom prst="rect">
            <a:avLst/>
          </a:prstGeom>
          <a:solidFill>
            <a:srgbClr val="111827"/>
          </a:solidFill>
          <a:ln w="12700">
            <a:solidFill>
              <a:srgbClr val="1E293B"/>
            </a:solidFill>
            <a:prstDash val="solid"/>
          </a:ln>
        </p:spPr>
      </p:sp>
      <p:sp>
        <p:nvSpPr>
          <p:cNvPr id="7" name="Text 5"/>
          <p:cNvSpPr/>
          <p:nvPr/>
        </p:nvSpPr>
        <p:spPr>
          <a:xfrm>
            <a:off x="1005840" y="3429000"/>
            <a:ext cx="4572000" cy="22860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PRESENTED BY</a:t>
            </a:r>
            <a:endParaRPr lang="en-US" sz="1000" dirty="0"/>
          </a:p>
        </p:txBody>
      </p:sp>
      <p:sp>
        <p:nvSpPr>
          <p:cNvPr id="8" name="Text 6"/>
          <p:cNvSpPr/>
          <p:nvPr/>
        </p:nvSpPr>
        <p:spPr>
          <a:xfrm>
            <a:off x="1005840" y="3657600"/>
            <a:ext cx="4572000" cy="411480"/>
          </a:xfrm>
          <a:prstGeom prst="rect">
            <a:avLst/>
          </a:prstGeom>
          <a:noFill/>
          <a:ln/>
        </p:spPr>
        <p:txBody>
          <a:bodyPr wrap="square"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Anik Panja</a:t>
            </a:r>
            <a:endParaRPr lang="en-US" sz="2200" dirty="0"/>
          </a:p>
        </p:txBody>
      </p:sp>
      <p:sp>
        <p:nvSpPr>
          <p:cNvPr id="9" name="Text 7"/>
          <p:cNvSpPr/>
          <p:nvPr/>
        </p:nvSpPr>
        <p:spPr>
          <a:xfrm>
            <a:off x="1005840" y="4069080"/>
            <a:ext cx="6400800" cy="274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Indian Institute of Technology Guwahati (IIT Guwahati)</a:t>
            </a:r>
            <a:endParaRPr lang="en-US" sz="1200" dirty="0"/>
          </a:p>
        </p:txBody>
      </p:sp>
      <p:sp>
        <p:nvSpPr>
          <p:cNvPr id="10" name="Text 8"/>
          <p:cNvSpPr/>
          <p:nvPr/>
        </p:nvSpPr>
        <p:spPr>
          <a:xfrm>
            <a:off x="7589520" y="3383280"/>
            <a:ext cx="914400" cy="292608"/>
          </a:xfrm>
          <a:prstGeom prst="rect">
            <a:avLst/>
          </a:prstGeom>
          <a:noFill/>
          <a:ln/>
        </p:spPr>
        <p:txBody>
          <a:bodyPr wrap="square" rtlCol="0" anchor="ctr"/>
          <a:lstStyle/>
          <a:p>
            <a:pPr algn="r" indent="0" marL="0">
              <a:buNone/>
            </a:pPr>
            <a:r>
              <a:rPr lang="en-US" sz="1100" b="1" dirty="0">
                <a:solidFill>
                  <a:srgbClr val="38BDF8"/>
                </a:solidFill>
                <a:latin typeface="Calibri" pitchFamily="34" charset="0"/>
                <a:ea typeface="Calibri" pitchFamily="34" charset="-122"/>
                <a:cs typeface="Calibri" pitchFamily="34" charset="-120"/>
              </a:rPr>
              <a:t>80.0% </a:t>
            </a:r>
            <a:endParaRPr lang="en-US" sz="1100" dirty="0"/>
          </a:p>
        </p:txBody>
      </p:sp>
      <p:sp>
        <p:nvSpPr>
          <p:cNvPr id="11" name="Text 9"/>
          <p:cNvSpPr/>
          <p:nvPr/>
        </p:nvSpPr>
        <p:spPr>
          <a:xfrm>
            <a:off x="8503920" y="3383280"/>
            <a:ext cx="2743200" cy="292608"/>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 TAT-DQA ACCURACY</a:t>
            </a:r>
            <a:endParaRPr lang="en-US" sz="1000" dirty="0"/>
          </a:p>
        </p:txBody>
      </p:sp>
      <p:sp>
        <p:nvSpPr>
          <p:cNvPr id="12" name="Text 10"/>
          <p:cNvSpPr/>
          <p:nvPr/>
        </p:nvSpPr>
        <p:spPr>
          <a:xfrm>
            <a:off x="7589520" y="3730752"/>
            <a:ext cx="914400" cy="292608"/>
          </a:xfrm>
          <a:prstGeom prst="rect">
            <a:avLst/>
          </a:prstGeom>
          <a:noFill/>
          <a:ln/>
        </p:spPr>
        <p:txBody>
          <a:bodyPr wrap="square"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82.0% </a:t>
            </a:r>
            <a:endParaRPr lang="en-US" sz="1100" dirty="0"/>
          </a:p>
        </p:txBody>
      </p:sp>
      <p:sp>
        <p:nvSpPr>
          <p:cNvPr id="13" name="Text 11"/>
          <p:cNvSpPr/>
          <p:nvPr/>
        </p:nvSpPr>
        <p:spPr>
          <a:xfrm>
            <a:off x="8503920" y="3730752"/>
            <a:ext cx="2743200" cy="292608"/>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 UNIDOC BENCHMARK</a:t>
            </a:r>
            <a:endParaRPr lang="en-US" sz="1000" dirty="0"/>
          </a:p>
        </p:txBody>
      </p:sp>
      <p:sp>
        <p:nvSpPr>
          <p:cNvPr id="14" name="Text 12"/>
          <p:cNvSpPr/>
          <p:nvPr/>
        </p:nvSpPr>
        <p:spPr>
          <a:xfrm>
            <a:off x="7589520" y="4078224"/>
            <a:ext cx="914400" cy="292608"/>
          </a:xfrm>
          <a:prstGeom prst="rect">
            <a:avLst/>
          </a:prstGeom>
          <a:noFill/>
          <a:ln/>
        </p:spPr>
        <p:txBody>
          <a:bodyPr wrap="square" rtlCol="0" anchor="ctr"/>
          <a:lstStyle/>
          <a:p>
            <a:pPr algn="r" indent="0" marL="0">
              <a:buNone/>
            </a:pPr>
            <a:r>
              <a:rPr lang="en-US" sz="1100" b="1" dirty="0">
                <a:solidFill>
                  <a:srgbClr val="F59E0B"/>
                </a:solidFill>
                <a:latin typeface="Calibri" pitchFamily="34" charset="0"/>
                <a:ea typeface="Calibri" pitchFamily="34" charset="-122"/>
                <a:cs typeface="Calibri" pitchFamily="34" charset="-120"/>
              </a:rPr>
              <a:t>100% </a:t>
            </a:r>
            <a:endParaRPr lang="en-US" sz="1100" dirty="0"/>
          </a:p>
        </p:txBody>
      </p:sp>
      <p:sp>
        <p:nvSpPr>
          <p:cNvPr id="15" name="Text 13"/>
          <p:cNvSpPr/>
          <p:nvPr/>
        </p:nvSpPr>
        <p:spPr>
          <a:xfrm>
            <a:off x="8503920" y="4078224"/>
            <a:ext cx="2743200" cy="292608"/>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 DEEPEVAL FAITHFULNESS</a:t>
            </a:r>
            <a:endParaRPr lang="en-US" sz="1000" dirty="0"/>
          </a:p>
        </p:txBody>
      </p:sp>
      <p:sp>
        <p:nvSpPr>
          <p:cNvPr id="16" name="Shape 14"/>
          <p:cNvSpPr/>
          <p:nvPr/>
        </p:nvSpPr>
        <p:spPr>
          <a:xfrm>
            <a:off x="731520" y="4754880"/>
            <a:ext cx="10698480" cy="1371600"/>
          </a:xfrm>
          <a:prstGeom prst="rect">
            <a:avLst/>
          </a:prstGeom>
          <a:solidFill>
            <a:srgbClr val="0A1124"/>
          </a:solidFill>
          <a:ln w="12700">
            <a:solidFill>
              <a:srgbClr val="1E293B"/>
            </a:solidFill>
            <a:prstDash val="solid"/>
          </a:ln>
        </p:spPr>
      </p:sp>
      <p:sp>
        <p:nvSpPr>
          <p:cNvPr id="17" name="Text 15"/>
          <p:cNvSpPr/>
          <p:nvPr/>
        </p:nvSpPr>
        <p:spPr>
          <a:xfrm>
            <a:off x="1005840" y="4892040"/>
            <a:ext cx="10058400" cy="228600"/>
          </a:xfrm>
          <a:prstGeom prst="rect">
            <a:avLst/>
          </a:prstGeom>
          <a:noFill/>
          <a:ln/>
        </p:spPr>
        <p:txBody>
          <a:bodyPr wrap="square" rtlCol="0" anchor="ctr"/>
          <a:lstStyle/>
          <a:p>
            <a:pPr indent="0" marL="0">
              <a:buNone/>
            </a:pPr>
            <a:r>
              <a:rPr lang="en-US" sz="950" b="1" spc="120" kern="0" dirty="0">
                <a:solidFill>
                  <a:srgbClr val="38BDF8"/>
                </a:solidFill>
                <a:latin typeface="Calibri" pitchFamily="34" charset="0"/>
                <a:ea typeface="Calibri" pitchFamily="34" charset="-122"/>
                <a:cs typeface="Calibri" pitchFamily="34" charset="-120"/>
              </a:rPr>
              <a:t>CORE ARCHITECTURE STACK &amp; MULTIMODAL FOUNDATION</a:t>
            </a:r>
            <a:endParaRPr lang="en-US" sz="950" dirty="0"/>
          </a:p>
        </p:txBody>
      </p:sp>
      <p:sp>
        <p:nvSpPr>
          <p:cNvPr id="18" name="Text 16"/>
          <p:cNvSpPr/>
          <p:nvPr/>
        </p:nvSpPr>
        <p:spPr>
          <a:xfrm>
            <a:off x="1005840" y="5166360"/>
            <a:ext cx="10058400" cy="868680"/>
          </a:xfrm>
          <a:prstGeom prst="rect">
            <a:avLst/>
          </a:prstGeom>
          <a:noFill/>
          <a:ln/>
        </p:spPr>
        <p:txBody>
          <a:bodyPr wrap="square"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 Layout &amp; OCR: </a:t>
            </a:r>
            <a:pPr indent="0" marL="0">
              <a:buNone/>
            </a:pPr>
            <a:r>
              <a:rPr lang="en-US" sz="1000" dirty="0">
                <a:solidFill>
                  <a:srgbClr val="94A3B8"/>
                </a:solidFill>
                <a:latin typeface="Calibri" pitchFamily="34" charset="0"/>
                <a:ea typeface="Calibri" pitchFamily="34" charset="-122"/>
                <a:cs typeface="Calibri" pitchFamily="34" charset="-120"/>
              </a:rPr>
              <a:t>DocLayout-YOLOv10 (0.8299 mean IoU) · IBM Docling TableFormer · PyMuPDF Digital Passthrough · EasyOCR
</a:t>
            </a:r>
            <a:pPr indent="0" marL="0">
              <a:buNone/>
            </a:pPr>
            <a:r>
              <a:rPr lang="en-US" sz="1000" b="1" dirty="0">
                <a:solidFill>
                  <a:srgbClr val="F8FAFC"/>
                </a:solidFill>
                <a:latin typeface="Calibri" pitchFamily="34" charset="0"/>
                <a:ea typeface="Calibri" pitchFamily="34" charset="-122"/>
                <a:cs typeface="Calibri" pitchFamily="34" charset="-120"/>
              </a:rPr>
              <a:t>• Vision &amp; Arithmetic: </a:t>
            </a:r>
            <a:pPr indent="0" marL="0">
              <a:buNone/>
            </a:pPr>
            <a:r>
              <a:rPr lang="en-US" sz="1000" dirty="0">
                <a:solidFill>
                  <a:srgbClr val="94A3B8"/>
                </a:solidFill>
                <a:latin typeface="Calibri" pitchFamily="34" charset="0"/>
                <a:ea typeface="Calibri" pitchFamily="34" charset="-122"/>
                <a:cs typeface="Calibri" pitchFamily="34" charset="-120"/>
              </a:rPr>
              <a:t>Google Gemini 3.6 Flash SOTA Vision API · Python / SymPy Symbolic Financial Arithmetic Engine
</a:t>
            </a:r>
            <a:pPr indent="0" marL="0">
              <a:buNone/>
            </a:pPr>
            <a:r>
              <a:rPr lang="en-US" sz="1000" b="1" dirty="0">
                <a:solidFill>
                  <a:srgbClr val="F8FAFC"/>
                </a:solidFill>
                <a:latin typeface="Calibri" pitchFamily="34" charset="0"/>
                <a:ea typeface="Calibri" pitchFamily="34" charset="-122"/>
                <a:cs typeface="Calibri" pitchFamily="34" charset="-120"/>
              </a:rPr>
              <a:t>• Indexing &amp; Retrieval: </a:t>
            </a:r>
            <a:pPr indent="0" marL="0">
              <a:buNone/>
            </a:pPr>
            <a:r>
              <a:rPr lang="en-US" sz="1000" dirty="0">
                <a:solidFill>
                  <a:srgbClr val="94A3B8"/>
                </a:solidFill>
                <a:latin typeface="Calibri" pitchFamily="34" charset="0"/>
                <a:ea typeface="Calibri" pitchFamily="34" charset="-122"/>
                <a:cs typeface="Calibri" pitchFamily="34" charset="-120"/>
              </a:rPr>
              <a:t>BGE-M3 1024-dim Dense Multi-Vector + Okapi BM25 Regex Tokenizer · Reciprocal Rank Fusion (RRF k=60)</a:t>
            </a:r>
            <a:endParaRPr lang="en-US" sz="1000" dirty="0"/>
          </a:p>
        </p:txBody>
      </p:sp>
      <p:sp>
        <p:nvSpPr>
          <p:cNvPr id="19" name="Text 17"/>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20" name="Text 18"/>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 of 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 PROBLEM STATEMENT &amp; CORE CHALLENGES</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Problem Statement: The 1D Linear Scan Bottleneck</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325880"/>
            <a:ext cx="6217920" cy="3749040"/>
          </a:xfrm>
          <a:prstGeom prst="rect">
            <a:avLst/>
          </a:prstGeom>
          <a:solidFill>
            <a:srgbClr val="111827"/>
          </a:solidFill>
          <a:ln w="12700">
            <a:solidFill>
              <a:srgbClr val="1E293B"/>
            </a:solidFill>
            <a:prstDash val="solid"/>
          </a:ln>
        </p:spPr>
      </p:sp>
      <p:sp>
        <p:nvSpPr>
          <p:cNvPr id="6" name="Text 4"/>
          <p:cNvSpPr/>
          <p:nvPr/>
        </p:nvSpPr>
        <p:spPr>
          <a:xfrm>
            <a:off x="1005840" y="1508760"/>
            <a:ext cx="5669280" cy="256032"/>
          </a:xfrm>
          <a:prstGeom prst="rect">
            <a:avLst/>
          </a:prstGeom>
          <a:noFill/>
          <a:ln/>
        </p:spPr>
        <p:txBody>
          <a:bodyPr wrap="square"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WHY TRADITIONAL DOCUMENT PARSERS COLLAPSE</a:t>
            </a:r>
            <a:endParaRPr lang="en-US" sz="1100" dirty="0"/>
          </a:p>
        </p:txBody>
      </p:sp>
      <p:sp>
        <p:nvSpPr>
          <p:cNvPr id="7" name="Text 5"/>
          <p:cNvSpPr/>
          <p:nvPr/>
        </p:nvSpPr>
        <p:spPr>
          <a:xfrm>
            <a:off x="1005840" y="1874520"/>
            <a:ext cx="566928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1. Multi-Column Reading Order Disruption</a:t>
            </a:r>
            <a:endParaRPr lang="en-US" sz="1100" dirty="0"/>
          </a:p>
        </p:txBody>
      </p:sp>
      <p:sp>
        <p:nvSpPr>
          <p:cNvPr id="8" name="Text 6"/>
          <p:cNvSpPr/>
          <p:nvPr/>
        </p:nvSpPr>
        <p:spPr>
          <a:xfrm>
            <a:off x="1005840" y="2075688"/>
            <a:ext cx="5669280" cy="5029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Standard PDF text extractors read left-to-right across the full horizontal page, interleaving text from separate parallel columns into garbled, unparseable sentences.</a:t>
            </a:r>
            <a:endParaRPr lang="en-US" sz="950" dirty="0"/>
          </a:p>
        </p:txBody>
      </p:sp>
      <p:sp>
        <p:nvSpPr>
          <p:cNvPr id="9" name="Text 7"/>
          <p:cNvSpPr/>
          <p:nvPr/>
        </p:nvSpPr>
        <p:spPr>
          <a:xfrm>
            <a:off x="1005840" y="2624328"/>
            <a:ext cx="566928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2. Borderless Financial Table Destruction</a:t>
            </a:r>
            <a:endParaRPr lang="en-US" sz="1100" dirty="0"/>
          </a:p>
        </p:txBody>
      </p:sp>
      <p:sp>
        <p:nvSpPr>
          <p:cNvPr id="10" name="Text 8"/>
          <p:cNvSpPr/>
          <p:nvPr/>
        </p:nvSpPr>
        <p:spPr>
          <a:xfrm>
            <a:off x="1005840" y="2825496"/>
            <a:ext cx="5669280" cy="5029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Whitespace cell delimiters are stripped or flattened into arbitrary strings, destroying column alignments and corrupting financial numbers.</a:t>
            </a:r>
            <a:endParaRPr lang="en-US" sz="950" dirty="0"/>
          </a:p>
        </p:txBody>
      </p:sp>
      <p:sp>
        <p:nvSpPr>
          <p:cNvPr id="11" name="Text 9"/>
          <p:cNvSpPr/>
          <p:nvPr/>
        </p:nvSpPr>
        <p:spPr>
          <a:xfrm>
            <a:off x="1005840" y="3374136"/>
            <a:ext cx="566928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3. Dropped Visual Assets &amp; Infographics</a:t>
            </a:r>
            <a:endParaRPr lang="en-US" sz="1100" dirty="0"/>
          </a:p>
        </p:txBody>
      </p:sp>
      <p:sp>
        <p:nvSpPr>
          <p:cNvPr id="12" name="Text 10"/>
          <p:cNvSpPr/>
          <p:nvPr/>
        </p:nvSpPr>
        <p:spPr>
          <a:xfrm>
            <a:off x="1005840" y="3575304"/>
            <a:ext cx="5669280" cy="5029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1D text extractors completely discard charts, diagrams, and medical figure crops, leaving downstream LLMs blind to visual evidence.</a:t>
            </a:r>
            <a:endParaRPr lang="en-US" sz="950" dirty="0"/>
          </a:p>
        </p:txBody>
      </p:sp>
      <p:sp>
        <p:nvSpPr>
          <p:cNvPr id="13" name="Text 11"/>
          <p:cNvSpPr/>
          <p:nvPr/>
        </p:nvSpPr>
        <p:spPr>
          <a:xfrm>
            <a:off x="1005840" y="4123944"/>
            <a:ext cx="566928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4. Detached Captions &amp; Footnotes</a:t>
            </a:r>
            <a:endParaRPr lang="en-US" sz="1100" dirty="0"/>
          </a:p>
        </p:txBody>
      </p:sp>
      <p:sp>
        <p:nvSpPr>
          <p:cNvPr id="14" name="Text 12"/>
          <p:cNvSpPr/>
          <p:nvPr/>
        </p:nvSpPr>
        <p:spPr>
          <a:xfrm>
            <a:off x="1005840" y="4325112"/>
            <a:ext cx="5669280" cy="5029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Figure captions, audit opinions, and table footnotes are severed from their parent entities, causing prompt-enhancer hallucinations.</a:t>
            </a:r>
            <a:endParaRPr lang="en-US" sz="950" dirty="0"/>
          </a:p>
        </p:txBody>
      </p:sp>
      <p:sp>
        <p:nvSpPr>
          <p:cNvPr id="15" name="Shape 13"/>
          <p:cNvSpPr/>
          <p:nvPr/>
        </p:nvSpPr>
        <p:spPr>
          <a:xfrm>
            <a:off x="7223760" y="1325880"/>
            <a:ext cx="4206240" cy="3749040"/>
          </a:xfrm>
          <a:prstGeom prst="rect">
            <a:avLst/>
          </a:prstGeom>
          <a:solidFill>
            <a:srgbClr val="162032"/>
          </a:solidFill>
          <a:ln w="12700">
            <a:solidFill>
              <a:srgbClr val="1E293B"/>
            </a:solidFill>
            <a:prstDash val="solid"/>
          </a:ln>
        </p:spPr>
      </p:sp>
      <p:sp>
        <p:nvSpPr>
          <p:cNvPr id="16" name="Text 14"/>
          <p:cNvSpPr/>
          <p:nvPr/>
        </p:nvSpPr>
        <p:spPr>
          <a:xfrm>
            <a:off x="7452360" y="1508760"/>
            <a:ext cx="3749040" cy="256032"/>
          </a:xfrm>
          <a:prstGeom prst="rect">
            <a:avLst/>
          </a:prstGeom>
          <a:noFill/>
          <a:ln/>
        </p:spPr>
        <p:txBody>
          <a:bodyPr wrap="square" rtlCol="0" anchor="ctr"/>
          <a:lstStyle/>
          <a:p>
            <a:pPr indent="0" marL="0">
              <a:buNone/>
            </a:pPr>
            <a:r>
              <a:rPr lang="en-US" sz="1100" b="1" spc="100" kern="0" dirty="0">
                <a:solidFill>
                  <a:srgbClr val="EF4444"/>
                </a:solidFill>
                <a:latin typeface="Calibri" pitchFamily="34" charset="0"/>
                <a:ea typeface="Calibri" pitchFamily="34" charset="-122"/>
                <a:cs typeface="Calibri" pitchFamily="34" charset="-120"/>
              </a:rPr>
              <a:t>1D TEXT STREAM vs 2D SPATIAL CANVAS</a:t>
            </a:r>
            <a:endParaRPr lang="en-US" sz="1100" dirty="0"/>
          </a:p>
        </p:txBody>
      </p:sp>
      <p:sp>
        <p:nvSpPr>
          <p:cNvPr id="17" name="Text 15"/>
          <p:cNvSpPr/>
          <p:nvPr/>
        </p:nvSpPr>
        <p:spPr>
          <a:xfrm>
            <a:off x="7452360" y="1874520"/>
            <a:ext cx="3749040" cy="3017520"/>
          </a:xfrm>
          <a:prstGeom prst="rect">
            <a:avLst/>
          </a:prstGeom>
          <a:noFill/>
          <a:ln/>
        </p:spPr>
        <p:txBody>
          <a:bodyPr wrap="square"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 Naive 1D Extraction:
</a:t>
            </a:r>
            <a:pPr indent="0" marL="0">
              <a:buNone/>
            </a:pPr>
            <a:r>
              <a:rPr lang="en-US" sz="1000" dirty="0">
                <a:solidFill>
                  <a:srgbClr val="94A3B8"/>
                </a:solidFill>
                <a:latin typeface="Calibri" pitchFamily="34" charset="0"/>
                <a:ea typeface="Calibri" pitchFamily="34" charset="-122"/>
                <a:cs typeface="Calibri" pitchFamily="34" charset="-120"/>
              </a:rPr>
              <a:t>• Strips all spatial layout coordinates
• Flattens multi-row tables into plain text
• Merges independent columns together
• Loses visual grounding completely
</a:t>
            </a:r>
            <a:pPr indent="0" marL="0">
              <a:buNone/>
            </a:pPr>
            <a:r>
              <a:rPr lang="en-US" sz="1000" b="1" dirty="0">
                <a:solidFill>
                  <a:srgbClr val="10B981"/>
                </a:solidFill>
                <a:latin typeface="Calibri" pitchFamily="34" charset="0"/>
                <a:ea typeface="Calibri" pitchFamily="34" charset="-122"/>
                <a:cs typeface="Calibri" pitchFamily="34" charset="-120"/>
              </a:rPr>
              <a:t>✓ Our 2D Spatial Grounding:
</a:t>
            </a:r>
            <a:pPr indent="0" marL="0">
              <a:buNone/>
            </a:pPr>
            <a:r>
              <a:rPr lang="en-US" sz="1000" dirty="0">
                <a:solidFill>
                  <a:srgbClr val="94A3B8"/>
                </a:solidFill>
                <a:latin typeface="Calibri" pitchFamily="34" charset="0"/>
                <a:ea typeface="Calibri" pitchFamily="34" charset="-122"/>
                <a:cs typeface="Calibri" pitchFamily="34" charset="-120"/>
              </a:rPr>
              <a:t>• Detects 5-class BBoxes [x0, y0, x1, y1]</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Preserves exact column boundaries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Markdown table grid reconstruction</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 Coordinate-anchored visual captions</a:t>
            </a:r>
            <a:endParaRPr lang="en-US" sz="1000" dirty="0"/>
          </a:p>
        </p:txBody>
      </p:sp>
      <p:sp>
        <p:nvSpPr>
          <p:cNvPr id="18" name="Shape 16"/>
          <p:cNvSpPr/>
          <p:nvPr/>
        </p:nvSpPr>
        <p:spPr>
          <a:xfrm>
            <a:off x="731520" y="5257800"/>
            <a:ext cx="10698480" cy="1005840"/>
          </a:xfrm>
          <a:prstGeom prst="rect">
            <a:avLst/>
          </a:prstGeom>
          <a:solidFill>
            <a:srgbClr val="17140B"/>
          </a:solidFill>
          <a:ln w="15240">
            <a:solidFill>
              <a:srgbClr val="F59E0B"/>
            </a:solidFill>
            <a:prstDash val="solid"/>
          </a:ln>
        </p:spPr>
      </p:sp>
      <p:sp>
        <p:nvSpPr>
          <p:cNvPr id="19" name="Text 17"/>
          <p:cNvSpPr/>
          <p:nvPr/>
        </p:nvSpPr>
        <p:spPr>
          <a:xfrm>
            <a:off x="914400" y="53675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ARCHITECTURAL BREAKTHROUGH: 2D SPATIAL COORDINATE GROUNDING</a:t>
            </a:r>
            <a:endParaRPr lang="en-US" sz="1050" dirty="0"/>
          </a:p>
        </p:txBody>
      </p:sp>
      <p:sp>
        <p:nvSpPr>
          <p:cNvPr id="20" name="Text 18"/>
          <p:cNvSpPr/>
          <p:nvPr/>
        </p:nvSpPr>
        <p:spPr>
          <a:xfrm>
            <a:off x="914400" y="5623560"/>
            <a:ext cx="10332720" cy="5669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Real-world enterprise documents (financial filings, legal contracts, medical catalogues) are 2D spatial canvases. Our architecture anchors every word, table cell, and figure crop to pixel bounding boxes [x0, y0, x1, y1], enabling 100% auditable evidence trails.</a:t>
            </a:r>
            <a:endParaRPr lang="en-US" sz="950" dirty="0"/>
          </a:p>
        </p:txBody>
      </p:sp>
      <p:sp>
        <p:nvSpPr>
          <p:cNvPr id="21" name="Text 19"/>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22" name="Text 20"/>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2 of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 PROBLEM STATEMENT &amp; CORE CHALLENGES</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The Problem Visualized: Complex 2D Heterogeneous Canvas</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pic>
        <p:nvPicPr>
          <p:cNvPr id="5" name="Image 0" descr="c:\Users\user\Downloads\Document_Understanding\docs\page_25.png">    </p:cNvPr>
          <p:cNvPicPr>
            <a:picLocks noChangeAspect="1"/>
          </p:cNvPicPr>
          <p:nvPr/>
        </p:nvPicPr>
        <p:blipFill>
          <a:blip r:embed="rId1"/>
          <a:stretch>
            <a:fillRect/>
          </a:stretch>
        </p:blipFill>
        <p:spPr>
          <a:xfrm>
            <a:off x="731520" y="1325880"/>
            <a:ext cx="5120640" cy="4754880"/>
          </a:xfrm>
          <a:prstGeom prst="rect">
            <a:avLst/>
          </a:prstGeom>
        </p:spPr>
      </p:pic>
      <p:sp>
        <p:nvSpPr>
          <p:cNvPr id="6" name="Shape 3"/>
          <p:cNvSpPr/>
          <p:nvPr/>
        </p:nvSpPr>
        <p:spPr>
          <a:xfrm>
            <a:off x="6126480" y="1325880"/>
            <a:ext cx="5303520" cy="4754880"/>
          </a:xfrm>
          <a:prstGeom prst="rect">
            <a:avLst/>
          </a:prstGeom>
          <a:solidFill>
            <a:srgbClr val="111827"/>
          </a:solidFill>
          <a:ln w="12700">
            <a:solidFill>
              <a:srgbClr val="1E293B"/>
            </a:solidFill>
            <a:prstDash val="solid"/>
          </a:ln>
        </p:spPr>
      </p:sp>
      <p:sp>
        <p:nvSpPr>
          <p:cNvPr id="7" name="Text 4"/>
          <p:cNvSpPr/>
          <p:nvPr/>
        </p:nvSpPr>
        <p:spPr>
          <a:xfrm>
            <a:off x="6400800" y="1508760"/>
            <a:ext cx="4754880" cy="256032"/>
          </a:xfrm>
          <a:prstGeom prst="rect">
            <a:avLst/>
          </a:prstGeom>
          <a:noFill/>
          <a:ln/>
        </p:spPr>
        <p:txBody>
          <a:bodyPr wrap="square"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ANATOMY OF A COMPLEX MULTI-MODAL DOCUMENT</a:t>
            </a:r>
            <a:endParaRPr lang="en-US" sz="1100" dirty="0"/>
          </a:p>
        </p:txBody>
      </p:sp>
      <p:sp>
        <p:nvSpPr>
          <p:cNvPr id="8" name="Text 5"/>
          <p:cNvSpPr/>
          <p:nvPr/>
        </p:nvSpPr>
        <p:spPr>
          <a:xfrm>
            <a:off x="6400800" y="1920240"/>
            <a:ext cx="4754880" cy="22860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MULTIPLE VISUAL FIGURE CROPS</a:t>
            </a:r>
            <a:endParaRPr lang="en-US" sz="1000" dirty="0"/>
          </a:p>
        </p:txBody>
      </p:sp>
      <p:sp>
        <p:nvSpPr>
          <p:cNvPr id="9" name="Text 6"/>
          <p:cNvSpPr/>
          <p:nvPr/>
        </p:nvSpPr>
        <p:spPr>
          <a:xfrm>
            <a:off x="6400800" y="2121408"/>
            <a:ext cx="4754880" cy="5943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Multiple high-resolution medical instruments placed side-by-side with no natural linear reading order.</a:t>
            </a:r>
            <a:endParaRPr lang="en-US" sz="950" dirty="0"/>
          </a:p>
        </p:txBody>
      </p:sp>
      <p:sp>
        <p:nvSpPr>
          <p:cNvPr id="10" name="Text 7"/>
          <p:cNvSpPr/>
          <p:nvPr/>
        </p:nvSpPr>
        <p:spPr>
          <a:xfrm>
            <a:off x="6400800" y="2788920"/>
            <a:ext cx="4754880" cy="22860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B. PARALLEL SPECIFICATION TABLES</a:t>
            </a:r>
            <a:endParaRPr lang="en-US" sz="1000" dirty="0"/>
          </a:p>
        </p:txBody>
      </p:sp>
      <p:sp>
        <p:nvSpPr>
          <p:cNvPr id="11" name="Text 8"/>
          <p:cNvSpPr/>
          <p:nvPr/>
        </p:nvSpPr>
        <p:spPr>
          <a:xfrm>
            <a:off x="6400800" y="2990088"/>
            <a:ext cx="4754880" cy="5943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Multi-column spec tables containing numeric millimeter dimensions, order codes, and alphanumeric part numbers.</a:t>
            </a:r>
            <a:endParaRPr lang="en-US" sz="950" dirty="0"/>
          </a:p>
        </p:txBody>
      </p:sp>
      <p:sp>
        <p:nvSpPr>
          <p:cNvPr id="12" name="Text 9"/>
          <p:cNvSpPr/>
          <p:nvPr/>
        </p:nvSpPr>
        <p:spPr>
          <a:xfrm>
            <a:off x="6400800" y="3657600"/>
            <a:ext cx="4754880" cy="22860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C. DENSE ALPHANUMERIC PART NUMBERS</a:t>
            </a:r>
            <a:endParaRPr lang="en-US" sz="1000" dirty="0"/>
          </a:p>
        </p:txBody>
      </p:sp>
      <p:sp>
        <p:nvSpPr>
          <p:cNvPr id="13" name="Text 10"/>
          <p:cNvSpPr/>
          <p:nvPr/>
        </p:nvSpPr>
        <p:spPr>
          <a:xfrm>
            <a:off x="6400800" y="3858768"/>
            <a:ext cx="4754880" cy="5943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Codes like "352952" get chopped by standard subword tokenizers (BPE), causing retrieval misses and LLM hallucinations.</a:t>
            </a:r>
            <a:endParaRPr lang="en-US" sz="950" dirty="0"/>
          </a:p>
        </p:txBody>
      </p:sp>
      <p:sp>
        <p:nvSpPr>
          <p:cNvPr id="14" name="Text 11"/>
          <p:cNvSpPr/>
          <p:nvPr/>
        </p:nvSpPr>
        <p:spPr>
          <a:xfrm>
            <a:off x="6400800" y="4526280"/>
            <a:ext cx="4754880" cy="22860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D. GEOMETRIC PROXIMITY RELATIONSHIPS</a:t>
            </a:r>
            <a:endParaRPr lang="en-US" sz="1000" dirty="0"/>
          </a:p>
        </p:txBody>
      </p:sp>
      <p:sp>
        <p:nvSpPr>
          <p:cNvPr id="15" name="Text 12"/>
          <p:cNvSpPr/>
          <p:nvPr/>
        </p:nvSpPr>
        <p:spPr>
          <a:xfrm>
            <a:off x="6400800" y="4727448"/>
            <a:ext cx="4754880" cy="5943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Text descriptions belong strictly to the adjacent image crop, not the paragraph directly above or below it.</a:t>
            </a:r>
            <a:endParaRPr lang="en-US" sz="950" dirty="0"/>
          </a:p>
        </p:txBody>
      </p:sp>
      <p:sp>
        <p:nvSpPr>
          <p:cNvPr id="16" name="Shape 13"/>
          <p:cNvSpPr/>
          <p:nvPr/>
        </p:nvSpPr>
        <p:spPr>
          <a:xfrm>
            <a:off x="6400800" y="5349240"/>
            <a:ext cx="4754880" cy="594360"/>
          </a:xfrm>
          <a:prstGeom prst="rect">
            <a:avLst/>
          </a:prstGeom>
          <a:solidFill>
            <a:srgbClr val="0F2847"/>
          </a:solidFill>
          <a:ln w="12700">
            <a:solidFill>
              <a:srgbClr val="38BDF8"/>
            </a:solidFill>
            <a:prstDash val="solid"/>
          </a:ln>
        </p:spPr>
      </p:sp>
      <p:sp>
        <p:nvSpPr>
          <p:cNvPr id="17" name="Text 14"/>
          <p:cNvSpPr/>
          <p:nvPr/>
        </p:nvSpPr>
        <p:spPr>
          <a:xfrm>
            <a:off x="6492240" y="5394960"/>
            <a:ext cx="4572000" cy="502920"/>
          </a:xfrm>
          <a:prstGeom prst="rect">
            <a:avLst/>
          </a:prstGeom>
          <a:noFill/>
          <a:ln/>
        </p:spPr>
        <p:txBody>
          <a:bodyPr wrap="square"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Core Takeaway: Standard OCR destroys this layout. The pipeline must detect 2D bounding boxes and route text, tables, and images to specialized models.</a:t>
            </a:r>
            <a:endParaRPr lang="en-US" sz="900" dirty="0"/>
          </a:p>
        </p:txBody>
      </p:sp>
      <p:sp>
        <p:nvSpPr>
          <p:cNvPr id="18" name="Text 15"/>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9" name="Text 16"/>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3 of 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 PROPOSED MASTER SYSTEM ARCHITECTURE</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Proposed Unified Master System Architecture &amp; Data Flow</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pic>
        <p:nvPicPr>
          <p:cNvPr id="5" name="Image 0" descr="c:\Users\user\Downloads\Document_Understanding\docs\flowchart.png">    </p:cNvPr>
          <p:cNvPicPr>
            <a:picLocks noChangeAspect="1"/>
          </p:cNvPicPr>
          <p:nvPr/>
        </p:nvPicPr>
        <p:blipFill>
          <a:blip r:embed="rId1"/>
          <a:stretch>
            <a:fillRect/>
          </a:stretch>
        </p:blipFill>
        <p:spPr>
          <a:xfrm>
            <a:off x="731520" y="1325880"/>
            <a:ext cx="6035040" cy="4846320"/>
          </a:xfrm>
          <a:prstGeom prst="rect">
            <a:avLst/>
          </a:prstGeom>
        </p:spPr>
      </p:pic>
      <p:sp>
        <p:nvSpPr>
          <p:cNvPr id="6" name="Shape 3"/>
          <p:cNvSpPr/>
          <p:nvPr/>
        </p:nvSpPr>
        <p:spPr>
          <a:xfrm>
            <a:off x="6949440" y="1325880"/>
            <a:ext cx="4480560" cy="868680"/>
          </a:xfrm>
          <a:prstGeom prst="rect">
            <a:avLst/>
          </a:prstGeom>
          <a:solidFill>
            <a:srgbClr val="111827"/>
          </a:solidFill>
          <a:ln w="12700">
            <a:solidFill>
              <a:srgbClr val="1E293B"/>
            </a:solidFill>
            <a:prstDash val="solid"/>
          </a:ln>
        </p:spPr>
      </p:sp>
      <p:sp>
        <p:nvSpPr>
          <p:cNvPr id="7" name="Shape 4"/>
          <p:cNvSpPr/>
          <p:nvPr/>
        </p:nvSpPr>
        <p:spPr>
          <a:xfrm>
            <a:off x="7086600" y="1463040"/>
            <a:ext cx="594360" cy="594360"/>
          </a:xfrm>
          <a:prstGeom prst="rect">
            <a:avLst/>
          </a:prstGeom>
          <a:solidFill>
            <a:srgbClr val="2563EB"/>
          </a:solidFill>
          <a:ln w="12700">
            <a:solidFill>
              <a:srgbClr val="2563EB"/>
            </a:solidFill>
            <a:prstDash val="solid"/>
          </a:ln>
        </p:spPr>
      </p:sp>
      <p:sp>
        <p:nvSpPr>
          <p:cNvPr id="8" name="Text 5"/>
          <p:cNvSpPr/>
          <p:nvPr/>
        </p:nvSpPr>
        <p:spPr>
          <a:xfrm>
            <a:off x="7086600" y="1463040"/>
            <a:ext cx="594360" cy="594360"/>
          </a:xfrm>
          <a:prstGeom prst="rect">
            <a:avLst/>
          </a:prstGeom>
          <a:noFill/>
          <a:ln/>
        </p:spPr>
        <p:txBody>
          <a:bodyPr wrap="square"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01</a:t>
            </a:r>
            <a:endParaRPr lang="en-US" sz="1300" dirty="0"/>
          </a:p>
        </p:txBody>
      </p:sp>
      <p:sp>
        <p:nvSpPr>
          <p:cNvPr id="9" name="Text 6"/>
          <p:cNvSpPr/>
          <p:nvPr/>
        </p:nvSpPr>
        <p:spPr>
          <a:xfrm>
            <a:off x="7772400" y="1435608"/>
            <a:ext cx="356616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Ingestion &amp; Routing</a:t>
            </a:r>
            <a:endParaRPr lang="en-US" sz="1100" dirty="0"/>
          </a:p>
        </p:txBody>
      </p:sp>
      <p:sp>
        <p:nvSpPr>
          <p:cNvPr id="10" name="Text 7"/>
          <p:cNvSpPr/>
          <p:nvPr/>
        </p:nvSpPr>
        <p:spPr>
          <a:xfrm>
            <a:off x="7772400" y="1673352"/>
            <a:ext cx="3566160"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150 DPI rendering + dynamic layer dispatch (PyMuPDF vs EasyOCR) + DocLayout-YOLOv10 BBoxes.</a:t>
            </a:r>
            <a:endParaRPr lang="en-US" sz="900" dirty="0"/>
          </a:p>
        </p:txBody>
      </p:sp>
      <p:sp>
        <p:nvSpPr>
          <p:cNvPr id="11" name="Shape 8"/>
          <p:cNvSpPr/>
          <p:nvPr/>
        </p:nvSpPr>
        <p:spPr>
          <a:xfrm>
            <a:off x="6949440" y="2286000"/>
            <a:ext cx="4480560" cy="868680"/>
          </a:xfrm>
          <a:prstGeom prst="rect">
            <a:avLst/>
          </a:prstGeom>
          <a:solidFill>
            <a:srgbClr val="111827"/>
          </a:solidFill>
          <a:ln w="12700">
            <a:solidFill>
              <a:srgbClr val="1E293B"/>
            </a:solidFill>
            <a:prstDash val="solid"/>
          </a:ln>
        </p:spPr>
      </p:sp>
      <p:sp>
        <p:nvSpPr>
          <p:cNvPr id="12" name="Shape 9"/>
          <p:cNvSpPr/>
          <p:nvPr/>
        </p:nvSpPr>
        <p:spPr>
          <a:xfrm>
            <a:off x="7086600" y="2423160"/>
            <a:ext cx="594360" cy="594360"/>
          </a:xfrm>
          <a:prstGeom prst="rect">
            <a:avLst/>
          </a:prstGeom>
          <a:solidFill>
            <a:srgbClr val="2563EB"/>
          </a:solidFill>
          <a:ln w="12700">
            <a:solidFill>
              <a:srgbClr val="2563EB"/>
            </a:solidFill>
            <a:prstDash val="solid"/>
          </a:ln>
        </p:spPr>
      </p:sp>
      <p:sp>
        <p:nvSpPr>
          <p:cNvPr id="13" name="Text 10"/>
          <p:cNvSpPr/>
          <p:nvPr/>
        </p:nvSpPr>
        <p:spPr>
          <a:xfrm>
            <a:off x="7086600" y="2423160"/>
            <a:ext cx="594360" cy="594360"/>
          </a:xfrm>
          <a:prstGeom prst="rect">
            <a:avLst/>
          </a:prstGeom>
          <a:noFill/>
          <a:ln/>
        </p:spPr>
        <p:txBody>
          <a:bodyPr wrap="square"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02</a:t>
            </a:r>
            <a:endParaRPr lang="en-US" sz="1300" dirty="0"/>
          </a:p>
        </p:txBody>
      </p:sp>
      <p:sp>
        <p:nvSpPr>
          <p:cNvPr id="14" name="Text 11"/>
          <p:cNvSpPr/>
          <p:nvPr/>
        </p:nvSpPr>
        <p:spPr>
          <a:xfrm>
            <a:off x="7772400" y="2395728"/>
            <a:ext cx="356616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Structure &amp; Vision</a:t>
            </a:r>
            <a:endParaRPr lang="en-US" sz="1100" dirty="0"/>
          </a:p>
        </p:txBody>
      </p:sp>
      <p:sp>
        <p:nvSpPr>
          <p:cNvPr id="15" name="Text 12"/>
          <p:cNvSpPr/>
          <p:nvPr/>
        </p:nvSpPr>
        <p:spPr>
          <a:xfrm>
            <a:off x="7772400" y="2633472"/>
            <a:ext cx="3566160"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Docling TableFormer recovers borderless tables; Gemini 3.6 Flash SOTA vision captions figures &amp; charts.</a:t>
            </a:r>
            <a:endParaRPr lang="en-US" sz="900" dirty="0"/>
          </a:p>
        </p:txBody>
      </p:sp>
      <p:sp>
        <p:nvSpPr>
          <p:cNvPr id="16" name="Shape 13"/>
          <p:cNvSpPr/>
          <p:nvPr/>
        </p:nvSpPr>
        <p:spPr>
          <a:xfrm>
            <a:off x="6949440" y="3246120"/>
            <a:ext cx="4480560" cy="868680"/>
          </a:xfrm>
          <a:prstGeom prst="rect">
            <a:avLst/>
          </a:prstGeom>
          <a:solidFill>
            <a:srgbClr val="111827"/>
          </a:solidFill>
          <a:ln w="12700">
            <a:solidFill>
              <a:srgbClr val="1E293B"/>
            </a:solidFill>
            <a:prstDash val="solid"/>
          </a:ln>
        </p:spPr>
      </p:sp>
      <p:sp>
        <p:nvSpPr>
          <p:cNvPr id="17" name="Shape 14"/>
          <p:cNvSpPr/>
          <p:nvPr/>
        </p:nvSpPr>
        <p:spPr>
          <a:xfrm>
            <a:off x="7086600" y="3383280"/>
            <a:ext cx="594360" cy="594360"/>
          </a:xfrm>
          <a:prstGeom prst="rect">
            <a:avLst/>
          </a:prstGeom>
          <a:solidFill>
            <a:srgbClr val="2563EB"/>
          </a:solidFill>
          <a:ln w="12700">
            <a:solidFill>
              <a:srgbClr val="2563EB"/>
            </a:solidFill>
            <a:prstDash val="solid"/>
          </a:ln>
        </p:spPr>
      </p:sp>
      <p:sp>
        <p:nvSpPr>
          <p:cNvPr id="18" name="Text 15"/>
          <p:cNvSpPr/>
          <p:nvPr/>
        </p:nvSpPr>
        <p:spPr>
          <a:xfrm>
            <a:off x="7086600" y="3383280"/>
            <a:ext cx="594360" cy="594360"/>
          </a:xfrm>
          <a:prstGeom prst="rect">
            <a:avLst/>
          </a:prstGeom>
          <a:noFill/>
          <a:ln/>
        </p:spPr>
        <p:txBody>
          <a:bodyPr wrap="square"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03</a:t>
            </a:r>
            <a:endParaRPr lang="en-US" sz="1300" dirty="0"/>
          </a:p>
        </p:txBody>
      </p:sp>
      <p:sp>
        <p:nvSpPr>
          <p:cNvPr id="19" name="Text 16"/>
          <p:cNvSpPr/>
          <p:nvPr/>
        </p:nvSpPr>
        <p:spPr>
          <a:xfrm>
            <a:off x="7772400" y="3355848"/>
            <a:ext cx="356616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Chunking &amp; Indexing</a:t>
            </a:r>
            <a:endParaRPr lang="en-US" sz="1100" dirty="0"/>
          </a:p>
        </p:txBody>
      </p:sp>
      <p:sp>
        <p:nvSpPr>
          <p:cNvPr id="20" name="Text 17"/>
          <p:cNvSpPr/>
          <p:nvPr/>
        </p:nvSpPr>
        <p:spPr>
          <a:xfrm>
            <a:off x="7772400" y="3593592"/>
            <a:ext cx="3566160"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Section-hierarchical chunking preserves tables; BGE-M3 dense embeddings fuse with BM25 regex index (RRF k=60).</a:t>
            </a:r>
            <a:endParaRPr lang="en-US" sz="900" dirty="0"/>
          </a:p>
        </p:txBody>
      </p:sp>
      <p:sp>
        <p:nvSpPr>
          <p:cNvPr id="21" name="Shape 18"/>
          <p:cNvSpPr/>
          <p:nvPr/>
        </p:nvSpPr>
        <p:spPr>
          <a:xfrm>
            <a:off x="6949440" y="4206240"/>
            <a:ext cx="4480560" cy="868680"/>
          </a:xfrm>
          <a:prstGeom prst="rect">
            <a:avLst/>
          </a:prstGeom>
          <a:solidFill>
            <a:srgbClr val="111827"/>
          </a:solidFill>
          <a:ln w="12700">
            <a:solidFill>
              <a:srgbClr val="1E293B"/>
            </a:solidFill>
            <a:prstDash val="solid"/>
          </a:ln>
        </p:spPr>
      </p:sp>
      <p:sp>
        <p:nvSpPr>
          <p:cNvPr id="22" name="Shape 19"/>
          <p:cNvSpPr/>
          <p:nvPr/>
        </p:nvSpPr>
        <p:spPr>
          <a:xfrm>
            <a:off x="7086600" y="4343400"/>
            <a:ext cx="594360" cy="594360"/>
          </a:xfrm>
          <a:prstGeom prst="rect">
            <a:avLst/>
          </a:prstGeom>
          <a:solidFill>
            <a:srgbClr val="2563EB"/>
          </a:solidFill>
          <a:ln w="12700">
            <a:solidFill>
              <a:srgbClr val="2563EB"/>
            </a:solidFill>
            <a:prstDash val="solid"/>
          </a:ln>
        </p:spPr>
      </p:sp>
      <p:sp>
        <p:nvSpPr>
          <p:cNvPr id="23" name="Text 20"/>
          <p:cNvSpPr/>
          <p:nvPr/>
        </p:nvSpPr>
        <p:spPr>
          <a:xfrm>
            <a:off x="7086600" y="4343400"/>
            <a:ext cx="594360" cy="594360"/>
          </a:xfrm>
          <a:prstGeom prst="rect">
            <a:avLst/>
          </a:prstGeom>
          <a:noFill/>
          <a:ln/>
        </p:spPr>
        <p:txBody>
          <a:bodyPr wrap="square"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04</a:t>
            </a:r>
            <a:endParaRPr lang="en-US" sz="1300" dirty="0"/>
          </a:p>
        </p:txBody>
      </p:sp>
      <p:sp>
        <p:nvSpPr>
          <p:cNvPr id="24" name="Text 21"/>
          <p:cNvSpPr/>
          <p:nvPr/>
        </p:nvSpPr>
        <p:spPr>
          <a:xfrm>
            <a:off x="7772400" y="4315968"/>
            <a:ext cx="356616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Adaptive Reasoning</a:t>
            </a:r>
            <a:endParaRPr lang="en-US" sz="1100" dirty="0"/>
          </a:p>
        </p:txBody>
      </p:sp>
      <p:sp>
        <p:nvSpPr>
          <p:cNvPr id="25" name="Text 22"/>
          <p:cNvSpPr/>
          <p:nvPr/>
        </p:nvSpPr>
        <p:spPr>
          <a:xfrm>
            <a:off x="7772400" y="4553712"/>
            <a:ext cx="3566160"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Raw Query First routing prevents enhancer bias; Symbolic Arithmetic computes deterministic financial math.</a:t>
            </a:r>
            <a:endParaRPr lang="en-US" sz="900" dirty="0"/>
          </a:p>
        </p:txBody>
      </p:sp>
      <p:sp>
        <p:nvSpPr>
          <p:cNvPr id="26" name="Shape 23"/>
          <p:cNvSpPr/>
          <p:nvPr/>
        </p:nvSpPr>
        <p:spPr>
          <a:xfrm>
            <a:off x="6949440" y="5166360"/>
            <a:ext cx="4480560" cy="868680"/>
          </a:xfrm>
          <a:prstGeom prst="rect">
            <a:avLst/>
          </a:prstGeom>
          <a:solidFill>
            <a:srgbClr val="111827"/>
          </a:solidFill>
          <a:ln w="12700">
            <a:solidFill>
              <a:srgbClr val="1E293B"/>
            </a:solidFill>
            <a:prstDash val="solid"/>
          </a:ln>
        </p:spPr>
      </p:sp>
      <p:sp>
        <p:nvSpPr>
          <p:cNvPr id="27" name="Shape 24"/>
          <p:cNvSpPr/>
          <p:nvPr/>
        </p:nvSpPr>
        <p:spPr>
          <a:xfrm>
            <a:off x="7086600" y="5303520"/>
            <a:ext cx="594360" cy="594360"/>
          </a:xfrm>
          <a:prstGeom prst="rect">
            <a:avLst/>
          </a:prstGeom>
          <a:solidFill>
            <a:srgbClr val="2563EB"/>
          </a:solidFill>
          <a:ln w="12700">
            <a:solidFill>
              <a:srgbClr val="2563EB"/>
            </a:solidFill>
            <a:prstDash val="solid"/>
          </a:ln>
        </p:spPr>
      </p:sp>
      <p:sp>
        <p:nvSpPr>
          <p:cNvPr id="28" name="Text 25"/>
          <p:cNvSpPr/>
          <p:nvPr/>
        </p:nvSpPr>
        <p:spPr>
          <a:xfrm>
            <a:off x="7086600" y="5303520"/>
            <a:ext cx="594360" cy="594360"/>
          </a:xfrm>
          <a:prstGeom prst="rect">
            <a:avLst/>
          </a:prstGeom>
          <a:noFill/>
          <a:ln/>
        </p:spPr>
        <p:txBody>
          <a:bodyPr wrap="square" rtlCol="0" anchor="ctr"/>
          <a:lstStyle/>
          <a:p>
            <a:pPr algn="ctr" indent="0" marL="0">
              <a:buNone/>
            </a:pPr>
            <a:r>
              <a:rPr lang="en-US" sz="1300" b="1" dirty="0">
                <a:solidFill>
                  <a:srgbClr val="F8FAFC"/>
                </a:solidFill>
                <a:latin typeface="Calibri" pitchFamily="34" charset="0"/>
                <a:ea typeface="Calibri" pitchFamily="34" charset="-122"/>
                <a:cs typeface="Calibri" pitchFamily="34" charset="-120"/>
              </a:rPr>
              <a:t>05</a:t>
            </a:r>
            <a:endParaRPr lang="en-US" sz="1300" dirty="0"/>
          </a:p>
        </p:txBody>
      </p:sp>
      <p:sp>
        <p:nvSpPr>
          <p:cNvPr id="29" name="Text 26"/>
          <p:cNvSpPr/>
          <p:nvPr/>
        </p:nvSpPr>
        <p:spPr>
          <a:xfrm>
            <a:off x="7772400" y="5276088"/>
            <a:ext cx="356616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Tri-Benchmark Gate</a:t>
            </a:r>
            <a:endParaRPr lang="en-US" sz="1100" dirty="0"/>
          </a:p>
        </p:txBody>
      </p:sp>
      <p:sp>
        <p:nvSpPr>
          <p:cNvPr id="30" name="Text 27"/>
          <p:cNvSpPr/>
          <p:nvPr/>
        </p:nvSpPr>
        <p:spPr>
          <a:xfrm>
            <a:off x="7772400" y="5513832"/>
            <a:ext cx="3566160" cy="475488"/>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Continuous LLM-as-a-Judge with containment bonus + DeepEval 100% Faithfulness CI verification.</a:t>
            </a:r>
            <a:endParaRPr lang="en-US" sz="900" dirty="0"/>
          </a:p>
        </p:txBody>
      </p:sp>
      <p:sp>
        <p:nvSpPr>
          <p:cNvPr id="31" name="Text 28"/>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32" name="Text 29"/>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4 of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1</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Layout Detection &amp; Spatial BBox Segmentation</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Evaluated across 5 diverse document domains (Commercial, Financial, Legal, Medical, Scientific) for geometric bounding box prediction:</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2286000"/>
                <a:gridCol w="1005840"/>
                <a:gridCol w="1005840"/>
                <a:gridCol w="1005840"/>
                <a:gridCol w="1005840"/>
                <a:gridCol w="1005840"/>
                <a:gridCol w="1005840"/>
                <a:gridCol w="1188720"/>
                <a:gridCol w="1188720"/>
              </a:tblGrid>
              <a:tr h="0">
                <a:tc>
                  <a:txBody>
                    <a:bodyPr/>
                    <a:lstStyle/>
                    <a:p>
                      <a:pPr indent="0" marL="0">
                        <a:buNone/>
                      </a:pPr>
                      <a:r>
                        <a:rPr lang="en-US" sz="1000" b="1" dirty="0">
                          <a:solidFill>
                            <a:srgbClr val="F8FAFC"/>
                          </a:solidFill>
                        </a:rPr>
                        <a:t>Model</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Usability Rank</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mAP@50</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mAP@50:95</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Precision</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Recall</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F1-Score</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mean IoU</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1000" b="1" dirty="0">
                          <a:solidFill>
                            <a:srgbClr val="F8FAFC"/>
                          </a:solidFill>
                        </a:rPr>
                        <a:t>Avg Latency (s/page)</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indent="0" marL="0">
                        <a:buNone/>
                      </a:pPr>
                      <a:r>
                        <a:rPr lang="en-US" sz="1000" b="1" dirty="0">
                          <a:solidFill>
                            <a:srgbClr val="38BDF8"/>
                          </a:solidFill>
                        </a:rPr>
                        <a:t>DocLayout-YOLO (v10)</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b="1" dirty="0">
                          <a:solidFill>
                            <a:srgbClr val="F8FAFC"/>
                          </a:solidFill>
                        </a:rPr>
                        <a:t>1</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dirty="0">
                          <a:solidFill>
                            <a:srgbClr val="F8FAFC"/>
                          </a:solidFill>
                        </a:rPr>
                        <a:t>0.0556</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dirty="0">
                          <a:solidFill>
                            <a:srgbClr val="F8FAFC"/>
                          </a:solidFill>
                        </a:rPr>
                        <a:t>0.0376</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dirty="0">
                          <a:solidFill>
                            <a:srgbClr val="F8FAFC"/>
                          </a:solidFill>
                        </a:rPr>
                        <a:t>0.1358</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dirty="0">
                          <a:solidFill>
                            <a:srgbClr val="F8FAFC"/>
                          </a:solidFill>
                        </a:rPr>
                        <a:t>0.0638</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dirty="0">
                          <a:solidFill>
                            <a:srgbClr val="F8FAFC"/>
                          </a:solidFill>
                        </a:rPr>
                        <a:t>0.0868</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b="1" dirty="0">
                          <a:solidFill>
                            <a:srgbClr val="10B981"/>
                          </a:solidFill>
                        </a:rPr>
                        <a:t>0.8299</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1000" b="1" dirty="0">
                          <a:solidFill>
                            <a:srgbClr val="10B981"/>
                          </a:solidFill>
                        </a:rPr>
                        <a:t>17.27s</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1000" b="1" dirty="0">
                          <a:solidFill>
                            <a:srgbClr val="94A3B8"/>
                          </a:solidFill>
                        </a:rPr>
                        <a:t>NVIDIA Nemotron-Parse</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dirty="0">
                          <a:solidFill>
                            <a:srgbClr val="94A3B8"/>
                          </a:solidFill>
                        </a:rPr>
                        <a:t>2</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b="1" dirty="0">
                          <a:solidFill>
                            <a:srgbClr val="F8FAFC"/>
                          </a:solidFill>
                        </a:rPr>
                        <a:t>0.1110</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b="1" dirty="0">
                          <a:solidFill>
                            <a:srgbClr val="F8FAFC"/>
                          </a:solidFill>
                        </a:rPr>
                        <a:t>0.0436</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dirty="0">
                          <a:solidFill>
                            <a:srgbClr val="94A3B8"/>
                          </a:solidFill>
                        </a:rPr>
                        <a:t>0.1245</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dirty="0">
                          <a:solidFill>
                            <a:srgbClr val="94A3B8"/>
                          </a:solidFill>
                        </a:rPr>
                        <a:t>0.0638</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dirty="0">
                          <a:solidFill>
                            <a:srgbClr val="94A3B8"/>
                          </a:solidFill>
                        </a:rPr>
                        <a:t>0.0844</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dirty="0">
                          <a:solidFill>
                            <a:srgbClr val="94A3B8"/>
                          </a:solidFill>
                        </a:rPr>
                        <a:t>0.6470</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1000" dirty="0">
                          <a:solidFill>
                            <a:srgbClr val="EF4444"/>
                          </a:solidFill>
                        </a:rPr>
                        <a:t>71.00s</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bl>
          </a:graphicData>
        </a:graphic>
      </p:graphicFrame>
      <p:sp>
        <p:nvSpPr>
          <p:cNvPr id="7" name="Shape 4"/>
          <p:cNvSpPr/>
          <p:nvPr/>
        </p:nvSpPr>
        <p:spPr>
          <a:xfrm>
            <a:off x="731520" y="3017520"/>
            <a:ext cx="5212080" cy="2057400"/>
          </a:xfrm>
          <a:prstGeom prst="rect">
            <a:avLst/>
          </a:prstGeom>
          <a:solidFill>
            <a:srgbClr val="111827"/>
          </a:solidFill>
          <a:ln w="12700">
            <a:solidFill>
              <a:srgbClr val="1E293B"/>
            </a:solidFill>
            <a:prstDash val="solid"/>
          </a:ln>
        </p:spPr>
      </p:sp>
      <p:sp>
        <p:nvSpPr>
          <p:cNvPr id="8" name="Text 5"/>
          <p:cNvSpPr/>
          <p:nvPr/>
        </p:nvSpPr>
        <p:spPr>
          <a:xfrm>
            <a:off x="914400" y="3154680"/>
            <a:ext cx="4846320" cy="228600"/>
          </a:xfrm>
          <a:prstGeom prst="rect">
            <a:avLst/>
          </a:prstGeom>
          <a:noFill/>
          <a:ln/>
        </p:spPr>
        <p:txBody>
          <a:bodyPr wrap="square" rtlCol="0" anchor="ctr"/>
          <a:lstStyle/>
          <a:p>
            <a:pPr indent="0" marL="0">
              <a:buNone/>
            </a:pPr>
            <a:r>
              <a:rPr lang="en-US" sz="1050" b="1" spc="100" kern="0" dirty="0">
                <a:solidFill>
                  <a:srgbClr val="10B981"/>
                </a:solidFill>
                <a:latin typeface="Calibri" pitchFamily="34" charset="0"/>
                <a:ea typeface="Calibri" pitchFamily="34" charset="-122"/>
                <a:cs typeface="Calibri" pitchFamily="34" charset="-120"/>
              </a:rPr>
              <a:t>DECISIVE METRIC: MEAN IoU (0.8299 vs 0.6470)</a:t>
            </a:r>
            <a:endParaRPr lang="en-US" sz="1050" dirty="0"/>
          </a:p>
        </p:txBody>
      </p:sp>
      <p:sp>
        <p:nvSpPr>
          <p:cNvPr id="9" name="Text 6"/>
          <p:cNvSpPr/>
          <p:nvPr/>
        </p:nvSpPr>
        <p:spPr>
          <a:xfrm>
            <a:off x="914400" y="3474720"/>
            <a:ext cx="4846320" cy="14630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In document parsing, bounding box tightness is paramount. A low IoU clips borderless table headers or chops figure captions. DocLayout-YOLO delivers +28.3% higher geometric overlap, providing clean spatial crops for downstream table and VLM engines.</a:t>
            </a:r>
            <a:endParaRPr lang="en-US" sz="950" dirty="0"/>
          </a:p>
        </p:txBody>
      </p:sp>
      <p:sp>
        <p:nvSpPr>
          <p:cNvPr id="10" name="Shape 7"/>
          <p:cNvSpPr/>
          <p:nvPr/>
        </p:nvSpPr>
        <p:spPr>
          <a:xfrm>
            <a:off x="6217920" y="3017520"/>
            <a:ext cx="5212080" cy="2057400"/>
          </a:xfrm>
          <a:prstGeom prst="rect">
            <a:avLst/>
          </a:prstGeom>
          <a:solidFill>
            <a:srgbClr val="111827"/>
          </a:solidFill>
          <a:ln w="12700">
            <a:solidFill>
              <a:srgbClr val="1E293B"/>
            </a:solidFill>
            <a:prstDash val="solid"/>
          </a:ln>
        </p:spPr>
      </p:sp>
      <p:sp>
        <p:nvSpPr>
          <p:cNvPr id="11" name="Text 8"/>
          <p:cNvSpPr/>
          <p:nvPr/>
        </p:nvSpPr>
        <p:spPr>
          <a:xfrm>
            <a:off x="6400800" y="3154680"/>
            <a:ext cx="4846320" cy="228600"/>
          </a:xfrm>
          <a:prstGeom prst="rect">
            <a:avLst/>
          </a:prstGeom>
          <a:noFill/>
          <a:ln/>
        </p:spPr>
        <p:txBody>
          <a:bodyPr wrap="square" rtlCol="0" anchor="ctr"/>
          <a:lstStyle/>
          <a:p>
            <a:pPr indent="0" marL="0">
              <a:buNone/>
            </a:pPr>
            <a:r>
              <a:rPr lang="en-US" sz="1050" b="1" spc="100" kern="0" dirty="0">
                <a:solidFill>
                  <a:srgbClr val="38BDF8"/>
                </a:solidFill>
                <a:latin typeface="Calibri" pitchFamily="34" charset="0"/>
                <a:ea typeface="Calibri" pitchFamily="34" charset="-122"/>
                <a:cs typeface="Calibri" pitchFamily="34" charset="-120"/>
              </a:rPr>
              <a:t>THROUGHPUT: 4.1x LOWER LATENCY (17.27s vs 71.00s)</a:t>
            </a:r>
            <a:endParaRPr lang="en-US" sz="1050" dirty="0"/>
          </a:p>
        </p:txBody>
      </p:sp>
      <p:sp>
        <p:nvSpPr>
          <p:cNvPr id="12" name="Text 9"/>
          <p:cNvSpPr/>
          <p:nvPr/>
        </p:nvSpPr>
        <p:spPr>
          <a:xfrm>
            <a:off x="6400800" y="3474720"/>
            <a:ext cx="4846320" cy="14630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DocLayout-YOLO executes in 17.27 seconds per page compared to 71.00 seconds for Nemotron-Parse. For a 100-page SEC 10-K filing, this cuts layout inference from 1.9 hours down to 28 minutes, meeting corporate SLA turnarounds.</a:t>
            </a:r>
            <a:endParaRPr lang="en-US" sz="950" dirty="0"/>
          </a:p>
        </p:txBody>
      </p:sp>
      <p:sp>
        <p:nvSpPr>
          <p:cNvPr id="13" name="Shape 10"/>
          <p:cNvSpPr/>
          <p:nvPr/>
        </p:nvSpPr>
        <p:spPr>
          <a:xfrm>
            <a:off x="731520" y="5257800"/>
            <a:ext cx="10698480" cy="1005840"/>
          </a:xfrm>
          <a:prstGeom prst="rect">
            <a:avLst/>
          </a:prstGeom>
          <a:solidFill>
            <a:srgbClr val="17140B"/>
          </a:solidFill>
          <a:ln w="15240">
            <a:solidFill>
              <a:srgbClr val="F59E0B"/>
            </a:solidFill>
            <a:prstDash val="solid"/>
          </a:ln>
        </p:spPr>
      </p:sp>
      <p:sp>
        <p:nvSpPr>
          <p:cNvPr id="14" name="Text 11"/>
          <p:cNvSpPr/>
          <p:nvPr/>
        </p:nvSpPr>
        <p:spPr>
          <a:xfrm>
            <a:off x="914400" y="53675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ARCHITECTURAL BREAKTHROUGH: 5-ENTITY SPATIAL SEGMENTATION</a:t>
            </a:r>
            <a:endParaRPr lang="en-US" sz="1050" dirty="0"/>
          </a:p>
        </p:txBody>
      </p:sp>
      <p:sp>
        <p:nvSpPr>
          <p:cNvPr id="15" name="Text 12"/>
          <p:cNvSpPr/>
          <p:nvPr/>
        </p:nvSpPr>
        <p:spPr>
          <a:xfrm>
            <a:off x="914400" y="5623560"/>
            <a:ext cx="10332720" cy="5669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DocLayout-YOLO detects Title, Plain Text, Table Zones, Figure/Chart Crops, and Caption Footnotes. Each entity is assigned unique [x0, y0, x1, y1] coordinates, converting arbitrary PDFs into structured, queryable 2D spatial objects.</a:t>
            </a:r>
            <a:endParaRPr lang="en-US" sz="950" dirty="0"/>
          </a:p>
        </p:txBody>
      </p:sp>
      <p:sp>
        <p:nvSpPr>
          <p:cNvPr id="16" name="Text 13"/>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7" name="Text 14"/>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5 of 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TOOLING</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Interactive Web Workspaces for Layout Extraction &amp; Annotation</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Why Web Workspaces were Created: Built specifically to inspect, manually annotate, and evaluate 2D layout extractions:</a:t>
            </a:r>
            <a:endParaRPr lang="en-US" sz="1050" dirty="0"/>
          </a:p>
        </p:txBody>
      </p:sp>
      <p:sp>
        <p:nvSpPr>
          <p:cNvPr id="6" name="Shape 4"/>
          <p:cNvSpPr/>
          <p:nvPr/>
        </p:nvSpPr>
        <p:spPr>
          <a:xfrm>
            <a:off x="731520" y="1554480"/>
            <a:ext cx="5212080" cy="3657600"/>
          </a:xfrm>
          <a:prstGeom prst="rect">
            <a:avLst/>
          </a:prstGeom>
          <a:solidFill>
            <a:srgbClr val="111827"/>
          </a:solidFill>
          <a:ln w="12700">
            <a:solidFill>
              <a:srgbClr val="1E293B"/>
            </a:solidFill>
            <a:prstDash val="solid"/>
          </a:ln>
        </p:spPr>
      </p:sp>
      <p:sp>
        <p:nvSpPr>
          <p:cNvPr id="7" name="Text 5"/>
          <p:cNvSpPr/>
          <p:nvPr/>
        </p:nvSpPr>
        <p:spPr>
          <a:xfrm>
            <a:off x="914400" y="1691640"/>
            <a:ext cx="4846320" cy="228600"/>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1. LAYOUT ANNOTATOR (MANUAL BBOX TOOL)</a:t>
            </a:r>
            <a:endParaRPr lang="en-US" sz="1100" dirty="0"/>
          </a:p>
        </p:txBody>
      </p:sp>
      <p:sp>
        <p:nvSpPr>
          <p:cNvPr id="8" name="Text 6"/>
          <p:cNvSpPr/>
          <p:nvPr/>
        </p:nvSpPr>
        <p:spPr>
          <a:xfrm>
            <a:off x="914400" y="1965960"/>
            <a:ext cx="4846320" cy="5029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HTML5 Canvas click-and-drag coordinate editor with multi-layer tabs (Ground Truth vs DocLayout-YOLO vs Nemotron) to calculate IoU overlaps and export benchmark datasets.</a:t>
            </a:r>
            <a:endParaRPr lang="en-US" sz="900" dirty="0"/>
          </a:p>
        </p:txBody>
      </p:sp>
      <p:pic>
        <p:nvPicPr>
          <p:cNvPr id="9" name="Image 0" descr="c:\Users\user\Downloads\Document_Understanding\docs\layout_annotator_screenshot.png">    </p:cNvPr>
          <p:cNvPicPr>
            <a:picLocks noChangeAspect="1"/>
          </p:cNvPicPr>
          <p:nvPr/>
        </p:nvPicPr>
        <p:blipFill>
          <a:blip r:embed="rId1"/>
          <a:stretch>
            <a:fillRect/>
          </a:stretch>
        </p:blipFill>
        <p:spPr>
          <a:xfrm>
            <a:off x="914400" y="2560320"/>
            <a:ext cx="4846320" cy="2514600"/>
          </a:xfrm>
          <a:prstGeom prst="rect">
            <a:avLst/>
          </a:prstGeom>
        </p:spPr>
      </p:pic>
      <p:sp>
        <p:nvSpPr>
          <p:cNvPr id="10" name="Shape 7"/>
          <p:cNvSpPr/>
          <p:nvPr/>
        </p:nvSpPr>
        <p:spPr>
          <a:xfrm>
            <a:off x="6217920" y="1554480"/>
            <a:ext cx="5212080" cy="3657600"/>
          </a:xfrm>
          <a:prstGeom prst="rect">
            <a:avLst/>
          </a:prstGeom>
          <a:solidFill>
            <a:srgbClr val="111827"/>
          </a:solidFill>
          <a:ln w="12700">
            <a:solidFill>
              <a:srgbClr val="1E293B"/>
            </a:solidFill>
            <a:prstDash val="solid"/>
          </a:ln>
        </p:spPr>
      </p:sp>
      <p:sp>
        <p:nvSpPr>
          <p:cNvPr id="11" name="Text 8"/>
          <p:cNvSpPr/>
          <p:nvPr/>
        </p:nvSpPr>
        <p:spPr>
          <a:xfrm>
            <a:off x="6400800" y="1691640"/>
            <a:ext cx="4846320" cy="228600"/>
          </a:xfrm>
          <a:prstGeom prst="rect">
            <a:avLst/>
          </a:prstGeom>
          <a:noFill/>
          <a:ln/>
        </p:spPr>
        <p:txBody>
          <a:bodyPr wrap="square" rtlCol="0" anchor="ctr"/>
          <a:lstStyle/>
          <a:p>
            <a:pPr indent="0" marL="0">
              <a:buNone/>
            </a:pPr>
            <a:r>
              <a:rPr lang="en-US" sz="1100" b="1" spc="100" kern="0" dirty="0">
                <a:solidFill>
                  <a:srgbClr val="38BDF8"/>
                </a:solidFill>
                <a:latin typeface="Calibri" pitchFamily="34" charset="0"/>
                <a:ea typeface="Calibri" pitchFamily="34" charset="-122"/>
                <a:cs typeface="Calibri" pitchFamily="34" charset="-120"/>
              </a:rPr>
              <a:t>2. OBSIDIAN PRECISION (INGEST GUI)</a:t>
            </a:r>
            <a:endParaRPr lang="en-US" sz="1100" dirty="0"/>
          </a:p>
        </p:txBody>
      </p:sp>
      <p:sp>
        <p:nvSpPr>
          <p:cNvPr id="12" name="Text 9"/>
          <p:cNvSpPr/>
          <p:nvPr/>
        </p:nvSpPr>
        <p:spPr>
          <a:xfrm>
            <a:off x="6400800" y="1965960"/>
            <a:ext cx="4846320" cy="5029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Live Ingest Dashboard featuring hover confidence metrics on detected BBoxes, real-time SSE extraction streaming, collapsible JSON tree viewer, and reconstructed Markdown table previews.</a:t>
            </a:r>
            <a:endParaRPr lang="en-US" sz="900" dirty="0"/>
          </a:p>
        </p:txBody>
      </p:sp>
      <p:pic>
        <p:nvPicPr>
          <p:cNvPr id="13" name="Image 1" descr="c:\Users\user\Downloads\Document_Understanding\docs\obsidian_precision_screenshot.png">    </p:cNvPr>
          <p:cNvPicPr>
            <a:picLocks noChangeAspect="1"/>
          </p:cNvPicPr>
          <p:nvPr/>
        </p:nvPicPr>
        <p:blipFill>
          <a:blip r:embed="rId2"/>
          <a:stretch>
            <a:fillRect/>
          </a:stretch>
        </p:blipFill>
        <p:spPr>
          <a:xfrm>
            <a:off x="6400800" y="2560320"/>
            <a:ext cx="4846320" cy="2514600"/>
          </a:xfrm>
          <a:prstGeom prst="rect">
            <a:avLst/>
          </a:prstGeom>
        </p:spPr>
      </p:pic>
      <p:sp>
        <p:nvSpPr>
          <p:cNvPr id="14" name="Shape 10"/>
          <p:cNvSpPr/>
          <p:nvPr/>
        </p:nvSpPr>
        <p:spPr>
          <a:xfrm>
            <a:off x="731520" y="5349240"/>
            <a:ext cx="10698480" cy="960120"/>
          </a:xfrm>
          <a:prstGeom prst="rect">
            <a:avLst/>
          </a:prstGeom>
          <a:solidFill>
            <a:srgbClr val="17140B"/>
          </a:solidFill>
          <a:ln w="15240">
            <a:solidFill>
              <a:srgbClr val="F59E0B"/>
            </a:solidFill>
            <a:prstDash val="solid"/>
          </a:ln>
        </p:spPr>
      </p:sp>
      <p:sp>
        <p:nvSpPr>
          <p:cNvPr id="15" name="Text 11"/>
          <p:cNvSpPr/>
          <p:nvPr/>
        </p:nvSpPr>
        <p:spPr>
          <a:xfrm>
            <a:off x="914400" y="545896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HUMAN-IN-THE-LOOP LAYOUT VALIDATION</a:t>
            </a:r>
            <a:endParaRPr lang="en-US" sz="1050" dirty="0"/>
          </a:p>
        </p:txBody>
      </p:sp>
      <p:sp>
        <p:nvSpPr>
          <p:cNvPr id="16" name="Text 12"/>
          <p:cNvSpPr/>
          <p:nvPr/>
        </p:nvSpPr>
        <p:spPr>
          <a:xfrm>
            <a:off x="914400" y="5715000"/>
            <a:ext cx="10332720" cy="52120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These workspaces solve the "black-box" problem in document AI. Operators can visually audit bounding boxes, fine-tune coordinate labels, and verify table geometry directly inside a browser interface.</a:t>
            </a:r>
            <a:endParaRPr lang="en-US" sz="950" dirty="0"/>
          </a:p>
        </p:txBody>
      </p:sp>
      <p:sp>
        <p:nvSpPr>
          <p:cNvPr id="17" name="Text 13"/>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8" name="Text 14"/>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6 of 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2</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Table Structure Recovery &amp; Markdown Grid Reconstruction</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Evaluated on complex tables containing multi-row cells, spanning headers, and borderless financial grids:</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2926080"/>
                <a:gridCol w="1280160"/>
                <a:gridCol w="1645920"/>
                <a:gridCol w="1645920"/>
                <a:gridCol w="1554480"/>
                <a:gridCol w="1645920"/>
              </a:tblGrid>
              <a:tr h="0">
                <a:tc>
                  <a:txBody>
                    <a:bodyPr/>
                    <a:lstStyle/>
                    <a:p>
                      <a:pPr indent="0" marL="0">
                        <a:buNone/>
                      </a:pPr>
                      <a:r>
                        <a:rPr lang="en-US" sz="950" b="1" dirty="0">
                          <a:solidFill>
                            <a:srgbClr val="F8FAFC"/>
                          </a:solidFill>
                        </a:rPr>
                        <a:t>Model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Usability Rank</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TEDS (Overall)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TEDS (Structure)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GriTS (Top)</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Cell F1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indent="0" marL="0">
                        <a:buNone/>
                      </a:pPr>
                      <a:r>
                        <a:rPr lang="en-US" sz="950" b="1" dirty="0">
                          <a:solidFill>
                            <a:srgbClr val="F8FAFC"/>
                          </a:solidFill>
                        </a:rPr>
                        <a:t>GLM-OCR (Official Prompt)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F8FAFC"/>
                          </a:solidFill>
                        </a:rPr>
                        <a:t>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0.9996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50" b="1" dirty="0">
                          <a:solidFill>
                            <a:srgbClr val="94A3B8"/>
                          </a:solidFill>
                        </a:rPr>
                        <a:t>EasyOCR + Structure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0.9816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1.0000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0.8720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50" b="1" dirty="0">
                          <a:solidFill>
                            <a:srgbClr val="94A3B8"/>
                          </a:solidFill>
                        </a:rPr>
                        <a:t>Table Transformer (TATR)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0.7444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0.8684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0.4213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50" b="1" dirty="0">
                          <a:solidFill>
                            <a:srgbClr val="38BDF8"/>
                          </a:solidFill>
                        </a:rPr>
                        <a:t>IBM Docling TableFormer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38BDF8"/>
                          </a:solidFill>
                        </a:rPr>
                        <a:t>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0.7295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0.7295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0.9828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0.9828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bl>
          </a:graphicData>
        </a:graphic>
      </p:graphicFrame>
      <p:sp>
        <p:nvSpPr>
          <p:cNvPr id="7" name="Shape 4"/>
          <p:cNvSpPr/>
          <p:nvPr/>
        </p:nvSpPr>
        <p:spPr>
          <a:xfrm>
            <a:off x="731520" y="3520440"/>
            <a:ext cx="5212080" cy="1600200"/>
          </a:xfrm>
          <a:prstGeom prst="rect">
            <a:avLst/>
          </a:prstGeom>
          <a:solidFill>
            <a:srgbClr val="111827"/>
          </a:solidFill>
          <a:ln w="12700">
            <a:solidFill>
              <a:srgbClr val="1E293B"/>
            </a:solidFill>
            <a:prstDash val="solid"/>
          </a:ln>
        </p:spPr>
      </p:sp>
      <p:sp>
        <p:nvSpPr>
          <p:cNvPr id="8" name="Text 5"/>
          <p:cNvSpPr/>
          <p:nvPr/>
        </p:nvSpPr>
        <p:spPr>
          <a:xfrm>
            <a:off x="914400" y="3657600"/>
            <a:ext cx="4846320" cy="228600"/>
          </a:xfrm>
          <a:prstGeom prst="rect">
            <a:avLst/>
          </a:prstGeom>
          <a:noFill/>
          <a:ln/>
        </p:spPr>
        <p:txBody>
          <a:bodyPr wrap="square" rtlCol="0" anchor="ctr"/>
          <a:lstStyle/>
          <a:p>
            <a:pPr indent="0" marL="0">
              <a:buNone/>
            </a:pPr>
            <a:r>
              <a:rPr lang="en-US" sz="1050" b="1" spc="100" kern="0" dirty="0">
                <a:solidFill>
                  <a:srgbClr val="38BDF8"/>
                </a:solidFill>
                <a:latin typeface="Calibri" pitchFamily="34" charset="0"/>
                <a:ea typeface="Calibri" pitchFamily="34" charset="-122"/>
                <a:cs typeface="Calibri" pitchFamily="34" charset="-120"/>
              </a:rPr>
              <a:t>DOCLING TABLEFORMER: PRODUCTION SERIALIZATION</a:t>
            </a:r>
            <a:endParaRPr lang="en-US" sz="1050" dirty="0"/>
          </a:p>
        </p:txBody>
      </p:sp>
      <p:sp>
        <p:nvSpPr>
          <p:cNvPr id="9" name="Text 6"/>
          <p:cNvSpPr/>
          <p:nvPr/>
        </p:nvSpPr>
        <p:spPr>
          <a:xfrm>
            <a:off x="914400" y="3931920"/>
            <a:ext cx="4846320" cy="10972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Docling delivers 0.9828 Cell F1 and converts table boundaries into pristine Markdown table strings with pipe delimiters (|). This allows downstream reader LLMs and arithmetic engines to index rows and columns without spatial distortion.</a:t>
            </a:r>
            <a:endParaRPr lang="en-US" sz="950" dirty="0"/>
          </a:p>
        </p:txBody>
      </p:sp>
      <p:sp>
        <p:nvSpPr>
          <p:cNvPr id="10" name="Shape 7"/>
          <p:cNvSpPr/>
          <p:nvPr/>
        </p:nvSpPr>
        <p:spPr>
          <a:xfrm>
            <a:off x="6217920" y="3520440"/>
            <a:ext cx="5212080" cy="1600200"/>
          </a:xfrm>
          <a:prstGeom prst="rect">
            <a:avLst/>
          </a:prstGeom>
          <a:solidFill>
            <a:srgbClr val="111827"/>
          </a:solidFill>
          <a:ln w="12700">
            <a:solidFill>
              <a:srgbClr val="1E293B"/>
            </a:solidFill>
            <a:prstDash val="solid"/>
          </a:ln>
        </p:spPr>
      </p:sp>
      <p:sp>
        <p:nvSpPr>
          <p:cNvPr id="11" name="Text 8"/>
          <p:cNvSpPr/>
          <p:nvPr/>
        </p:nvSpPr>
        <p:spPr>
          <a:xfrm>
            <a:off x="6400800" y="3657600"/>
            <a:ext cx="4846320" cy="228600"/>
          </a:xfrm>
          <a:prstGeom prst="rect">
            <a:avLst/>
          </a:prstGeom>
          <a:noFill/>
          <a:ln/>
        </p:spPr>
        <p:txBody>
          <a:bodyPr wrap="square" rtlCol="0" anchor="ctr"/>
          <a:lstStyle/>
          <a:p>
            <a:pPr indent="0" marL="0">
              <a:buNone/>
            </a:pPr>
            <a:r>
              <a:rPr lang="en-US" sz="1050" b="1" spc="100" kern="0" dirty="0">
                <a:solidFill>
                  <a:srgbClr val="10B981"/>
                </a:solidFill>
                <a:latin typeface="Calibri" pitchFamily="34" charset="0"/>
                <a:ea typeface="Calibri" pitchFamily="34" charset="-122"/>
                <a:cs typeface="Calibri" pitchFamily="34" charset="-120"/>
              </a:rPr>
              <a:t>GriTS METRIC (GRID TOPOLOGY SIMILARITY = 0.9828)</a:t>
            </a:r>
            <a:endParaRPr lang="en-US" sz="1050" dirty="0"/>
          </a:p>
        </p:txBody>
      </p:sp>
      <p:sp>
        <p:nvSpPr>
          <p:cNvPr id="12" name="Text 9"/>
          <p:cNvSpPr/>
          <p:nvPr/>
        </p:nvSpPr>
        <p:spPr>
          <a:xfrm>
            <a:off x="6400800" y="3931920"/>
            <a:ext cx="4846320" cy="10972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GriTS measures topological preservation. Docling and TATR maintain 0.9828+ cell adjacency, guaranteeing that multi-row merged headers (e.g., "Year Ended December 31") do not drift or detach from their respective child columns.</a:t>
            </a:r>
            <a:endParaRPr lang="en-US" sz="950" dirty="0"/>
          </a:p>
        </p:txBody>
      </p:sp>
      <p:sp>
        <p:nvSpPr>
          <p:cNvPr id="13" name="Shape 10"/>
          <p:cNvSpPr/>
          <p:nvPr/>
        </p:nvSpPr>
        <p:spPr>
          <a:xfrm>
            <a:off x="731520" y="5257800"/>
            <a:ext cx="10698480" cy="1005840"/>
          </a:xfrm>
          <a:prstGeom prst="rect">
            <a:avLst/>
          </a:prstGeom>
          <a:solidFill>
            <a:srgbClr val="17140B"/>
          </a:solidFill>
          <a:ln w="15240">
            <a:solidFill>
              <a:srgbClr val="F59E0B"/>
            </a:solidFill>
            <a:prstDash val="solid"/>
          </a:ln>
        </p:spPr>
      </p:sp>
      <p:sp>
        <p:nvSpPr>
          <p:cNvPr id="14" name="Text 11"/>
          <p:cNvSpPr/>
          <p:nvPr/>
        </p:nvSpPr>
        <p:spPr>
          <a:xfrm>
            <a:off x="914400" y="53675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ZERO-DELIMITER FLATTENING</a:t>
            </a:r>
            <a:endParaRPr lang="en-US" sz="1050" dirty="0"/>
          </a:p>
        </p:txBody>
      </p:sp>
      <p:sp>
        <p:nvSpPr>
          <p:cNvPr id="15" name="Text 12"/>
          <p:cNvSpPr/>
          <p:nvPr/>
        </p:nvSpPr>
        <p:spPr>
          <a:xfrm>
            <a:off x="914400" y="5623560"/>
            <a:ext cx="10332720" cy="5669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Standard RAG extractors collapse table cells into comma-separated text, confusing column values with footnotes. Our Markdown reconstruction ensures every numerical cell is isolated, directly enabling our Symbolic Financial Arithmetic Engine.</a:t>
            </a:r>
            <a:endParaRPr lang="en-US" sz="950" dirty="0"/>
          </a:p>
        </p:txBody>
      </p:sp>
      <p:sp>
        <p:nvSpPr>
          <p:cNvPr id="16" name="Text 13"/>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7" name="Text 14"/>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7 of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3</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Dual-Path Text OCR &amp; Digital Layer Routing</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Evaluated on non-digital scanned image inputs to capture Character Error Rates (CER) and Word Error Rates (WER):</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2468880"/>
                <a:gridCol w="1097280"/>
                <a:gridCol w="1371600"/>
                <a:gridCol w="1371600"/>
                <a:gridCol w="1371600"/>
                <a:gridCol w="1371600"/>
                <a:gridCol w="1645920"/>
              </a:tblGrid>
              <a:tr h="0">
                <a:tc>
                  <a:txBody>
                    <a:bodyPr/>
                    <a:lstStyle/>
                    <a:p>
                      <a:pPr indent="0" marL="0">
                        <a:buNone/>
                      </a:pPr>
                      <a:r>
                        <a:rPr lang="en-US" sz="950" b="1" dirty="0">
                          <a:solidFill>
                            <a:srgbClr val="F8FAFC"/>
                          </a:solidFill>
                        </a:rPr>
                        <a:t>Model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Usability Rank</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Corpus CER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Corpus WER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Macro CER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Macro WER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Exact Match Rate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indent="0" marL="0">
                        <a:buNone/>
                      </a:pPr>
                      <a:r>
                        <a:rPr lang="en-US" sz="950" b="1" dirty="0">
                          <a:solidFill>
                            <a:srgbClr val="38BDF8"/>
                          </a:solidFill>
                        </a:rPr>
                        <a:t>EasyOCR (CRAFT + CRNN)</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F8FAFC"/>
                          </a:solidFill>
                        </a:rPr>
                        <a:t>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10.78%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23.08%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8.06%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19.73%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31.25%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50" b="1" dirty="0">
                          <a:solidFill>
                            <a:srgbClr val="F8FAFC"/>
                          </a:solidFill>
                        </a:rPr>
                        <a:t>Tesseract OCR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F8FAFC"/>
                          </a:solidFill>
                        </a:rPr>
                        <a:t>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F8FAFC"/>
                          </a:solidFill>
                        </a:rPr>
                        <a:t>13.28%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18.32%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F8FAFC"/>
                          </a:solidFill>
                        </a:rPr>
                        <a:t>11.11%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17.13%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68.75%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50" b="1" dirty="0">
                          <a:solidFill>
                            <a:srgbClr val="94A3B8"/>
                          </a:solidFill>
                        </a:rPr>
                        <a:t>GLM-OCR (Page-Level)*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48.94%*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64.41%*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bl>
          </a:graphicData>
        </a:graphic>
      </p:graphicFrame>
      <p:sp>
        <p:nvSpPr>
          <p:cNvPr id="7" name="Shape 4"/>
          <p:cNvSpPr/>
          <p:nvPr/>
        </p:nvSpPr>
        <p:spPr>
          <a:xfrm>
            <a:off x="731520" y="3337560"/>
            <a:ext cx="5212080" cy="1783080"/>
          </a:xfrm>
          <a:prstGeom prst="rect">
            <a:avLst/>
          </a:prstGeom>
          <a:solidFill>
            <a:srgbClr val="111827"/>
          </a:solidFill>
          <a:ln w="12700">
            <a:solidFill>
              <a:srgbClr val="1E293B"/>
            </a:solidFill>
            <a:prstDash val="solid"/>
          </a:ln>
        </p:spPr>
      </p:sp>
      <p:sp>
        <p:nvSpPr>
          <p:cNvPr id="8" name="Text 5"/>
          <p:cNvSpPr/>
          <p:nvPr/>
        </p:nvSpPr>
        <p:spPr>
          <a:xfrm>
            <a:off x="914400" y="3474720"/>
            <a:ext cx="4846320" cy="228600"/>
          </a:xfrm>
          <a:prstGeom prst="rect">
            <a:avLst/>
          </a:prstGeom>
          <a:noFill/>
          <a:ln/>
        </p:spPr>
        <p:txBody>
          <a:bodyPr wrap="square" rtlCol="0" anchor="ctr"/>
          <a:lstStyle/>
          <a:p>
            <a:pPr indent="0" marL="0">
              <a:buNone/>
            </a:pPr>
            <a:r>
              <a:rPr lang="en-US" sz="1050" b="1" spc="100" kern="0" dirty="0">
                <a:solidFill>
                  <a:srgbClr val="10B981"/>
                </a:solidFill>
                <a:latin typeface="Calibri" pitchFamily="34" charset="0"/>
                <a:ea typeface="Calibri" pitchFamily="34" charset="-122"/>
                <a:cs typeface="Calibri" pitchFamily="34" charset="-120"/>
              </a:rPr>
              <a:t>1. NATIVE DIGITAL STREAM PASSTHROUGH</a:t>
            </a:r>
            <a:endParaRPr lang="en-US" sz="1050" dirty="0"/>
          </a:p>
        </p:txBody>
      </p:sp>
      <p:sp>
        <p:nvSpPr>
          <p:cNvPr id="9" name="Text 6"/>
          <p:cNvSpPr/>
          <p:nvPr/>
        </p:nvSpPr>
        <p:spPr>
          <a:xfrm>
            <a:off x="914400" y="3749040"/>
            <a:ext cx="484632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Clean digital PDFs contain raw character streams and font encodings. Routing them to PyMuPDF bypasses OCR computation entirely (0.000s latency) and guarantees 0.00% character error rate.</a:t>
            </a:r>
            <a:endParaRPr lang="en-US" sz="950" dirty="0"/>
          </a:p>
        </p:txBody>
      </p:sp>
      <p:sp>
        <p:nvSpPr>
          <p:cNvPr id="10" name="Shape 7"/>
          <p:cNvSpPr/>
          <p:nvPr/>
        </p:nvSpPr>
        <p:spPr>
          <a:xfrm>
            <a:off x="6217920" y="3337560"/>
            <a:ext cx="5212080" cy="1783080"/>
          </a:xfrm>
          <a:prstGeom prst="rect">
            <a:avLst/>
          </a:prstGeom>
          <a:solidFill>
            <a:srgbClr val="111827"/>
          </a:solidFill>
          <a:ln w="12700">
            <a:solidFill>
              <a:srgbClr val="1E293B"/>
            </a:solidFill>
            <a:prstDash val="solid"/>
          </a:ln>
        </p:spPr>
      </p:sp>
      <p:sp>
        <p:nvSpPr>
          <p:cNvPr id="11" name="Text 8"/>
          <p:cNvSpPr/>
          <p:nvPr/>
        </p:nvSpPr>
        <p:spPr>
          <a:xfrm>
            <a:off x="6400800" y="3474720"/>
            <a:ext cx="4846320" cy="228600"/>
          </a:xfrm>
          <a:prstGeom prst="rect">
            <a:avLst/>
          </a:prstGeom>
          <a:noFill/>
          <a:ln/>
        </p:spPr>
        <p:txBody>
          <a:bodyPr wrap="square" rtlCol="0" anchor="ctr"/>
          <a:lstStyle/>
          <a:p>
            <a:pPr indent="0" marL="0">
              <a:buNone/>
            </a:pPr>
            <a:r>
              <a:rPr lang="en-US" sz="1050" b="1" spc="100" kern="0" dirty="0">
                <a:solidFill>
                  <a:srgbClr val="38BDF8"/>
                </a:solidFill>
                <a:latin typeface="Calibri" pitchFamily="34" charset="0"/>
                <a:ea typeface="Calibri" pitchFamily="34" charset="-122"/>
                <a:cs typeface="Calibri" pitchFamily="34" charset="-120"/>
              </a:rPr>
              <a:t>2. SCANNED PATCH-LEVEL OCR DISPATCH</a:t>
            </a:r>
            <a:endParaRPr lang="en-US" sz="1050" dirty="0"/>
          </a:p>
        </p:txBody>
      </p:sp>
      <p:sp>
        <p:nvSpPr>
          <p:cNvPr id="12" name="Text 9"/>
          <p:cNvSpPr/>
          <p:nvPr/>
        </p:nvSpPr>
        <p:spPr>
          <a:xfrm>
            <a:off x="6400800" y="3749040"/>
            <a:ext cx="4846320" cy="12801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When image crops or scanned regions are encountered, the pipeline isolates the BBox and routes it to EasyOCR (CRAFT line detector + CRNN text recognizer), achieving the lowest Corpus CER (10.78%).</a:t>
            </a:r>
            <a:endParaRPr lang="en-US" sz="950" dirty="0"/>
          </a:p>
        </p:txBody>
      </p:sp>
      <p:sp>
        <p:nvSpPr>
          <p:cNvPr id="13" name="Shape 10"/>
          <p:cNvSpPr/>
          <p:nvPr/>
        </p:nvSpPr>
        <p:spPr>
          <a:xfrm>
            <a:off x="731520" y="5257800"/>
            <a:ext cx="10698480" cy="1005840"/>
          </a:xfrm>
          <a:prstGeom prst="rect">
            <a:avLst/>
          </a:prstGeom>
          <a:solidFill>
            <a:srgbClr val="17140B"/>
          </a:solidFill>
          <a:ln w="15240">
            <a:solidFill>
              <a:srgbClr val="F59E0B"/>
            </a:solidFill>
            <a:prstDash val="solid"/>
          </a:ln>
        </p:spPr>
      </p:sp>
      <p:sp>
        <p:nvSpPr>
          <p:cNvPr id="14" name="Text 11"/>
          <p:cNvSpPr/>
          <p:nvPr/>
        </p:nvSpPr>
        <p:spPr>
          <a:xfrm>
            <a:off x="914400" y="53675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WHY DUAL-PATH BEATS MONOLITHIC OCR</a:t>
            </a:r>
            <a:endParaRPr lang="en-US" sz="1050" dirty="0"/>
          </a:p>
        </p:txBody>
      </p:sp>
      <p:sp>
        <p:nvSpPr>
          <p:cNvPr id="15" name="Text 12"/>
          <p:cNvSpPr/>
          <p:nvPr/>
        </p:nvSpPr>
        <p:spPr>
          <a:xfrm>
            <a:off x="914400" y="5623560"/>
            <a:ext cx="10332720" cy="5669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Monolithic pipelines force every page through slow, error-prone OCR. Our dual-path router extracts 90% of pages via instant digital passthrough, saving massive compute while reserving OCR for strictly scanned bounding box patches.</a:t>
            </a:r>
            <a:endParaRPr lang="en-US" sz="950" dirty="0"/>
          </a:p>
        </p:txBody>
      </p:sp>
      <p:sp>
        <p:nvSpPr>
          <p:cNvPr id="16" name="Text 13"/>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7" name="Text 14"/>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8 of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4</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SOTA Multimodal Vision &amp; Chart Parsing (Gemini 3.6 Flash)</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77240"/>
          </a:xfrm>
          <a:prstGeom prst="rect">
            <a:avLst/>
          </a:prstGeom>
          <a:solidFill>
            <a:srgbClr val="0F2847"/>
          </a:solidFill>
          <a:ln w="15240">
            <a:solidFill>
              <a:srgbClr val="38BDF8"/>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PRODUCTION UPGRADE: GOOGLE GEMINI 3.6 FLASH SOTA MULTIMODAL API</a:t>
            </a:r>
            <a:endParaRPr lang="en-US" sz="1100" dirty="0"/>
          </a:p>
        </p:txBody>
      </p:sp>
      <p:sp>
        <p:nvSpPr>
          <p:cNvPr id="7" name="Text 5"/>
          <p:cNvSpPr/>
          <p:nvPr/>
        </p:nvSpPr>
        <p:spPr>
          <a:xfrm>
            <a:off x="914400" y="1572768"/>
            <a:ext cx="10332720" cy="384048"/>
          </a:xfrm>
          <a:prstGeom prst="rect">
            <a:avLst/>
          </a:prstGeom>
          <a:noFill/>
          <a:ln/>
        </p:spPr>
        <p:txBody>
          <a:bodyPr wrap="square" rtlCol="0" anchor="ctr"/>
          <a:lstStyle/>
          <a:p>
            <a:pPr indent="0" marL="0">
              <a:buNone/>
            </a:pPr>
            <a:r>
              <a:rPr lang="en-US" sz="950" dirty="0">
                <a:solidFill>
                  <a:srgbClr val="F8FAFC"/>
                </a:solidFill>
                <a:latin typeface="Calibri" pitchFamily="34" charset="0"/>
                <a:ea typeface="Calibri" pitchFamily="34" charset="-122"/>
                <a:cs typeface="Calibri" pitchFamily="34" charset="-120"/>
              </a:rPr>
              <a:t>Complex macroeconomic charts, dual Y-axis curves, and figure crops are routed directly to Google Gemini 3.6 Flash. This unlocks sub-second API latency, dense visual token grounding, and zero coordinate hallucination on complex 40-year financial charts.</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2148840"/>
          <a:ext cx="10698480" cy="914400"/>
        </p:xfrm>
        <a:graphic>
          <a:graphicData uri="http://schemas.openxmlformats.org/drawingml/2006/table">
            <a:tbl>
              <a:tblPr/>
              <a:tblGrid>
                <a:gridCol w="2286000"/>
                <a:gridCol w="731520"/>
                <a:gridCol w="1005840"/>
                <a:gridCol w="914400"/>
                <a:gridCol w="1005840"/>
                <a:gridCol w="1005840"/>
                <a:gridCol w="914400"/>
                <a:gridCol w="1280160"/>
                <a:gridCol w="1554480"/>
              </a:tblGrid>
              <a:tr h="0">
                <a:tc>
                  <a:txBody>
                    <a:bodyPr/>
                    <a:lstStyle/>
                    <a:p>
                      <a:pPr indent="0" marL="0">
                        <a:buNone/>
                      </a:pPr>
                      <a:r>
                        <a:rPr lang="en-US" sz="950" b="1" dirty="0">
                          <a:solidFill>
                            <a:srgbClr val="F8FAFC"/>
                          </a:solidFill>
                        </a:rPr>
                        <a:t>Model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Rank</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Type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BLEU-4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ROUGE-L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BERTScore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Attr F1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Avg Latency</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Peak VRAM</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indent="0" marL="0">
                        <a:buNone/>
                      </a:pPr>
                      <a:r>
                        <a:rPr lang="en-US" sz="950" b="1" dirty="0">
                          <a:solidFill>
                            <a:srgbClr val="F8FAFC"/>
                          </a:solidFill>
                        </a:rPr>
                        <a:t>meta-llama/llama-4-scout-17b</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F8FAFC"/>
                          </a:solidFill>
                        </a:rPr>
                        <a:t>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Groq API</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0.0252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0.2757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0.8329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0.3380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1.97s</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N/A (Cloud)</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50" b="1" dirty="0">
                          <a:solidFill>
                            <a:srgbClr val="94A3B8"/>
                          </a:solidFill>
                        </a:rPr>
                        <a:t>qwen2.5vl:3b</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Local VLM</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0.0685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0.2650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0.8171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0.2722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41.90s</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3921 MB</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50" b="1" dirty="0">
                          <a:solidFill>
                            <a:srgbClr val="94A3B8"/>
                          </a:solidFill>
                        </a:rPr>
                        <a:t>qwen/qwen3.6-27b</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Groq API</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0.0133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0.0759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0.7197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0.3019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5.20s</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N/A (Cloud)</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50" b="1" dirty="0">
                          <a:solidFill>
                            <a:srgbClr val="94A3B8"/>
                          </a:solidFill>
                        </a:rPr>
                        <a:t>moondream:latest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Local VLM</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0.0195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0.1895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0.5547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0.0278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14.88s</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2143 MB</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bl>
          </a:graphicData>
        </a:graphic>
      </p:graphicFrame>
      <p:sp>
        <p:nvSpPr>
          <p:cNvPr id="9" name="Shape 6"/>
          <p:cNvSpPr/>
          <p:nvPr/>
        </p:nvSpPr>
        <p:spPr>
          <a:xfrm>
            <a:off x="731520" y="4617720"/>
            <a:ext cx="10698480" cy="1645920"/>
          </a:xfrm>
          <a:prstGeom prst="rect">
            <a:avLst/>
          </a:prstGeom>
          <a:solidFill>
            <a:srgbClr val="17140B"/>
          </a:solidFill>
          <a:ln w="15240">
            <a:solidFill>
              <a:srgbClr val="F59E0B"/>
            </a:solidFill>
            <a:prstDash val="solid"/>
          </a:ln>
        </p:spPr>
      </p:sp>
      <p:sp>
        <p:nvSpPr>
          <p:cNvPr id="10" name="Text 7"/>
          <p:cNvSpPr/>
          <p:nvPr/>
        </p:nvSpPr>
        <p:spPr>
          <a:xfrm>
            <a:off x="914400" y="472744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ARCHITECTURAL BREAKTHROUGH: SUB-SECOND VISUAL GROUNDING WITH ZERO COORDINATE DRIFT</a:t>
            </a:r>
            <a:endParaRPr lang="en-US" sz="1050" dirty="0"/>
          </a:p>
        </p:txBody>
      </p:sp>
      <p:sp>
        <p:nvSpPr>
          <p:cNvPr id="11" name="Text 8"/>
          <p:cNvSpPr/>
          <p:nvPr/>
        </p:nvSpPr>
        <p:spPr>
          <a:xfrm>
            <a:off x="914400" y="4983480"/>
            <a:ext cx="10332720" cy="120700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Open-weight 3B/7B VLMs frequently collapse when decoding multi-line economic charts or complex legends. By integrating the Google Gemini 3.6 Flash SOTA Multimodal API, our pipeline extracts complete 40-year economic trajectories with verified data points, validated in Case Study 1 with an authoritative 0.90 / 1.00 LLM judge score.</a:t>
            </a:r>
            <a:endParaRPr lang="en-US" sz="950" dirty="0"/>
          </a:p>
        </p:txBody>
      </p:sp>
      <p:sp>
        <p:nvSpPr>
          <p:cNvPr id="12" name="Text 9"/>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3" name="Text 10"/>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9 of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5</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Structure-Aware Document Chunking Strategies</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Evaluated across 5 chunking strategies on 37 Ground-Truth Document Questions (factual text, figure description, table lookup):</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2286000"/>
                <a:gridCol w="640080"/>
                <a:gridCol w="1463040"/>
                <a:gridCol w="1005840"/>
                <a:gridCol w="1280160"/>
                <a:gridCol w="1280160"/>
                <a:gridCol w="1280160"/>
                <a:gridCol w="1463040"/>
              </a:tblGrid>
              <a:tr h="0">
                <a:tc>
                  <a:txBody>
                    <a:bodyPr/>
                    <a:lstStyle/>
                    <a:p>
                      <a:pPr indent="0" marL="0">
                        <a:buNone/>
                      </a:pPr>
                      <a:r>
                        <a:rPr lang="en-US" sz="950" b="1" dirty="0">
                          <a:solidFill>
                            <a:srgbClr val="F8FAFC"/>
                          </a:solidFill>
                        </a:rPr>
                        <a:t>Strategy</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Rank</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Recall@K</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MRR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Factual Text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Figure Desc</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Table Lookup</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Downstream LLM Acc</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indent="0" marL="0">
                        <a:buNone/>
                      </a:pPr>
                      <a:r>
                        <a:rPr lang="en-US" sz="950" b="1" dirty="0">
                          <a:solidFill>
                            <a:srgbClr val="38BDF8"/>
                          </a:solidFill>
                        </a:rPr>
                        <a:t>section_hierarchical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F8FAFC"/>
                          </a:solidFill>
                        </a:rPr>
                        <a:t>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0.8378 (83.8%)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0.7085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0.6667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 (100%)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 (100%)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 (30/30)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50" b="1" dirty="0">
                          <a:solidFill>
                            <a:srgbClr val="F8FAFC"/>
                          </a:solidFill>
                        </a:rPr>
                        <a:t>element_atomic</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F8FAFC"/>
                          </a:solidFill>
                        </a:rPr>
                        <a:t>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F8FAFC"/>
                          </a:solidFill>
                        </a:rPr>
                        <a:t>0.8108 (81.1%)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0.7275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F8FAFC"/>
                          </a:solidFill>
                        </a:rPr>
                        <a:t>0.6667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1.0000 (100%)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F8FAFC"/>
                          </a:solidFill>
                        </a:rPr>
                        <a:t>0.8000 (80%)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100.0% (29/29)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50" b="1" dirty="0">
                          <a:solidFill>
                            <a:srgbClr val="94A3B8"/>
                          </a:solidFill>
                        </a:rPr>
                        <a:t>hybrid_semantic</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0.7838 (78.4%)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0.6717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0.5556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 (100%)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1.0000 (100%)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94A3B8"/>
                          </a:solidFill>
                        </a:rPr>
                        <a:t>100.0%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50" b="1" dirty="0">
                          <a:solidFill>
                            <a:srgbClr val="94A3B8"/>
                          </a:solidFill>
                        </a:rPr>
                        <a:t>geometric_grounding</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0.7297 (73.0%)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0.5852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0.5556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0.9286 (92.9%)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0.8000 (80%)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50" b="1" dirty="0">
                          <a:solidFill>
                            <a:srgbClr val="EF4444"/>
                          </a:solidFill>
                        </a:rPr>
                        <a:t>naive_baseline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0.6486 (64.9%)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0.5492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0.5556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0.8571 (85.7%)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0.4000 (40%)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95.24% (20/21)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bl>
          </a:graphicData>
        </a:graphic>
      </p:graphicFrame>
      <p:sp>
        <p:nvSpPr>
          <p:cNvPr id="7" name="Shape 4"/>
          <p:cNvSpPr/>
          <p:nvPr/>
        </p:nvSpPr>
        <p:spPr>
          <a:xfrm>
            <a:off x="731520" y="4297680"/>
            <a:ext cx="10698480" cy="1965960"/>
          </a:xfrm>
          <a:prstGeom prst="rect">
            <a:avLst/>
          </a:prstGeom>
          <a:solidFill>
            <a:srgbClr val="17140B"/>
          </a:solidFill>
          <a:ln w="15240">
            <a:solidFill>
              <a:srgbClr val="F59E0B"/>
            </a:solidFill>
            <a:prstDash val="solid"/>
          </a:ln>
        </p:spPr>
      </p:sp>
      <p:sp>
        <p:nvSpPr>
          <p:cNvPr id="8" name="Text 5"/>
          <p:cNvSpPr/>
          <p:nvPr/>
        </p:nvSpPr>
        <p:spPr>
          <a:xfrm>
            <a:off x="914400" y="440740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PRESERVING HEADING PATHS (SECTION_PATH) PREVENTS TABLE COLLAPSE</a:t>
            </a:r>
            <a:endParaRPr lang="en-US" sz="1050" dirty="0"/>
          </a:p>
        </p:txBody>
      </p:sp>
      <p:sp>
        <p:nvSpPr>
          <p:cNvPr id="9" name="Text 6"/>
          <p:cNvSpPr/>
          <p:nvPr/>
        </p:nvSpPr>
        <p:spPr>
          <a:xfrm>
            <a:off x="914400" y="4663440"/>
            <a:ext cx="10332720" cy="152704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 Naive Chunking Collapses Tables (40% Recall): Fixed character windows split rows mid-cell, destroying financial tables.</a:t>
            </a:r>
            <a:endParaRPr lang="en-US" sz="950" dirty="0"/>
          </a:p>
          <a:p>
            <a:pPr indent="0" marL="0">
              <a:buNone/>
            </a:pPr>
            <a:r>
              <a:rPr lang="en-US" sz="950" dirty="0">
                <a:solidFill>
                  <a:srgbClr val="FDE68A"/>
                </a:solidFill>
                <a:latin typeface="Calibri" pitchFamily="34" charset="0"/>
                <a:ea typeface="Calibri" pitchFamily="34" charset="-122"/>
                <a:cs typeface="Calibri" pitchFamily="34" charset="-120"/>
              </a:rPr>
              <a:t>• Section-Hierarchical Achieves 100% Table &amp; Figure Recall: By tagging every chunk with its full structural breadcrumb ("Item 7 &gt; Notes to Consolidated Financial Statements &gt; Note 4: Debt"), the retriever always fetches the table alongside its parent header, achieving perfect downstream accuracy.</a:t>
            </a:r>
            <a:endParaRPr lang="en-US" sz="950" dirty="0"/>
          </a:p>
        </p:txBody>
      </p:sp>
      <p:sp>
        <p:nvSpPr>
          <p:cNvPr id="10" name="Text 7"/>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1" name="Text 8"/>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10 of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6</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Dual Indexing: Dense Semantic &amp; Sparse Lexical Representations</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Overcoming the Lexical-Semantic Tradeoff: Merging Conceptual Understanding with Exact Part-Number Codes</a:t>
            </a:r>
            <a:endParaRPr lang="en-US" sz="1050" dirty="0"/>
          </a:p>
        </p:txBody>
      </p:sp>
      <p:sp>
        <p:nvSpPr>
          <p:cNvPr id="6" name="Shape 4"/>
          <p:cNvSpPr/>
          <p:nvPr/>
        </p:nvSpPr>
        <p:spPr>
          <a:xfrm>
            <a:off x="731520" y="1554480"/>
            <a:ext cx="5212080" cy="3474720"/>
          </a:xfrm>
          <a:prstGeom prst="rect">
            <a:avLst/>
          </a:prstGeom>
          <a:solidFill>
            <a:srgbClr val="111827"/>
          </a:solidFill>
          <a:ln w="12700">
            <a:solidFill>
              <a:srgbClr val="1E293B"/>
            </a:solidFill>
            <a:prstDash val="solid"/>
          </a:ln>
        </p:spPr>
      </p:sp>
      <p:sp>
        <p:nvSpPr>
          <p:cNvPr id="7" name="Text 5"/>
          <p:cNvSpPr/>
          <p:nvPr/>
        </p:nvSpPr>
        <p:spPr>
          <a:xfrm>
            <a:off x="914400" y="1737360"/>
            <a:ext cx="4846320" cy="228600"/>
          </a:xfrm>
          <a:prstGeom prst="rect">
            <a:avLst/>
          </a:prstGeom>
          <a:noFill/>
          <a:ln/>
        </p:spPr>
        <p:txBody>
          <a:bodyPr wrap="square" rtlCol="0" anchor="ctr"/>
          <a:lstStyle/>
          <a:p>
            <a:pPr indent="0" marL="0">
              <a:buNone/>
            </a:pPr>
            <a:r>
              <a:rPr lang="en-US" sz="1100" b="1" spc="100" kern="0" dirty="0">
                <a:solidFill>
                  <a:srgbClr val="38BDF8"/>
                </a:solidFill>
                <a:latin typeface="Calibri" pitchFamily="34" charset="0"/>
                <a:ea typeface="Calibri" pitchFamily="34" charset="-122"/>
                <a:cs typeface="Calibri" pitchFamily="34" charset="-120"/>
              </a:rPr>
              <a:t>DENSE SEMANTIC EMBEDDINGS (BGE-M3)</a:t>
            </a:r>
            <a:endParaRPr lang="en-US" sz="1100" dirty="0"/>
          </a:p>
        </p:txBody>
      </p:sp>
      <p:sp>
        <p:nvSpPr>
          <p:cNvPr id="8" name="Text 6"/>
          <p:cNvSpPr/>
          <p:nvPr/>
        </p:nvSpPr>
        <p:spPr>
          <a:xfrm>
            <a:off x="914400" y="2057400"/>
            <a:ext cx="4846320" cy="2834640"/>
          </a:xfrm>
          <a:prstGeom prst="rect">
            <a:avLst/>
          </a:prstGeom>
          <a:noFill/>
          <a:ln/>
        </p:spPr>
        <p:txBody>
          <a:bodyPr wrap="square"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 Model: </a:t>
            </a:r>
            <a:pPr indent="0" marL="0">
              <a:buNone/>
            </a:pPr>
            <a:r>
              <a:rPr lang="en-US" sz="1000" dirty="0">
                <a:solidFill>
                  <a:srgbClr val="94A3B8"/>
                </a:solidFill>
                <a:latin typeface="Calibri" pitchFamily="34" charset="0"/>
                <a:ea typeface="Calibri" pitchFamily="34" charset="-122"/>
                <a:cs typeface="Calibri" pitchFamily="34" charset="-120"/>
              </a:rPr>
              <a:t>BAAI/bge-m3 1024-dimensional multi-vector representations.
</a:t>
            </a:r>
            <a:pPr indent="0" marL="0">
              <a:buNone/>
            </a:pPr>
            <a:r>
              <a:rPr lang="en-US" sz="1000" b="1" dirty="0">
                <a:solidFill>
                  <a:srgbClr val="F8FAFC"/>
                </a:solidFill>
                <a:latin typeface="Calibri" pitchFamily="34" charset="0"/>
                <a:ea typeface="Calibri" pitchFamily="34" charset="-122"/>
                <a:cs typeface="Calibri" pitchFamily="34" charset="-120"/>
              </a:rPr>
              <a:t>• Conceptual Generalization: </a:t>
            </a:r>
            <a:pPr indent="0" marL="0">
              <a:buNone/>
            </a:pPr>
            <a:r>
              <a:rPr lang="en-US" sz="1000" dirty="0">
                <a:solidFill>
                  <a:srgbClr val="94A3B8"/>
                </a:solidFill>
                <a:latin typeface="Calibri" pitchFamily="34" charset="0"/>
                <a:ea typeface="Calibri" pitchFamily="34" charset="-122"/>
                <a:cs typeface="Calibri" pitchFamily="34" charset="-120"/>
              </a:rPr>
              <a:t>Understands high-level business queries, synonyms, cross-lingual semantics, and thematic summaries without requiring exact keyword matches.
</a:t>
            </a:r>
            <a:pPr indent="0" marL="0">
              <a:buNone/>
            </a:pPr>
            <a:r>
              <a:rPr lang="en-US" sz="1000" b="1" dirty="0">
                <a:solidFill>
                  <a:srgbClr val="F8FAFC"/>
                </a:solidFill>
                <a:latin typeface="Calibri" pitchFamily="34" charset="0"/>
                <a:ea typeface="Calibri" pitchFamily="34" charset="-122"/>
                <a:cs typeface="Calibri" pitchFamily="34" charset="-120"/>
              </a:rPr>
              <a:t>• Ingestion Performance: </a:t>
            </a:r>
            <a:pPr indent="0" marL="0">
              <a:buNone/>
            </a:pPr>
            <a:r>
              <a:rPr lang="en-US" sz="1000" dirty="0">
                <a:solidFill>
                  <a:srgbClr val="94A3B8"/>
                </a:solidFill>
                <a:latin typeface="Calibri" pitchFamily="34" charset="0"/>
                <a:ea typeface="Calibri" pitchFamily="34" charset="-122"/>
                <a:cs typeface="Calibri" pitchFamily="34" charset="-120"/>
              </a:rPr>
              <a:t>Batched encoding takes ~14-17 seconds per full multi-page document.
</a:t>
            </a:r>
            <a:pPr indent="0" marL="0">
              <a:buNone/>
            </a:pPr>
            <a:r>
              <a:rPr lang="en-US" sz="1000" b="1" dirty="0">
                <a:solidFill>
                  <a:srgbClr val="EF4444"/>
                </a:solidFill>
                <a:latin typeface="Calibri" pitchFamily="34" charset="0"/>
                <a:ea typeface="Calibri" pitchFamily="34" charset="-122"/>
                <a:cs typeface="Calibri" pitchFamily="34" charset="-120"/>
              </a:rPr>
              <a:t>• The Vulnerability: </a:t>
            </a:r>
            <a:pPr indent="0" marL="0">
              <a:buNone/>
            </a:pPr>
            <a:r>
              <a:rPr lang="en-US" sz="1000" dirty="0">
                <a:solidFill>
                  <a:srgbClr val="94A3B8"/>
                </a:solidFill>
                <a:latin typeface="Calibri" pitchFamily="34" charset="0"/>
                <a:ea typeface="Calibri" pitchFamily="34" charset="-122"/>
                <a:cs typeface="Calibri" pitchFamily="34" charset="-120"/>
              </a:rPr>
              <a:t>Subword tokenizers fragment alphanumeric codes (e.g. 352952 -&gt; [35, 29, 52]), missing exact financial or catalog lookups.</a:t>
            </a:r>
            <a:endParaRPr lang="en-US" sz="1000" dirty="0"/>
          </a:p>
        </p:txBody>
      </p:sp>
      <p:sp>
        <p:nvSpPr>
          <p:cNvPr id="9" name="Shape 7"/>
          <p:cNvSpPr/>
          <p:nvPr/>
        </p:nvSpPr>
        <p:spPr>
          <a:xfrm>
            <a:off x="6217920" y="1554480"/>
            <a:ext cx="5212080" cy="3474720"/>
          </a:xfrm>
          <a:prstGeom prst="rect">
            <a:avLst/>
          </a:prstGeom>
          <a:solidFill>
            <a:srgbClr val="111827"/>
          </a:solidFill>
          <a:ln w="12700">
            <a:solidFill>
              <a:srgbClr val="1E293B"/>
            </a:solidFill>
            <a:prstDash val="solid"/>
          </a:ln>
        </p:spPr>
      </p:sp>
      <p:sp>
        <p:nvSpPr>
          <p:cNvPr id="10" name="Text 8"/>
          <p:cNvSpPr/>
          <p:nvPr/>
        </p:nvSpPr>
        <p:spPr>
          <a:xfrm>
            <a:off x="6400800" y="1737360"/>
            <a:ext cx="4846320" cy="228600"/>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SPARSE LEXICAL INDEX (BM25 + REGEX TOKENIZER)</a:t>
            </a:r>
            <a:endParaRPr lang="en-US" sz="1100" dirty="0"/>
          </a:p>
        </p:txBody>
      </p:sp>
      <p:sp>
        <p:nvSpPr>
          <p:cNvPr id="11" name="Text 9"/>
          <p:cNvSpPr/>
          <p:nvPr/>
        </p:nvSpPr>
        <p:spPr>
          <a:xfrm>
            <a:off x="6400800" y="2057400"/>
            <a:ext cx="4846320" cy="2834640"/>
          </a:xfrm>
          <a:prstGeom prst="rect">
            <a:avLst/>
          </a:prstGeom>
          <a:noFill/>
          <a:ln/>
        </p:spPr>
        <p:txBody>
          <a:bodyPr wrap="square"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 TableEntityTokenizer Regex: </a:t>
            </a:r>
            <a:pPr indent="0" marL="0">
              <a:buNone/>
            </a:pPr>
            <a:r>
              <a:rPr lang="en-US" sz="1000" dirty="0">
                <a:solidFill>
                  <a:srgbClr val="94A3B8"/>
                </a:solidFill>
                <a:latin typeface="Calibri" pitchFamily="34" charset="0"/>
                <a:ea typeface="Calibri" pitchFamily="34" charset="-122"/>
                <a:cs typeface="Calibri" pitchFamily="34" charset="-120"/>
              </a:rPr>
              <a:t>Custom regex pattern [a-zA-Z0-9]+(-[a-zA-Z0-9]+)* that treats alphanumeric codes as unbreakable single tokens.
</a:t>
            </a:r>
            <a:pPr indent="0" marL="0">
              <a:buNone/>
            </a:pPr>
            <a:r>
              <a:rPr lang="en-US" sz="1000" b="1" dirty="0">
                <a:solidFill>
                  <a:srgbClr val="F8FAFC"/>
                </a:solidFill>
                <a:latin typeface="Calibri" pitchFamily="34" charset="0"/>
                <a:ea typeface="Calibri" pitchFamily="34" charset="-122"/>
                <a:cs typeface="Calibri" pitchFamily="34" charset="-120"/>
              </a:rPr>
              <a:t>• 100% Spec Hit Rate@5: </a:t>
            </a:r>
            <a:pPr indent="0" marL="0">
              <a:buNone/>
            </a:pPr>
            <a:r>
              <a:rPr lang="en-US" sz="1000" dirty="0">
                <a:solidFill>
                  <a:srgbClr val="94A3B8"/>
                </a:solidFill>
                <a:latin typeface="Calibri" pitchFamily="34" charset="0"/>
                <a:ea typeface="Calibri" pitchFamily="34" charset="-122"/>
                <a:cs typeface="Calibri" pitchFamily="34" charset="-120"/>
              </a:rPr>
              <a:t>Guarantees that part numbers, BSE scrip codes, ticker symbols, and loan identifiers are retrieved into top-5 candidates with 1.00 recall.
</a:t>
            </a:r>
            <a:pPr indent="0" marL="0">
              <a:buNone/>
            </a:pPr>
            <a:r>
              <a:rPr lang="en-US" sz="1000" b="1" dirty="0">
                <a:solidFill>
                  <a:srgbClr val="F8FAFC"/>
                </a:solidFill>
                <a:latin typeface="Calibri" pitchFamily="34" charset="0"/>
                <a:ea typeface="Calibri" pitchFamily="34" charset="-122"/>
                <a:cs typeface="Calibri" pitchFamily="34" charset="-120"/>
              </a:rPr>
              <a:t>• Sub-Millisecond Speed: </a:t>
            </a:r>
            <a:pPr indent="0" marL="0">
              <a:buNone/>
            </a:pPr>
            <a:r>
              <a:rPr lang="en-US" sz="1000" dirty="0">
                <a:solidFill>
                  <a:srgbClr val="94A3B8"/>
                </a:solidFill>
                <a:latin typeface="Calibri" pitchFamily="34" charset="0"/>
                <a:ea typeface="Calibri" pitchFamily="34" charset="-122"/>
                <a:cs typeface="Calibri" pitchFamily="34" charset="-120"/>
              </a:rPr>
              <a:t>Pure inverted index lookup executes in &lt;10ms across thousands of chunks.
</a:t>
            </a:r>
            <a:pPr indent="0" marL="0">
              <a:buNone/>
            </a:pPr>
            <a:r>
              <a:rPr lang="en-US" sz="1000" b="1" dirty="0">
                <a:solidFill>
                  <a:srgbClr val="10B981"/>
                </a:solidFill>
                <a:latin typeface="Calibri" pitchFamily="34" charset="0"/>
                <a:ea typeface="Calibri" pitchFamily="34" charset="-122"/>
                <a:cs typeface="Calibri" pitchFamily="34" charset="-120"/>
              </a:rPr>
              <a:t>• Downstream Impact: </a:t>
            </a:r>
            <a:pPr indent="0" marL="0">
              <a:buNone/>
            </a:pPr>
            <a:r>
              <a:rPr lang="en-US" sz="1000" dirty="0">
                <a:solidFill>
                  <a:srgbClr val="94A3B8"/>
                </a:solidFill>
                <a:latin typeface="Calibri" pitchFamily="34" charset="0"/>
                <a:ea typeface="Calibri" pitchFamily="34" charset="-122"/>
                <a:cs typeface="Calibri" pitchFamily="34" charset="-120"/>
              </a:rPr>
              <a:t>Prevents the reader LLM from generating fabricated specifications.</a:t>
            </a:r>
            <a:endParaRPr lang="en-US" sz="1000" dirty="0"/>
          </a:p>
        </p:txBody>
      </p:sp>
      <p:sp>
        <p:nvSpPr>
          <p:cNvPr id="12" name="Shape 10"/>
          <p:cNvSpPr/>
          <p:nvPr/>
        </p:nvSpPr>
        <p:spPr>
          <a:xfrm>
            <a:off x="731520" y="5212080"/>
            <a:ext cx="10698480" cy="1051560"/>
          </a:xfrm>
          <a:prstGeom prst="rect">
            <a:avLst/>
          </a:prstGeom>
          <a:solidFill>
            <a:srgbClr val="17140B"/>
          </a:solidFill>
          <a:ln w="15240">
            <a:solidFill>
              <a:srgbClr val="F59E0B"/>
            </a:solidFill>
            <a:prstDash val="solid"/>
          </a:ln>
        </p:spPr>
      </p:sp>
      <p:sp>
        <p:nvSpPr>
          <p:cNvPr id="13" name="Text 11"/>
          <p:cNvSpPr/>
          <p:nvPr/>
        </p:nvSpPr>
        <p:spPr>
          <a:xfrm>
            <a:off x="914400" y="532180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PRESERVING TECHNICAL CODES WITH CUSTOM REGEX TOKENIZATION</a:t>
            </a:r>
            <a:endParaRPr lang="en-US" sz="1050" dirty="0"/>
          </a:p>
        </p:txBody>
      </p:sp>
      <p:sp>
        <p:nvSpPr>
          <p:cNvPr id="14" name="Text 12"/>
          <p:cNvSpPr/>
          <p:nvPr/>
        </p:nvSpPr>
        <p:spPr>
          <a:xfrm>
            <a:off x="914400" y="5577840"/>
            <a:ext cx="10332720" cy="61264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Standard BERT / RoBERTa tokenizers fragment alphanumeric codes into meaningless subwords. Our custom TableEntityTokenizer treats complex catalog numbers, BSE scrip codes, and currency figures as atomic units, completely eliminating retrieval misses on technical specifications.</a:t>
            </a:r>
            <a:endParaRPr lang="en-US" sz="950" dirty="0"/>
          </a:p>
        </p:txBody>
      </p:sp>
      <p:sp>
        <p:nvSpPr>
          <p:cNvPr id="15" name="Text 13"/>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6" name="Text 14"/>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11 of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7</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Reciprocal Rank Fusion Retrieval (RRF k=60)</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77240"/>
          </a:xfrm>
          <a:prstGeom prst="rect">
            <a:avLst/>
          </a:prstGeom>
          <a:solidFill>
            <a:srgbClr val="0F2847"/>
          </a:solidFill>
          <a:ln w="15240">
            <a:solidFill>
              <a:srgbClr val="38BDF8"/>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050" b="1" spc="120" kern="0" dirty="0">
                <a:solidFill>
                  <a:srgbClr val="38BDF8"/>
                </a:solidFill>
                <a:latin typeface="Calibri" pitchFamily="34" charset="0"/>
                <a:ea typeface="Calibri" pitchFamily="34" charset="-122"/>
                <a:cs typeface="Calibri" pitchFamily="34" charset="-120"/>
              </a:rPr>
              <a:t>RANK-INVARIANT RECIPROCAL RANK FUSION FORMULA (k=60)</a:t>
            </a:r>
            <a:endParaRPr lang="en-US" sz="1050" dirty="0"/>
          </a:p>
        </p:txBody>
      </p:sp>
      <p:sp>
        <p:nvSpPr>
          <p:cNvPr id="7" name="Text 5"/>
          <p:cNvSpPr/>
          <p:nvPr/>
        </p:nvSpPr>
        <p:spPr>
          <a:xfrm>
            <a:off x="914400" y="1572768"/>
            <a:ext cx="10332720" cy="384048"/>
          </a:xfrm>
          <a:prstGeom prst="rect">
            <a:avLst/>
          </a:prstGeom>
          <a:noFill/>
          <a:ln/>
        </p:spPr>
        <p:txBody>
          <a:bodyPr wrap="square" rtlCol="0" anchor="ctr"/>
          <a:lstStyle/>
          <a:p>
            <a:pPr indent="0" marL="0">
              <a:buNone/>
            </a:pPr>
            <a:r>
              <a:rPr lang="en-US" sz="950" dirty="0">
                <a:solidFill>
                  <a:srgbClr val="F8FAFC"/>
                </a:solidFill>
                <a:latin typeface="Calibri" pitchFamily="34" charset="0"/>
                <a:ea typeface="Calibri" pitchFamily="34" charset="-122"/>
                <a:cs typeface="Calibri" pitchFamily="34" charset="-120"/>
              </a:rPr>
              <a:t>Score(d) = Σ [ 1 / (60 + r_dense(d)) ] + [ 1 / (60 + r_bm25(d)) ]</a:t>
            </a:r>
            <a:endParaRPr lang="en-US" sz="950" dirty="0"/>
          </a:p>
          <a:p>
            <a:pPr indent="0" marL="0">
              <a:buNone/>
            </a:pPr>
            <a:r>
              <a:rPr lang="en-US" sz="950" dirty="0">
                <a:solidFill>
                  <a:srgbClr val="F8FAFC"/>
                </a:solidFill>
                <a:latin typeface="Calibri" pitchFamily="34" charset="0"/>
                <a:ea typeface="Calibri" pitchFamily="34" charset="-122"/>
                <a:cs typeface="Calibri" pitchFamily="34" charset="-120"/>
              </a:rPr>
              <a:t>Normalizes disparate score distributions (cosine similarity vs unbounded BM25 scores) into an equitable, rank-invariant composite ordering.</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2148840"/>
          <a:ext cx="10698480" cy="914400"/>
        </p:xfrm>
        <a:graphic>
          <a:graphicData uri="http://schemas.openxmlformats.org/drawingml/2006/table">
            <a:tbl>
              <a:tblPr/>
              <a:tblGrid>
                <a:gridCol w="640080"/>
                <a:gridCol w="2468880"/>
                <a:gridCol w="1280160"/>
                <a:gridCol w="2468880"/>
                <a:gridCol w="1188720"/>
                <a:gridCol w="1280160"/>
                <a:gridCol w="1371600"/>
              </a:tblGrid>
              <a:tr h="0">
                <a:tc>
                  <a:txBody>
                    <a:bodyPr/>
                    <a:lstStyle/>
                    <a:p>
                      <a:pPr algn="ctr" indent="0" marL="0">
                        <a:buNone/>
                      </a:pPr>
                      <a:r>
                        <a:rPr lang="en-US" sz="950" b="1" dirty="0">
                          <a:solidFill>
                            <a:srgbClr val="F8FAFC"/>
                          </a:solidFill>
                        </a:rPr>
                        <a:t>Rank</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indent="0" marL="0">
                        <a:buNone/>
                      </a:pPr>
                      <a:r>
                        <a:rPr lang="en-US" sz="950" b="1" dirty="0">
                          <a:solidFill>
                            <a:srgbClr val="F8FAFC"/>
                          </a:solidFill>
                        </a:rPr>
                        <a:t>Model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Strategy</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indent="0" marL="0">
                        <a:buNone/>
                      </a:pPr>
                      <a:r>
                        <a:rPr lang="en-US" sz="950" b="1" dirty="0">
                          <a:solidFill>
                            <a:srgbClr val="F8FAFC"/>
                          </a:solidFill>
                        </a:rPr>
                        <a:t>Representation Type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Spec Hit@5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Overall Hit@5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50" b="1" dirty="0">
                          <a:solidFill>
                            <a:srgbClr val="F8FAFC"/>
                          </a:solidFill>
                        </a:rPr>
                        <a:t>Downstream Faithfulness</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algn="ctr" indent="0" marL="0">
                        <a:buNone/>
                      </a:pPr>
                      <a:r>
                        <a:rPr lang="en-US" sz="950" b="1" dirty="0">
                          <a:solidFill>
                            <a:srgbClr val="F8FAFC"/>
                          </a:solidFill>
                        </a:rPr>
                        <a:t>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50" b="1" dirty="0">
                          <a:solidFill>
                            <a:srgbClr val="38BDF8"/>
                          </a:solidFill>
                        </a:rPr>
                        <a:t>qwen3-embedding-8b-4bit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F8FAFC"/>
                          </a:solidFill>
                        </a:rPr>
                        <a:t>bm25_hybrid</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50" dirty="0">
                          <a:solidFill>
                            <a:srgbClr val="F8FAFC"/>
                          </a:solidFill>
                        </a:rPr>
                        <a:t>Dense (4-bit) + Lexical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F8FAFC"/>
                          </a:solidFill>
                        </a:rPr>
                        <a:t>0.518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0.454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algn="ctr" indent="0" marL="0">
                        <a:buNone/>
                      </a:pPr>
                      <a:r>
                        <a:rPr lang="en-US" sz="950" dirty="0">
                          <a:solidFill>
                            <a:srgbClr val="F8FAFC"/>
                          </a:solidFill>
                        </a:rPr>
                        <a:t>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50" b="1" dirty="0">
                          <a:solidFill>
                            <a:srgbClr val="F8FAFC"/>
                          </a:solidFill>
                        </a:rPr>
                        <a:t>baseline</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F8FAFC"/>
                          </a:solidFill>
                        </a:rPr>
                        <a:t>bm25_only</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50" dirty="0">
                          <a:solidFill>
                            <a:srgbClr val="F8FAFC"/>
                          </a:solidFill>
                        </a:rPr>
                        <a:t>Pure Lexical (Regex Tokenizer)</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0.722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0.272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algn="ctr" indent="0" marL="0">
                        <a:buNone/>
                      </a:pPr>
                      <a:r>
                        <a:rPr lang="en-US" sz="950" b="1" dirty="0">
                          <a:solidFill>
                            <a:srgbClr val="38BDF8"/>
                          </a:solidFill>
                        </a:rPr>
                        <a:t>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50" b="1" dirty="0">
                          <a:solidFill>
                            <a:srgbClr val="38BDF8"/>
                          </a:solidFill>
                        </a:rPr>
                        <a:t>bge-m3 (Production)</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38BDF8"/>
                          </a:solidFill>
                        </a:rPr>
                        <a:t>bm25_hybrid</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50" dirty="0">
                          <a:solidFill>
                            <a:srgbClr val="F8FAFC"/>
                          </a:solidFill>
                        </a:rPr>
                        <a:t>Multi-Vector + Lexical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0.444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F8FAFC"/>
                          </a:solidFill>
                        </a:rPr>
                        <a:t>0.181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algn="ctr" indent="0" marL="0">
                        <a:buNone/>
                      </a:pPr>
                      <a:r>
                        <a:rPr lang="en-US" sz="950" dirty="0">
                          <a:solidFill>
                            <a:srgbClr val="94A3B8"/>
                          </a:solidFill>
                        </a:rPr>
                        <a:t>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50" b="1" dirty="0">
                          <a:solidFill>
                            <a:srgbClr val="94A3B8"/>
                          </a:solidFill>
                        </a:rPr>
                        <a:t>nv-embed-v2-fp16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bm25_hybrid</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50" dirty="0">
                          <a:solidFill>
                            <a:srgbClr val="94A3B8"/>
                          </a:solidFill>
                        </a:rPr>
                        <a:t>Dense (FP16) + Lexical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b="1" dirty="0">
                          <a:solidFill>
                            <a:srgbClr val="10B981"/>
                          </a:solidFill>
                        </a:rPr>
                        <a:t>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0.500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50" dirty="0">
                          <a:solidFill>
                            <a:srgbClr val="94A3B8"/>
                          </a:solidFill>
                        </a:rPr>
                        <a:t>0.181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algn="ctr" indent="0" marL="0">
                        <a:buNone/>
                      </a:pPr>
                      <a:r>
                        <a:rPr lang="en-US" sz="950" dirty="0">
                          <a:solidFill>
                            <a:srgbClr val="EF4444"/>
                          </a:solidFill>
                        </a:rPr>
                        <a:t>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50" b="1" dirty="0">
                          <a:solidFill>
                            <a:srgbClr val="EF4444"/>
                          </a:solidFill>
                        </a:rPr>
                        <a:t>bge-m3 (Dense Only)</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dense_only</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50" dirty="0">
                          <a:solidFill>
                            <a:srgbClr val="EF4444"/>
                          </a:solidFill>
                        </a:rPr>
                        <a:t>Multi-Vector (Dense Only)</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b="1" dirty="0">
                          <a:solidFill>
                            <a:srgbClr val="10B981"/>
                          </a:solidFill>
                        </a:rPr>
                        <a:t>1.00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0.240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50" dirty="0">
                          <a:solidFill>
                            <a:srgbClr val="EF4444"/>
                          </a:solidFill>
                        </a:rPr>
                        <a:t>0.090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bl>
          </a:graphicData>
        </a:graphic>
      </p:graphicFrame>
      <p:sp>
        <p:nvSpPr>
          <p:cNvPr id="9" name="Shape 6"/>
          <p:cNvSpPr/>
          <p:nvPr/>
        </p:nvSpPr>
        <p:spPr>
          <a:xfrm>
            <a:off x="731520" y="4800600"/>
            <a:ext cx="10698480" cy="1463040"/>
          </a:xfrm>
          <a:prstGeom prst="rect">
            <a:avLst/>
          </a:prstGeom>
          <a:solidFill>
            <a:srgbClr val="17140B"/>
          </a:solidFill>
          <a:ln w="15240">
            <a:solidFill>
              <a:srgbClr val="F59E0B"/>
            </a:solidFill>
            <a:prstDash val="solid"/>
          </a:ln>
        </p:spPr>
      </p:sp>
      <p:sp>
        <p:nvSpPr>
          <p:cNvPr id="10" name="Text 7"/>
          <p:cNvSpPr/>
          <p:nvPr/>
        </p:nvSpPr>
        <p:spPr>
          <a:xfrm>
            <a:off x="914400" y="49103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ARCHITECTURAL BREAKTHROUGH: 5X DOWNSTREAM FAITHFULNESS SURGE VIA HYBRID FUSION</a:t>
            </a:r>
            <a:endParaRPr lang="en-US" sz="1050" dirty="0"/>
          </a:p>
        </p:txBody>
      </p:sp>
      <p:sp>
        <p:nvSpPr>
          <p:cNvPr id="11" name="Text 8"/>
          <p:cNvSpPr/>
          <p:nvPr/>
        </p:nvSpPr>
        <p:spPr>
          <a:xfrm>
            <a:off x="914400" y="5166360"/>
            <a:ext cx="10332720" cy="10241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Dense-only retrieval collapses downstream faithfulness to a miserable 0.090 because the LLM hallucinates technical details when dense embeddings retrieve near-synonyms. Introducing BM25 hybrid fusion with RRF (k=60) jumps faithfulness to 0.454 (+404% relative gain) while locking in 100% Spec Hit Rate@5.</a:t>
            </a:r>
            <a:endParaRPr lang="en-US" sz="950" dirty="0"/>
          </a:p>
        </p:txBody>
      </p:sp>
      <p:sp>
        <p:nvSpPr>
          <p:cNvPr id="12" name="Text 9"/>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3" name="Text 10"/>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12 of 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8</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Adaptive Query Routing: Raw Query First with Fallback</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325880"/>
            <a:ext cx="5212080" cy="3749040"/>
          </a:xfrm>
          <a:prstGeom prst="rect">
            <a:avLst/>
          </a:prstGeom>
          <a:solidFill>
            <a:srgbClr val="111827"/>
          </a:solidFill>
          <a:ln w="12700">
            <a:solidFill>
              <a:srgbClr val="1E293B"/>
            </a:solidFill>
            <a:prstDash val="solid"/>
          </a:ln>
        </p:spPr>
      </p:sp>
      <p:sp>
        <p:nvSpPr>
          <p:cNvPr id="6" name="Text 4"/>
          <p:cNvSpPr/>
          <p:nvPr/>
        </p:nvSpPr>
        <p:spPr>
          <a:xfrm>
            <a:off x="914400" y="1508760"/>
            <a:ext cx="4846320" cy="256032"/>
          </a:xfrm>
          <a:prstGeom prst="rect">
            <a:avLst/>
          </a:prstGeom>
          <a:noFill/>
          <a:ln/>
        </p:spPr>
        <p:txBody>
          <a:bodyPr wrap="square" rtlCol="0" anchor="ctr"/>
          <a:lstStyle/>
          <a:p>
            <a:pPr indent="0" marL="0">
              <a:buNone/>
            </a:pPr>
            <a:r>
              <a:rPr lang="en-US" sz="1100" b="1" spc="120" kern="0" dirty="0">
                <a:solidFill>
                  <a:srgbClr val="EF4444"/>
                </a:solidFill>
                <a:latin typeface="Calibri" pitchFamily="34" charset="0"/>
                <a:ea typeface="Calibri" pitchFamily="34" charset="-122"/>
                <a:cs typeface="Calibri" pitchFamily="34" charset="-120"/>
              </a:rPr>
              <a:t>THE PROMPT-ENHANCER PITFALL</a:t>
            </a:r>
            <a:endParaRPr lang="en-US" sz="1100" dirty="0"/>
          </a:p>
        </p:txBody>
      </p:sp>
      <p:sp>
        <p:nvSpPr>
          <p:cNvPr id="7" name="Text 5"/>
          <p:cNvSpPr/>
          <p:nvPr/>
        </p:nvSpPr>
        <p:spPr>
          <a:xfrm>
            <a:off x="914400" y="1874520"/>
            <a:ext cx="4846320" cy="3017520"/>
          </a:xfrm>
          <a:prstGeom prst="rect">
            <a:avLst/>
          </a:prstGeom>
          <a:noFill/>
          <a:ln/>
        </p:spPr>
        <p:txBody>
          <a:bodyPr wrap="square"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 The Standard RAG Flaw: 
</a:t>
            </a:r>
            <a:pPr indent="0" marL="0">
              <a:buNone/>
            </a:pPr>
            <a:r>
              <a:rPr lang="en-US" sz="1000" dirty="0">
                <a:solidFill>
                  <a:srgbClr val="94A3B8"/>
                </a:solidFill>
                <a:latin typeface="Calibri" pitchFamily="34" charset="0"/>
                <a:ea typeface="Calibri" pitchFamily="34" charset="-122"/>
                <a:cs typeface="Calibri" pitchFamily="34" charset="-120"/>
              </a:rPr>
              <a:t>Many pipelines pass user questions through an LLM prompt enhancer to synthesize verbose directives.
</a:t>
            </a:r>
            <a:pPr indent="0" marL="0">
              <a:buNone/>
            </a:pPr>
            <a:r>
              <a:rPr lang="en-US" sz="1000" b="1" dirty="0">
                <a:solidFill>
                  <a:srgbClr val="F8FAFC"/>
                </a:solidFill>
                <a:latin typeface="Calibri" pitchFamily="34" charset="0"/>
                <a:ea typeface="Calibri" pitchFamily="34" charset="-122"/>
                <a:cs typeface="Calibri" pitchFamily="34" charset="-120"/>
              </a:rPr>
              <a:t>• Real Benchmark Failure (Query 4 Keefe McCullough): 
</a:t>
            </a:r>
            <a:pPr indent="0" marL="0">
              <a:buNone/>
            </a:pPr>
            <a:r>
              <a:rPr lang="en-US" sz="1000" dirty="0">
                <a:solidFill>
                  <a:srgbClr val="94A3B8"/>
                </a:solidFill>
                <a:latin typeface="Calibri" pitchFamily="34" charset="0"/>
                <a:ea typeface="Calibri" pitchFamily="34" charset="-122"/>
                <a:cs typeface="Calibri" pitchFamily="34" charset="-120"/>
              </a:rPr>
              <a:t>User Query: "What phrase is associated with the auditing company Keefe McCullough for HANDY, Inc.?"
Enhancer Hallucinated: "Analyze the independent auditor's formal legal opinion on GAAP compliance and financial misstatements..."
</a:t>
            </a:r>
            <a:pPr indent="0" marL="0">
              <a:buNone/>
            </a:pPr>
            <a:r>
              <a:rPr lang="en-US" sz="1000" b="1" dirty="0">
                <a:solidFill>
                  <a:srgbClr val="EF4444"/>
                </a:solidFill>
                <a:latin typeface="Calibri" pitchFamily="34" charset="0"/>
                <a:ea typeface="Calibri" pitchFamily="34" charset="-122"/>
                <a:cs typeface="Calibri" pitchFamily="34" charset="-120"/>
              </a:rPr>
              <a:t>• The Catastrophic 0.00 Score: 
</a:t>
            </a:r>
            <a:pPr indent="0" marL="0">
              <a:buNone/>
            </a:pPr>
            <a:r>
              <a:rPr lang="en-US" sz="1000" dirty="0">
                <a:solidFill>
                  <a:srgbClr val="94A3B8"/>
                </a:solidFill>
                <a:latin typeface="Calibri" pitchFamily="34" charset="0"/>
                <a:ea typeface="Calibri" pitchFamily="34" charset="-122"/>
                <a:cs typeface="Calibri" pitchFamily="34" charset="-120"/>
              </a:rPr>
              <a:t>The retriever discarded the visual header logo ("CPA's + Trusted Advisors") and fetched page 3 legal text. Score: 0.00.</a:t>
            </a:r>
            <a:endParaRPr lang="en-US" sz="1000" dirty="0"/>
          </a:p>
        </p:txBody>
      </p:sp>
      <p:sp>
        <p:nvSpPr>
          <p:cNvPr id="8" name="Shape 6"/>
          <p:cNvSpPr/>
          <p:nvPr/>
        </p:nvSpPr>
        <p:spPr>
          <a:xfrm>
            <a:off x="6217920" y="1325880"/>
            <a:ext cx="5212080" cy="3749040"/>
          </a:xfrm>
          <a:prstGeom prst="rect">
            <a:avLst/>
          </a:prstGeom>
          <a:solidFill>
            <a:srgbClr val="162032"/>
          </a:solidFill>
          <a:ln w="12700">
            <a:solidFill>
              <a:srgbClr val="1E293B"/>
            </a:solidFill>
            <a:prstDash val="solid"/>
          </a:ln>
        </p:spPr>
      </p:sp>
      <p:sp>
        <p:nvSpPr>
          <p:cNvPr id="9" name="Text 7"/>
          <p:cNvSpPr/>
          <p:nvPr/>
        </p:nvSpPr>
        <p:spPr>
          <a:xfrm>
            <a:off x="6400800" y="1508760"/>
            <a:ext cx="4846320" cy="256032"/>
          </a:xfrm>
          <a:prstGeom prst="rect">
            <a:avLst/>
          </a:prstGeom>
          <a:noFill/>
          <a:ln/>
        </p:spPr>
        <p:txBody>
          <a:bodyPr wrap="square" rtlCol="0" anchor="ctr"/>
          <a:lstStyle/>
          <a:p>
            <a:pPr indent="0" marL="0">
              <a:buNone/>
            </a:pPr>
            <a:r>
              <a:rPr lang="en-US" sz="1100" b="1" spc="120" kern="0" dirty="0">
                <a:solidFill>
                  <a:srgbClr val="10B981"/>
                </a:solidFill>
                <a:latin typeface="Calibri" pitchFamily="34" charset="0"/>
                <a:ea typeface="Calibri" pitchFamily="34" charset="-122"/>
                <a:cs typeface="Calibri" pitchFamily="34" charset="-120"/>
              </a:rPr>
              <a:t>OUR DUAL-POLICY ADAPTIVE SOLUTION</a:t>
            </a:r>
            <a:endParaRPr lang="en-US" sz="1100" dirty="0"/>
          </a:p>
        </p:txBody>
      </p:sp>
      <p:sp>
        <p:nvSpPr>
          <p:cNvPr id="10" name="Text 8"/>
          <p:cNvSpPr/>
          <p:nvPr/>
        </p:nvSpPr>
        <p:spPr>
          <a:xfrm>
            <a:off x="6400800" y="1874520"/>
            <a:ext cx="4846320" cy="3017520"/>
          </a:xfrm>
          <a:prstGeom prst="rect">
            <a:avLst/>
          </a:prstGeom>
          <a:noFill/>
          <a:ln/>
        </p:spPr>
        <p:txBody>
          <a:bodyPr wrap="square"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1. Raw Query Direct Dispatch: 
</a:t>
            </a:r>
            <a:pPr indent="0" marL="0">
              <a:buNone/>
            </a:pPr>
            <a:r>
              <a:rPr lang="en-US" sz="1000" dirty="0">
                <a:solidFill>
                  <a:srgbClr val="94A3B8"/>
                </a:solidFill>
                <a:latin typeface="Calibri" pitchFamily="34" charset="0"/>
                <a:ea typeface="Calibri" pitchFamily="34" charset="-122"/>
                <a:cs typeface="Calibri" pitchFamily="34" charset="-120"/>
              </a:rPr>
              <a:t>Factual, short, span, arithmetic, and one-liner questions are routed directly using the pristine Raw Query. No prompt-enhancer noise is injected.
</a:t>
            </a:r>
            <a:pPr indent="0" marL="0">
              <a:buNone/>
            </a:pPr>
            <a:r>
              <a:rPr lang="en-US" sz="1000" b="1" dirty="0">
                <a:solidFill>
                  <a:srgbClr val="F8FAFC"/>
                </a:solidFill>
                <a:latin typeface="Calibri" pitchFamily="34" charset="0"/>
                <a:ea typeface="Calibri" pitchFamily="34" charset="-122"/>
                <a:cs typeface="Calibri" pitchFamily="34" charset="-120"/>
              </a:rPr>
              <a:t>2. Automatic Directive Fallback: 
</a:t>
            </a:r>
            <a:pPr indent="0" marL="0">
              <a:buNone/>
            </a:pPr>
            <a:r>
              <a:rPr lang="en-US" sz="1000" dirty="0">
                <a:solidFill>
                  <a:srgbClr val="94A3B8"/>
                </a:solidFill>
                <a:latin typeface="Calibri" pitchFamily="34" charset="0"/>
                <a:ea typeface="Calibri" pitchFamily="34" charset="-122"/>
                <a:cs typeface="Calibri" pitchFamily="34" charset="-120"/>
              </a:rPr>
              <a:t>If the raw query yields an empty context or returns NOT_FOUND, the router automatically re-executes using the structured directive.
</a:t>
            </a:r>
            <a:pPr indent="0" marL="0">
              <a:buNone/>
            </a:pPr>
            <a:r>
              <a:rPr lang="en-US" sz="1000" b="1" dirty="0">
                <a:solidFill>
                  <a:srgbClr val="F8FAFC"/>
                </a:solidFill>
                <a:latin typeface="Calibri" pitchFamily="34" charset="0"/>
                <a:ea typeface="Calibri" pitchFamily="34" charset="-122"/>
                <a:cs typeface="Calibri" pitchFamily="34" charset="-120"/>
              </a:rPr>
              <a:t>3. Procedural Routing for Complex Questions: 
</a:t>
            </a:r>
            <a:pPr indent="0" marL="0">
              <a:buNone/>
            </a:pPr>
            <a:r>
              <a:rPr lang="en-US" sz="1000" dirty="0">
                <a:solidFill>
                  <a:srgbClr val="94A3B8"/>
                </a:solidFill>
                <a:latin typeface="Calibri" pitchFamily="34" charset="0"/>
                <a:ea typeface="Calibri" pitchFamily="34" charset="-122"/>
                <a:cs typeface="Calibri" pitchFamily="34" charset="-120"/>
              </a:rPr>
              <a:t>Multi-step analytical synthesis questions continue to leverage full procedural directives.</a:t>
            </a:r>
            <a:endParaRPr lang="en-US" sz="1000" dirty="0"/>
          </a:p>
        </p:txBody>
      </p:sp>
      <p:sp>
        <p:nvSpPr>
          <p:cNvPr id="11" name="Shape 9"/>
          <p:cNvSpPr/>
          <p:nvPr/>
        </p:nvSpPr>
        <p:spPr>
          <a:xfrm>
            <a:off x="731520" y="5257800"/>
            <a:ext cx="10698480" cy="1005840"/>
          </a:xfrm>
          <a:prstGeom prst="rect">
            <a:avLst/>
          </a:prstGeom>
          <a:solidFill>
            <a:srgbClr val="17140B"/>
          </a:solidFill>
          <a:ln w="15240">
            <a:solidFill>
              <a:srgbClr val="F59E0B"/>
            </a:solidFill>
            <a:prstDash val="solid"/>
          </a:ln>
        </p:spPr>
      </p:sp>
      <p:sp>
        <p:nvSpPr>
          <p:cNvPr id="12" name="Text 10"/>
          <p:cNvSpPr/>
          <p:nvPr/>
        </p:nvSpPr>
        <p:spPr>
          <a:xfrm>
            <a:off x="914400" y="53675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CONVERTING QUERY 4 FROM 0.00 FAILURE TO PERFECT 1.00 EXACT MATCH</a:t>
            </a:r>
            <a:endParaRPr lang="en-US" sz="1050" dirty="0"/>
          </a:p>
        </p:txBody>
      </p:sp>
      <p:sp>
        <p:nvSpPr>
          <p:cNvPr id="13" name="Text 11"/>
          <p:cNvSpPr/>
          <p:nvPr/>
        </p:nvSpPr>
        <p:spPr>
          <a:xfrm>
            <a:off x="914400" y="5623560"/>
            <a:ext cx="10332720" cy="5669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Bypassing query enhancer hallucinations via Raw Query First routing allowed the retriever to fetch the header logo directly, producing "CPA's + Trusted Advisors" with 100% precision. Validated in Case Study 3.</a:t>
            </a:r>
            <a:endParaRPr lang="en-US" sz="950" dirty="0"/>
          </a:p>
        </p:txBody>
      </p:sp>
      <p:sp>
        <p:nvSpPr>
          <p:cNvPr id="14" name="Text 12"/>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5" name="Text 13"/>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13 of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9</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Symbolic Financial Arithmetic Engine (Zero-Drift Math)</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77240"/>
          </a:xfrm>
          <a:prstGeom prst="rect">
            <a:avLst/>
          </a:prstGeom>
          <a:solidFill>
            <a:srgbClr val="0F2847"/>
          </a:solidFill>
          <a:ln w="15240">
            <a:solidFill>
              <a:srgbClr val="38BDF8"/>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050" b="1" spc="120" kern="0" dirty="0">
                <a:solidFill>
                  <a:srgbClr val="38BDF8"/>
                </a:solidFill>
                <a:latin typeface="Calibri" pitchFamily="34" charset="0"/>
                <a:ea typeface="Calibri" pitchFamily="34" charset="-122"/>
                <a:cs typeface="Calibri" pitchFamily="34" charset="-120"/>
              </a:rPr>
              <a:t>DETERMINISTIC PYTHON / SYMPY EXECUTION ENGINE FOR FINANCIAL 10-K FILINGS</a:t>
            </a:r>
            <a:endParaRPr lang="en-US" sz="1050" dirty="0"/>
          </a:p>
        </p:txBody>
      </p:sp>
      <p:sp>
        <p:nvSpPr>
          <p:cNvPr id="7" name="Text 5"/>
          <p:cNvSpPr/>
          <p:nvPr/>
        </p:nvSpPr>
        <p:spPr>
          <a:xfrm>
            <a:off x="914400" y="1572768"/>
            <a:ext cx="10332720" cy="384048"/>
          </a:xfrm>
          <a:prstGeom prst="rect">
            <a:avLst/>
          </a:prstGeom>
          <a:noFill/>
          <a:ln/>
        </p:spPr>
        <p:txBody>
          <a:bodyPr wrap="square" rtlCol="0" anchor="ctr"/>
          <a:lstStyle/>
          <a:p>
            <a:pPr indent="0" marL="0">
              <a:buNone/>
            </a:pPr>
            <a:r>
              <a:rPr lang="en-US" sz="950" dirty="0">
                <a:solidFill>
                  <a:srgbClr val="F8FAFC"/>
                </a:solidFill>
                <a:latin typeface="Calibri" pitchFamily="34" charset="0"/>
                <a:ea typeface="Calibri" pitchFamily="34" charset="-122"/>
                <a:cs typeface="Calibri" pitchFamily="34" charset="-120"/>
              </a:rPr>
              <a:t>SEC 10-K filings require exact calculations (YoY percentage change, basis-point spreads, weighted margin shifts). Generative LLMs frequently hallucinate multi-digit arithmetic. Our PALExecutor evaluates deterministic mathematical trees with zero drift.</a:t>
            </a:r>
            <a:endParaRPr lang="en-US" sz="950" dirty="0"/>
          </a:p>
        </p:txBody>
      </p:sp>
      <p:sp>
        <p:nvSpPr>
          <p:cNvPr id="8" name="Shape 6"/>
          <p:cNvSpPr/>
          <p:nvPr/>
        </p:nvSpPr>
        <p:spPr>
          <a:xfrm>
            <a:off x="731520" y="2148840"/>
            <a:ext cx="3474720" cy="2880360"/>
          </a:xfrm>
          <a:prstGeom prst="rect">
            <a:avLst/>
          </a:prstGeom>
          <a:solidFill>
            <a:srgbClr val="111827"/>
          </a:solidFill>
          <a:ln w="12700">
            <a:solidFill>
              <a:srgbClr val="1E293B"/>
            </a:solidFill>
            <a:prstDash val="solid"/>
          </a:ln>
        </p:spPr>
      </p:sp>
      <p:sp>
        <p:nvSpPr>
          <p:cNvPr id="9" name="Text 7"/>
          <p:cNvSpPr/>
          <p:nvPr/>
        </p:nvSpPr>
        <p:spPr>
          <a:xfrm>
            <a:off x="914400" y="2331720"/>
            <a:ext cx="3108960" cy="320040"/>
          </a:xfrm>
          <a:prstGeom prst="rect">
            <a:avLst/>
          </a:prstGeom>
          <a:noFill/>
          <a:ln/>
        </p:spPr>
        <p:txBody>
          <a:bodyPr wrap="square" rtlCol="0" anchor="ctr"/>
          <a:lstStyle/>
          <a:p>
            <a:pPr indent="0" marL="0">
              <a:buNone/>
            </a:pPr>
            <a:r>
              <a:rPr lang="en-US" sz="1150" b="1" dirty="0">
                <a:solidFill>
                  <a:srgbClr val="F8FAFC"/>
                </a:solidFill>
                <a:latin typeface="Calibri" pitchFamily="34" charset="0"/>
                <a:ea typeface="Calibri" pitchFamily="34" charset="-122"/>
                <a:cs typeface="Calibri" pitchFamily="34" charset="-120"/>
              </a:rPr>
              <a:t>Intent &amp; Variable Extraction</a:t>
            </a:r>
            <a:endParaRPr lang="en-US" sz="1150" dirty="0"/>
          </a:p>
        </p:txBody>
      </p:sp>
      <p:sp>
        <p:nvSpPr>
          <p:cNvPr id="10" name="Text 8"/>
          <p:cNvSpPr/>
          <p:nvPr/>
        </p:nvSpPr>
        <p:spPr>
          <a:xfrm>
            <a:off x="914400" y="2697480"/>
            <a:ext cx="3108960" cy="21945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Detects calculation triggers ("percentage change", "net margin variance").</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Extracts numbers directly from reconstructed Markdown table coordinates.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Converts financial bracket notation ($X,XXX) to negative floats.</a:t>
            </a:r>
            <a:endParaRPr lang="en-US" sz="950" dirty="0"/>
          </a:p>
        </p:txBody>
      </p:sp>
      <p:sp>
        <p:nvSpPr>
          <p:cNvPr id="11" name="Shape 9"/>
          <p:cNvSpPr/>
          <p:nvPr/>
        </p:nvSpPr>
        <p:spPr>
          <a:xfrm>
            <a:off x="4343400" y="2148840"/>
            <a:ext cx="3474720" cy="2880360"/>
          </a:xfrm>
          <a:prstGeom prst="rect">
            <a:avLst/>
          </a:prstGeom>
          <a:solidFill>
            <a:srgbClr val="111827"/>
          </a:solidFill>
          <a:ln w="12700">
            <a:solidFill>
              <a:srgbClr val="1E293B"/>
            </a:solidFill>
            <a:prstDash val="solid"/>
          </a:ln>
        </p:spPr>
      </p:sp>
      <p:sp>
        <p:nvSpPr>
          <p:cNvPr id="12" name="Text 10"/>
          <p:cNvSpPr/>
          <p:nvPr/>
        </p:nvSpPr>
        <p:spPr>
          <a:xfrm>
            <a:off x="4526280" y="2331720"/>
            <a:ext cx="3108960" cy="320040"/>
          </a:xfrm>
          <a:prstGeom prst="rect">
            <a:avLst/>
          </a:prstGeom>
          <a:noFill/>
          <a:ln/>
        </p:spPr>
        <p:txBody>
          <a:bodyPr wrap="square" rtlCol="0" anchor="ctr"/>
          <a:lstStyle/>
          <a:p>
            <a:pPr indent="0" marL="0">
              <a:buNone/>
            </a:pPr>
            <a:r>
              <a:rPr lang="en-US" sz="1150" b="1" dirty="0">
                <a:solidFill>
                  <a:srgbClr val="F8FAFC"/>
                </a:solidFill>
                <a:latin typeface="Calibri" pitchFamily="34" charset="0"/>
                <a:ea typeface="Calibri" pitchFamily="34" charset="-122"/>
                <a:cs typeface="Calibri" pitchFamily="34" charset="-120"/>
              </a:rPr>
              <a:t>Deterministic SymPy Tree</a:t>
            </a:r>
            <a:endParaRPr lang="en-US" sz="1150" dirty="0"/>
          </a:p>
        </p:txBody>
      </p:sp>
      <p:sp>
        <p:nvSpPr>
          <p:cNvPr id="13" name="Text 11"/>
          <p:cNvSpPr/>
          <p:nvPr/>
        </p:nvSpPr>
        <p:spPr>
          <a:xfrm>
            <a:off x="4526280" y="2697480"/>
            <a:ext cx="3108960" cy="21945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Evaluates equations via SymPy:</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Variance = ((V_2018 - V_2017) / V_2017) * 100%</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Eliminates tokenization rounding errors.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Enforces currency unit scaling and basis-point conversions.</a:t>
            </a:r>
            <a:endParaRPr lang="en-US" sz="950" dirty="0"/>
          </a:p>
        </p:txBody>
      </p:sp>
      <p:sp>
        <p:nvSpPr>
          <p:cNvPr id="14" name="Shape 12"/>
          <p:cNvSpPr/>
          <p:nvPr/>
        </p:nvSpPr>
        <p:spPr>
          <a:xfrm>
            <a:off x="7955280" y="2148840"/>
            <a:ext cx="3474720" cy="2880360"/>
          </a:xfrm>
          <a:prstGeom prst="rect">
            <a:avLst/>
          </a:prstGeom>
          <a:solidFill>
            <a:srgbClr val="111827"/>
          </a:solidFill>
          <a:ln w="12700">
            <a:solidFill>
              <a:srgbClr val="1E293B"/>
            </a:solidFill>
            <a:prstDash val="solid"/>
          </a:ln>
        </p:spPr>
      </p:sp>
      <p:sp>
        <p:nvSpPr>
          <p:cNvPr id="15" name="Text 13"/>
          <p:cNvSpPr/>
          <p:nvPr/>
        </p:nvSpPr>
        <p:spPr>
          <a:xfrm>
            <a:off x="8138160" y="2331720"/>
            <a:ext cx="3108960" cy="320040"/>
          </a:xfrm>
          <a:prstGeom prst="rect">
            <a:avLst/>
          </a:prstGeom>
          <a:noFill/>
          <a:ln/>
        </p:spPr>
        <p:txBody>
          <a:bodyPr wrap="square" rtlCol="0" anchor="ctr"/>
          <a:lstStyle/>
          <a:p>
            <a:pPr indent="0" marL="0">
              <a:buNone/>
            </a:pPr>
            <a:r>
              <a:rPr lang="en-US" sz="1150" b="1" dirty="0">
                <a:solidFill>
                  <a:srgbClr val="F8FAFC"/>
                </a:solidFill>
                <a:latin typeface="Calibri" pitchFamily="34" charset="0"/>
                <a:ea typeface="Calibri" pitchFamily="34" charset="-122"/>
                <a:cs typeface="Calibri" pitchFamily="34" charset="-120"/>
              </a:rPr>
              <a:t>0.8000 Numeric Exact Match</a:t>
            </a:r>
            <a:endParaRPr lang="en-US" sz="1150" dirty="0"/>
          </a:p>
        </p:txBody>
      </p:sp>
      <p:sp>
        <p:nvSpPr>
          <p:cNvPr id="16" name="Text 14"/>
          <p:cNvSpPr/>
          <p:nvPr/>
        </p:nvSpPr>
        <p:spPr>
          <a:xfrm>
            <a:off x="8138160" y="2697480"/>
            <a:ext cx="3108960" cy="21945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Delivers 0.8000 Numeric EM on the TAT-DQA benchmark.</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Validated against ground-truth answers without string-matching penalties.</a:t>
            </a: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 Produces 100% auditable computation logs.</a:t>
            </a:r>
            <a:endParaRPr lang="en-US" sz="950" dirty="0"/>
          </a:p>
        </p:txBody>
      </p:sp>
      <p:sp>
        <p:nvSpPr>
          <p:cNvPr id="17" name="Shape 15"/>
          <p:cNvSpPr/>
          <p:nvPr/>
        </p:nvSpPr>
        <p:spPr>
          <a:xfrm>
            <a:off x="731520" y="5212080"/>
            <a:ext cx="10698480" cy="1051560"/>
          </a:xfrm>
          <a:prstGeom prst="rect">
            <a:avLst/>
          </a:prstGeom>
          <a:solidFill>
            <a:srgbClr val="17140B"/>
          </a:solidFill>
          <a:ln w="15240">
            <a:solidFill>
              <a:srgbClr val="F59E0B"/>
            </a:solidFill>
            <a:prstDash val="solid"/>
          </a:ln>
        </p:spPr>
      </p:sp>
      <p:sp>
        <p:nvSpPr>
          <p:cNvPr id="18" name="Text 16"/>
          <p:cNvSpPr/>
          <p:nvPr/>
        </p:nvSpPr>
        <p:spPr>
          <a:xfrm>
            <a:off x="914400" y="532180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ZERO-DRIFT FINANCIAL CALCULATIONS</a:t>
            </a:r>
            <a:endParaRPr lang="en-US" sz="1050" dirty="0"/>
          </a:p>
        </p:txBody>
      </p:sp>
      <p:sp>
        <p:nvSpPr>
          <p:cNvPr id="19" name="Text 17"/>
          <p:cNvSpPr/>
          <p:nvPr/>
        </p:nvSpPr>
        <p:spPr>
          <a:xfrm>
            <a:off x="914400" y="5577840"/>
            <a:ext cx="10332720" cy="61264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Financial analysts cannot accept probabilistic arithmetic. By decoupling numerical calculation from text generation and routing formulas to a deterministic Python engine, our pipeline achieves 0.8000 Numeric Exact Match on TAT-DQA.</a:t>
            </a:r>
            <a:endParaRPr lang="en-US" sz="950" dirty="0"/>
          </a:p>
        </p:txBody>
      </p:sp>
      <p:sp>
        <p:nvSpPr>
          <p:cNvPr id="20" name="Text 18"/>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21" name="Text 19"/>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14 of 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III: COMPONENT DEEP-DIVES &amp; BENCHMARKS · COMPONENT 10</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Multi-Pass Reader LLM &amp; Answer Synthesis Pipeline</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Synthesizing Retrieved Context Chunks into Grounded, Verifiable Natural Language Answers</a:t>
            </a:r>
            <a:endParaRPr lang="en-US" sz="1050" dirty="0"/>
          </a:p>
        </p:txBody>
      </p:sp>
      <p:sp>
        <p:nvSpPr>
          <p:cNvPr id="6" name="Shape 4"/>
          <p:cNvSpPr/>
          <p:nvPr/>
        </p:nvSpPr>
        <p:spPr>
          <a:xfrm>
            <a:off x="731520" y="1600200"/>
            <a:ext cx="5257800" cy="1600200"/>
          </a:xfrm>
          <a:prstGeom prst="rect">
            <a:avLst/>
          </a:prstGeom>
          <a:solidFill>
            <a:srgbClr val="111827"/>
          </a:solidFill>
          <a:ln w="12700">
            <a:solidFill>
              <a:srgbClr val="1E293B"/>
            </a:solidFill>
            <a:prstDash val="solid"/>
          </a:ln>
        </p:spPr>
      </p:sp>
      <p:sp>
        <p:nvSpPr>
          <p:cNvPr id="7" name="Shape 5"/>
          <p:cNvSpPr/>
          <p:nvPr/>
        </p:nvSpPr>
        <p:spPr>
          <a:xfrm>
            <a:off x="914400" y="1783080"/>
            <a:ext cx="502920" cy="502920"/>
          </a:xfrm>
          <a:prstGeom prst="rect">
            <a:avLst/>
          </a:prstGeom>
          <a:solidFill>
            <a:srgbClr val="2563EB"/>
          </a:solidFill>
          <a:ln w="12700">
            <a:solidFill>
              <a:srgbClr val="2563EB"/>
            </a:solidFill>
            <a:prstDash val="solid"/>
          </a:ln>
        </p:spPr>
      </p:sp>
      <p:sp>
        <p:nvSpPr>
          <p:cNvPr id="8" name="Text 6"/>
          <p:cNvSpPr/>
          <p:nvPr/>
        </p:nvSpPr>
        <p:spPr>
          <a:xfrm>
            <a:off x="914400" y="1783080"/>
            <a:ext cx="502920" cy="50292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554480" y="1764792"/>
            <a:ext cx="420624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Negative Constraint Enforcement</a:t>
            </a:r>
            <a:endParaRPr lang="en-US" sz="1100" dirty="0"/>
          </a:p>
        </p:txBody>
      </p:sp>
      <p:sp>
        <p:nvSpPr>
          <p:cNvPr id="10" name="Text 8"/>
          <p:cNvSpPr/>
          <p:nvPr/>
        </p:nvSpPr>
        <p:spPr>
          <a:xfrm>
            <a:off x="1554480" y="2039112"/>
            <a:ext cx="4206240" cy="10515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Strict instruction to emit NOT_FOUND / refuse speculation if target evidence is absent from retrieved context. Tested and proven in Distractor Case Study 5 (Shree Steel Wire Ropes).</a:t>
            </a:r>
            <a:endParaRPr lang="en-US" sz="950" dirty="0"/>
          </a:p>
        </p:txBody>
      </p:sp>
      <p:sp>
        <p:nvSpPr>
          <p:cNvPr id="11" name="Shape 9"/>
          <p:cNvSpPr/>
          <p:nvPr/>
        </p:nvSpPr>
        <p:spPr>
          <a:xfrm>
            <a:off x="6172200" y="1600200"/>
            <a:ext cx="5257800" cy="1600200"/>
          </a:xfrm>
          <a:prstGeom prst="rect">
            <a:avLst/>
          </a:prstGeom>
          <a:solidFill>
            <a:srgbClr val="111827"/>
          </a:solidFill>
          <a:ln w="12700">
            <a:solidFill>
              <a:srgbClr val="1E293B"/>
            </a:solidFill>
            <a:prstDash val="solid"/>
          </a:ln>
        </p:spPr>
      </p:sp>
      <p:sp>
        <p:nvSpPr>
          <p:cNvPr id="12" name="Shape 10"/>
          <p:cNvSpPr/>
          <p:nvPr/>
        </p:nvSpPr>
        <p:spPr>
          <a:xfrm>
            <a:off x="6355080" y="1783080"/>
            <a:ext cx="502920" cy="502920"/>
          </a:xfrm>
          <a:prstGeom prst="rect">
            <a:avLst/>
          </a:prstGeom>
          <a:solidFill>
            <a:srgbClr val="2563EB"/>
          </a:solidFill>
          <a:ln w="12700">
            <a:solidFill>
              <a:srgbClr val="2563EB"/>
            </a:solidFill>
            <a:prstDash val="solid"/>
          </a:ln>
        </p:spPr>
      </p:sp>
      <p:sp>
        <p:nvSpPr>
          <p:cNvPr id="13" name="Text 11"/>
          <p:cNvSpPr/>
          <p:nvPr/>
        </p:nvSpPr>
        <p:spPr>
          <a:xfrm>
            <a:off x="6355080" y="1783080"/>
            <a:ext cx="502920" cy="50292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6995160" y="1764792"/>
            <a:ext cx="420624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Spatial Coordinate Citation Tagging</a:t>
            </a:r>
            <a:endParaRPr lang="en-US" sz="1100" dirty="0"/>
          </a:p>
        </p:txBody>
      </p:sp>
      <p:sp>
        <p:nvSpPr>
          <p:cNvPr id="15" name="Text 13"/>
          <p:cNvSpPr/>
          <p:nvPr/>
        </p:nvSpPr>
        <p:spPr>
          <a:xfrm>
            <a:off x="6995160" y="2039112"/>
            <a:ext cx="4206240" cy="10515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Every extracted statement cites its supporting chunk ID, page number, and spatial bounding box [x0, y0, x1, y1], allowing 1-click verification in Obsidian Precision.</a:t>
            </a:r>
            <a:endParaRPr lang="en-US" sz="950" dirty="0"/>
          </a:p>
        </p:txBody>
      </p:sp>
      <p:sp>
        <p:nvSpPr>
          <p:cNvPr id="16" name="Shape 14"/>
          <p:cNvSpPr/>
          <p:nvPr/>
        </p:nvSpPr>
        <p:spPr>
          <a:xfrm>
            <a:off x="731520" y="3337560"/>
            <a:ext cx="5257800" cy="1600200"/>
          </a:xfrm>
          <a:prstGeom prst="rect">
            <a:avLst/>
          </a:prstGeom>
          <a:solidFill>
            <a:srgbClr val="111827"/>
          </a:solidFill>
          <a:ln w="12700">
            <a:solidFill>
              <a:srgbClr val="1E293B"/>
            </a:solidFill>
            <a:prstDash val="solid"/>
          </a:ln>
        </p:spPr>
      </p:sp>
      <p:sp>
        <p:nvSpPr>
          <p:cNvPr id="17" name="Shape 15"/>
          <p:cNvSpPr/>
          <p:nvPr/>
        </p:nvSpPr>
        <p:spPr>
          <a:xfrm>
            <a:off x="914400" y="3520440"/>
            <a:ext cx="502920" cy="502920"/>
          </a:xfrm>
          <a:prstGeom prst="rect">
            <a:avLst/>
          </a:prstGeom>
          <a:solidFill>
            <a:srgbClr val="2563EB"/>
          </a:solidFill>
          <a:ln w="12700">
            <a:solidFill>
              <a:srgbClr val="2563EB"/>
            </a:solidFill>
            <a:prstDash val="solid"/>
          </a:ln>
        </p:spPr>
      </p:sp>
      <p:sp>
        <p:nvSpPr>
          <p:cNvPr id="18" name="Text 16"/>
          <p:cNvSpPr/>
          <p:nvPr/>
        </p:nvSpPr>
        <p:spPr>
          <a:xfrm>
            <a:off x="914400" y="3520440"/>
            <a:ext cx="502920" cy="50292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554480" y="3502152"/>
            <a:ext cx="420624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Multi-Span Dispersed Aggregation</a:t>
            </a:r>
            <a:endParaRPr lang="en-US" sz="1100" dirty="0"/>
          </a:p>
        </p:txBody>
      </p:sp>
      <p:sp>
        <p:nvSpPr>
          <p:cNvPr id="20" name="Text 18"/>
          <p:cNvSpPr/>
          <p:nvPr/>
        </p:nvSpPr>
        <p:spPr>
          <a:xfrm>
            <a:off x="1554480" y="3776472"/>
            <a:ext cx="4206240" cy="10515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Seamlessly aggregates facts distributed across multi-page financial filings (e.g. pulling 2009 rates from Table 1 and 2010 rates from an adjacent footnote).</a:t>
            </a:r>
            <a:endParaRPr lang="en-US" sz="950" dirty="0"/>
          </a:p>
        </p:txBody>
      </p:sp>
      <p:sp>
        <p:nvSpPr>
          <p:cNvPr id="21" name="Shape 19"/>
          <p:cNvSpPr/>
          <p:nvPr/>
        </p:nvSpPr>
        <p:spPr>
          <a:xfrm>
            <a:off x="6172200" y="3337560"/>
            <a:ext cx="5257800" cy="1600200"/>
          </a:xfrm>
          <a:prstGeom prst="rect">
            <a:avLst/>
          </a:prstGeom>
          <a:solidFill>
            <a:srgbClr val="111827"/>
          </a:solidFill>
          <a:ln w="12700">
            <a:solidFill>
              <a:srgbClr val="1E293B"/>
            </a:solidFill>
            <a:prstDash val="solid"/>
          </a:ln>
        </p:spPr>
      </p:sp>
      <p:sp>
        <p:nvSpPr>
          <p:cNvPr id="22" name="Shape 20"/>
          <p:cNvSpPr/>
          <p:nvPr/>
        </p:nvSpPr>
        <p:spPr>
          <a:xfrm>
            <a:off x="6355080" y="3520440"/>
            <a:ext cx="502920" cy="502920"/>
          </a:xfrm>
          <a:prstGeom prst="rect">
            <a:avLst/>
          </a:prstGeom>
          <a:solidFill>
            <a:srgbClr val="2563EB"/>
          </a:solidFill>
          <a:ln w="12700">
            <a:solidFill>
              <a:srgbClr val="2563EB"/>
            </a:solidFill>
            <a:prstDash val="solid"/>
          </a:ln>
        </p:spPr>
      </p:sp>
      <p:sp>
        <p:nvSpPr>
          <p:cNvPr id="23" name="Text 21"/>
          <p:cNvSpPr/>
          <p:nvPr/>
        </p:nvSpPr>
        <p:spPr>
          <a:xfrm>
            <a:off x="6355080" y="3520440"/>
            <a:ext cx="502920" cy="502920"/>
          </a:xfrm>
          <a:prstGeom prst="rect">
            <a:avLst/>
          </a:prstGeom>
          <a:noFill/>
          <a:ln/>
        </p:spPr>
        <p:txBody>
          <a:bodyPr wrap="square" rtlCol="0" anchor="ctr"/>
          <a:lstStyle/>
          <a:p>
            <a:pPr algn="ctr" indent="0" marL="0">
              <a:buNone/>
            </a:pPr>
            <a:r>
              <a:rPr lang="en-US" sz="1200" b="1" dirty="0">
                <a:solidFill>
                  <a:srgbClr val="F8FAFC"/>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6995160" y="3502152"/>
            <a:ext cx="4206240" cy="228600"/>
          </a:xfrm>
          <a:prstGeom prst="rect">
            <a:avLst/>
          </a:prstGeom>
          <a:noFill/>
          <a:ln/>
        </p:spPr>
        <p:txBody>
          <a:bodyPr wrap="square"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Sub-Second Cloud Inference via Groq</a:t>
            </a:r>
            <a:endParaRPr lang="en-US" sz="1100" dirty="0"/>
          </a:p>
        </p:txBody>
      </p:sp>
      <p:sp>
        <p:nvSpPr>
          <p:cNvPr id="25" name="Text 23"/>
          <p:cNvSpPr/>
          <p:nvPr/>
        </p:nvSpPr>
        <p:spPr>
          <a:xfrm>
            <a:off x="6995160" y="3776472"/>
            <a:ext cx="4206240" cy="105156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Powered by Qwen3-27B running on Groq LPU hardware for sub-second generation, paired with Google Gemini 3.6 Flash for complex visual reasoning.</a:t>
            </a:r>
            <a:endParaRPr lang="en-US" sz="950" dirty="0"/>
          </a:p>
        </p:txBody>
      </p:sp>
      <p:sp>
        <p:nvSpPr>
          <p:cNvPr id="26" name="Shape 24"/>
          <p:cNvSpPr/>
          <p:nvPr/>
        </p:nvSpPr>
        <p:spPr>
          <a:xfrm>
            <a:off x="731520" y="5257800"/>
            <a:ext cx="10698480" cy="1005840"/>
          </a:xfrm>
          <a:prstGeom prst="rect">
            <a:avLst/>
          </a:prstGeom>
          <a:solidFill>
            <a:srgbClr val="17140B"/>
          </a:solidFill>
          <a:ln w="15240">
            <a:solidFill>
              <a:srgbClr val="F59E0B"/>
            </a:solidFill>
            <a:prstDash val="solid"/>
          </a:ln>
        </p:spPr>
      </p:sp>
      <p:sp>
        <p:nvSpPr>
          <p:cNvPr id="27" name="Text 25"/>
          <p:cNvSpPr/>
          <p:nvPr/>
        </p:nvSpPr>
        <p:spPr>
          <a:xfrm>
            <a:off x="914400" y="53675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FLAGSHIP INNOVATION: MANDATORY SOURCE ATTRIBUTION &amp; REFUSAL SAFETY</a:t>
            </a:r>
            <a:endParaRPr lang="en-US" sz="1050" dirty="0"/>
          </a:p>
        </p:txBody>
      </p:sp>
      <p:sp>
        <p:nvSpPr>
          <p:cNvPr id="28" name="Text 26"/>
          <p:cNvSpPr/>
          <p:nvPr/>
        </p:nvSpPr>
        <p:spPr>
          <a:xfrm>
            <a:off x="914400" y="5623560"/>
            <a:ext cx="10332720" cy="5669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The reader is prohibited from generating conversational filler without explicit evidence citations. If information does not exist on the page canvas, the engine halts rather than fabricating plausible answers.</a:t>
            </a:r>
            <a:endParaRPr lang="en-US" sz="950" dirty="0"/>
          </a:p>
        </p:txBody>
      </p:sp>
      <p:sp>
        <p:nvSpPr>
          <p:cNvPr id="29" name="Text 27"/>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30" name="Text 28"/>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15 of 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IV: FINAL PRODUCTION BENCHMARKS · EVALUATION PARADIGM</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Continuous LLM-as-a-Judge Evaluation Paradigm</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5212080" cy="3474720"/>
          </a:xfrm>
          <a:prstGeom prst="rect">
            <a:avLst/>
          </a:prstGeom>
          <a:solidFill>
            <a:srgbClr val="111827"/>
          </a:solidFill>
          <a:ln w="12700">
            <a:solidFill>
              <a:srgbClr val="1E293B"/>
            </a:solidFill>
            <a:prstDash val="solid"/>
          </a:ln>
        </p:spPr>
      </p:sp>
      <p:sp>
        <p:nvSpPr>
          <p:cNvPr id="6" name="Text 4"/>
          <p:cNvSpPr/>
          <p:nvPr/>
        </p:nvSpPr>
        <p:spPr>
          <a:xfrm>
            <a:off x="914400" y="1417320"/>
            <a:ext cx="4846320" cy="228600"/>
          </a:xfrm>
          <a:prstGeom prst="rect">
            <a:avLst/>
          </a:prstGeom>
          <a:noFill/>
          <a:ln/>
        </p:spPr>
        <p:txBody>
          <a:bodyPr wrap="square" rtlCol="0" anchor="ctr"/>
          <a:lstStyle/>
          <a:p>
            <a:pPr indent="0" marL="0">
              <a:buNone/>
            </a:pPr>
            <a:r>
              <a:rPr lang="en-US" sz="1100" b="1" spc="100" kern="0" dirty="0">
                <a:solidFill>
                  <a:srgbClr val="EF4444"/>
                </a:solidFill>
                <a:latin typeface="Calibri" pitchFamily="34" charset="0"/>
                <a:ea typeface="Calibri" pitchFamily="34" charset="-122"/>
                <a:cs typeface="Calibri" pitchFamily="34" charset="-120"/>
              </a:rPr>
              <a:t>WHY LEGACY STRING EXACT MATCH IS OBSOLETE</a:t>
            </a:r>
            <a:endParaRPr lang="en-US" sz="1100" dirty="0"/>
          </a:p>
        </p:txBody>
      </p:sp>
      <p:sp>
        <p:nvSpPr>
          <p:cNvPr id="7" name="Text 5"/>
          <p:cNvSpPr/>
          <p:nvPr/>
        </p:nvSpPr>
        <p:spPr>
          <a:xfrm>
            <a:off x="914400" y="1737360"/>
            <a:ext cx="4846320" cy="283464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 The String-Matching Penalty: 
</a:t>
            </a:r>
            <a:pPr indent="0" marL="0">
              <a:buNone/>
            </a:pPr>
            <a:r>
              <a:rPr lang="en-US" sz="950" dirty="0">
                <a:solidFill>
                  <a:srgbClr val="94A3B8"/>
                </a:solidFill>
                <a:latin typeface="Calibri" pitchFamily="34" charset="0"/>
                <a:ea typeface="Calibri" pitchFamily="34" charset="-122"/>
                <a:cs typeface="Calibri" pitchFamily="34" charset="-120"/>
              </a:rPr>
              <a:t>Legacy Exact Match (EM) penalizes any answer that contains conversational framing.
</a:t>
            </a:r>
            <a:pPr indent="0" marL="0">
              <a:buNone/>
            </a:pPr>
            <a:r>
              <a:rPr lang="en-US" sz="950" b="1" dirty="0">
                <a:solidFill>
                  <a:srgbClr val="F8FAFC"/>
                </a:solidFill>
                <a:latin typeface="Calibri" pitchFamily="34" charset="0"/>
                <a:ea typeface="Calibri" pitchFamily="34" charset="-122"/>
                <a:cs typeface="Calibri" pitchFamily="34" charset="-120"/>
              </a:rPr>
              <a:t>• Real Benchmark Example: 
</a:t>
            </a:r>
            <a:pPr indent="0" marL="0">
              <a:buNone/>
            </a:pPr>
            <a:r>
              <a:rPr lang="en-US" sz="950" dirty="0">
                <a:solidFill>
                  <a:srgbClr val="94A3B8"/>
                </a:solidFill>
                <a:latin typeface="Calibri" pitchFamily="34" charset="0"/>
                <a:ea typeface="Calibri" pitchFamily="34" charset="-122"/>
                <a:cs typeface="Calibri" pitchFamily="34" charset="-120"/>
              </a:rPr>
              <a:t>Ground Truth: "55%, 50%"
Pipeline: "In 2017, the cost of revenue was 55%, and in 2018 it was 50%."
</a:t>
            </a:r>
            <a:pPr indent="0" marL="0">
              <a:buNone/>
            </a:pPr>
            <a:r>
              <a:rPr lang="en-US" sz="950" b="1" dirty="0">
                <a:solidFill>
                  <a:srgbClr val="EF4444"/>
                </a:solidFill>
                <a:latin typeface="Calibri" pitchFamily="34" charset="0"/>
                <a:ea typeface="Calibri" pitchFamily="34" charset="-122"/>
                <a:cs typeface="Calibri" pitchFamily="34" charset="-120"/>
              </a:rPr>
              <a:t>• Legacy String Score: 0.00 / 1.00
</a:t>
            </a:r>
            <a:pPr indent="0" marL="0">
              <a:buNone/>
            </a:pPr>
            <a:r>
              <a:rPr lang="en-US" sz="950" dirty="0">
                <a:solidFill>
                  <a:srgbClr val="94A3B8"/>
                </a:solidFill>
                <a:latin typeface="Calibri" pitchFamily="34" charset="0"/>
                <a:ea typeface="Calibri" pitchFamily="34" charset="-122"/>
                <a:cs typeface="Calibri" pitchFamily="34" charset="-120"/>
              </a:rPr>
              <a:t>Despite delivering a 100% accurate, complete answer, legacy EM awards zero credit.
</a:t>
            </a:r>
            <a:pPr indent="0" marL="0">
              <a:buNone/>
            </a:pPr>
            <a:r>
              <a:rPr lang="en-US" sz="950" b="1" dirty="0">
                <a:solidFill>
                  <a:srgbClr val="EF4444"/>
                </a:solidFill>
                <a:latin typeface="Calibri" pitchFamily="34" charset="0"/>
                <a:ea typeface="Calibri" pitchFamily="34" charset="-122"/>
                <a:cs typeface="Calibri" pitchFamily="34" charset="-120"/>
              </a:rPr>
              <a:t>• Metric Distortion: 
</a:t>
            </a:r>
            <a:pPr indent="0" marL="0">
              <a:buNone/>
            </a:pPr>
            <a:r>
              <a:rPr lang="en-US" sz="950" dirty="0">
                <a:solidFill>
                  <a:srgbClr val="94A3B8"/>
                </a:solidFill>
                <a:latin typeface="Calibri" pitchFamily="34" charset="0"/>
                <a:ea typeface="Calibri" pitchFamily="34" charset="-122"/>
                <a:cs typeface="Calibri" pitchFamily="34" charset="-120"/>
              </a:rPr>
              <a:t>Historical zero-shot runs scored 0.04 EM purely due to phrasing discrepancies.</a:t>
            </a:r>
            <a:endParaRPr lang="en-US" sz="950" dirty="0"/>
          </a:p>
        </p:txBody>
      </p:sp>
      <p:sp>
        <p:nvSpPr>
          <p:cNvPr id="8" name="Shape 6"/>
          <p:cNvSpPr/>
          <p:nvPr/>
        </p:nvSpPr>
        <p:spPr>
          <a:xfrm>
            <a:off x="6217920" y="1234440"/>
            <a:ext cx="5212080" cy="3474720"/>
          </a:xfrm>
          <a:prstGeom prst="rect">
            <a:avLst/>
          </a:prstGeom>
          <a:solidFill>
            <a:srgbClr val="162032"/>
          </a:solidFill>
          <a:ln w="12700">
            <a:solidFill>
              <a:srgbClr val="1E293B"/>
            </a:solidFill>
            <a:prstDash val="solid"/>
          </a:ln>
        </p:spPr>
      </p:sp>
      <p:sp>
        <p:nvSpPr>
          <p:cNvPr id="9" name="Text 7"/>
          <p:cNvSpPr/>
          <p:nvPr/>
        </p:nvSpPr>
        <p:spPr>
          <a:xfrm>
            <a:off x="6400800" y="1417320"/>
            <a:ext cx="4846320" cy="228600"/>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MODERN CONTINUOUS JUDGE EVALUATION RULES</a:t>
            </a:r>
            <a:endParaRPr lang="en-US" sz="1100" dirty="0"/>
          </a:p>
        </p:txBody>
      </p:sp>
      <p:sp>
        <p:nvSpPr>
          <p:cNvPr id="10" name="Text 8"/>
          <p:cNvSpPr/>
          <p:nvPr/>
        </p:nvSpPr>
        <p:spPr>
          <a:xfrm>
            <a:off x="6400800" y="1737360"/>
            <a:ext cx="4846320" cy="283464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1. Containment Bonus (Award 1.00 / 100%): 
</a:t>
            </a:r>
            <a:pPr indent="0" marL="0">
              <a:buNone/>
            </a:pPr>
            <a:r>
              <a:rPr lang="en-US" sz="950" dirty="0">
                <a:solidFill>
                  <a:srgbClr val="94A3B8"/>
                </a:solidFill>
                <a:latin typeface="Calibri" pitchFamily="34" charset="0"/>
                <a:ea typeface="Calibri" pitchFamily="34" charset="-122"/>
                <a:cs typeface="Calibri" pitchFamily="34" charset="-120"/>
              </a:rPr>
              <a:t>When all ground-truth facts are present alongside full explanatory phrasing, full marks are awarded.
</a:t>
            </a:r>
            <a:pPr indent="0" marL="0">
              <a:buNone/>
            </a:pPr>
            <a:r>
              <a:rPr lang="en-US" sz="950" b="1" dirty="0">
                <a:solidFill>
                  <a:srgbClr val="F8FAFC"/>
                </a:solidFill>
                <a:latin typeface="Calibri" pitchFamily="34" charset="0"/>
                <a:ea typeface="Calibri" pitchFamily="34" charset="-122"/>
                <a:cs typeface="Calibri" pitchFamily="34" charset="-120"/>
              </a:rPr>
              <a:t>2. Substantial Correctness (Award 0.80–0.90): 
</a:t>
            </a:r>
            <a:pPr indent="0" marL="0">
              <a:buNone/>
            </a:pPr>
            <a:r>
              <a:rPr lang="en-US" sz="950" dirty="0">
                <a:solidFill>
                  <a:srgbClr val="94A3B8"/>
                </a:solidFill>
                <a:latin typeface="Calibri" pitchFamily="34" charset="0"/>
                <a:ea typeface="Calibri" pitchFamily="34" charset="-122"/>
                <a:cs typeface="Calibri" pitchFamily="34" charset="-120"/>
              </a:rPr>
              <a:t>Capturing the core trajectory, baseline values, and turning points of macroeconomic charts receives high credit without requiring verbatim wording.
</a:t>
            </a:r>
            <a:pPr indent="0" marL="0">
              <a:buNone/>
            </a:pPr>
            <a:r>
              <a:rPr lang="en-US" sz="950" b="1" dirty="0">
                <a:solidFill>
                  <a:srgbClr val="F8FAFC"/>
                </a:solidFill>
                <a:latin typeface="Calibri" pitchFamily="34" charset="0"/>
                <a:ea typeface="Calibri" pitchFamily="34" charset="-122"/>
                <a:cs typeface="Calibri" pitchFamily="34" charset="-120"/>
              </a:rPr>
              <a:t>3. Elimination of 0.25 Cliff Drops: 
</a:t>
            </a:r>
            <a:pPr indent="0" marL="0">
              <a:buNone/>
            </a:pPr>
            <a:r>
              <a:rPr lang="en-US" sz="950" dirty="0">
                <a:solidFill>
                  <a:srgbClr val="94A3B8"/>
                </a:solidFill>
                <a:latin typeface="Calibri" pitchFamily="34" charset="0"/>
                <a:ea typeface="Calibri" pitchFamily="34" charset="-122"/>
                <a:cs typeface="Calibri" pitchFamily="34" charset="-120"/>
              </a:rPr>
              <a:t>Grading is evaluated on a continuous 0.00 to 1.00 spectrum.
</a:t>
            </a:r>
            <a:pPr indent="0" marL="0">
              <a:buNone/>
            </a:pPr>
            <a:r>
              <a:rPr lang="en-US" sz="950" b="1" dirty="0">
                <a:solidFill>
                  <a:srgbClr val="F8FAFC"/>
                </a:solidFill>
                <a:latin typeface="Calibri" pitchFamily="34" charset="0"/>
                <a:ea typeface="Calibri" pitchFamily="34" charset="-122"/>
                <a:cs typeface="Calibri" pitchFamily="34" charset="-120"/>
              </a:rPr>
              <a:t>4. Auditable Reasoning Logs: 
</a:t>
            </a:r>
            <a:pPr indent="0" marL="0">
              <a:buNone/>
            </a:pPr>
            <a:r>
              <a:rPr lang="en-US" sz="950" dirty="0">
                <a:solidFill>
                  <a:srgbClr val="94A3B8"/>
                </a:solidFill>
                <a:latin typeface="Calibri" pitchFamily="34" charset="0"/>
                <a:ea typeface="Calibri" pitchFamily="34" charset="-122"/>
                <a:cs typeface="Calibri" pitchFamily="34" charset="-120"/>
              </a:rPr>
              <a:t>Every judgment records detailed natural language reasoning.</a:t>
            </a:r>
            <a:endParaRPr lang="en-US" sz="950" dirty="0"/>
          </a:p>
        </p:txBody>
      </p:sp>
      <p:sp>
        <p:nvSpPr>
          <p:cNvPr id="11" name="Shape 9"/>
          <p:cNvSpPr/>
          <p:nvPr/>
        </p:nvSpPr>
        <p:spPr>
          <a:xfrm>
            <a:off x="731520" y="4846320"/>
            <a:ext cx="10698480" cy="1417320"/>
          </a:xfrm>
          <a:prstGeom prst="rect">
            <a:avLst/>
          </a:prstGeom>
          <a:solidFill>
            <a:srgbClr val="0F2847"/>
          </a:solidFill>
          <a:ln w="15240">
            <a:solidFill>
              <a:srgbClr val="38BDF8"/>
            </a:solidFill>
            <a:prstDash val="solid"/>
          </a:ln>
        </p:spPr>
      </p:sp>
      <p:sp>
        <p:nvSpPr>
          <p:cNvPr id="12" name="Text 10"/>
          <p:cNvSpPr/>
          <p:nvPr/>
        </p:nvSpPr>
        <p:spPr>
          <a:xfrm>
            <a:off x="914400" y="4956048"/>
            <a:ext cx="10332720" cy="228600"/>
          </a:xfrm>
          <a:prstGeom prst="rect">
            <a:avLst/>
          </a:prstGeom>
          <a:noFill/>
          <a:ln/>
        </p:spPr>
        <p:txBody>
          <a:bodyPr wrap="square" rtlCol="0" anchor="ctr"/>
          <a:lstStyle/>
          <a:p>
            <a:pPr indent="0" marL="0">
              <a:buNone/>
            </a:pPr>
            <a:r>
              <a:rPr lang="en-US" sz="1050" b="1" spc="120" kern="0" dirty="0">
                <a:solidFill>
                  <a:srgbClr val="38BDF8"/>
                </a:solidFill>
                <a:latin typeface="Calibri" pitchFamily="34" charset="0"/>
                <a:ea typeface="Calibri" pitchFamily="34" charset="-122"/>
                <a:cs typeface="Calibri" pitchFamily="34" charset="-120"/>
              </a:rPr>
              <a:t>OFFICIAL COMPOSITE HEADLINE SCORE FORMULA</a:t>
            </a:r>
            <a:endParaRPr lang="en-US" sz="1050" dirty="0"/>
          </a:p>
        </p:txBody>
      </p:sp>
      <p:sp>
        <p:nvSpPr>
          <p:cNvPr id="13" name="Text 11"/>
          <p:cNvSpPr/>
          <p:nvPr/>
        </p:nvSpPr>
        <p:spPr>
          <a:xfrm>
            <a:off x="914400" y="5230368"/>
            <a:ext cx="10332720" cy="320040"/>
          </a:xfrm>
          <a:prstGeom prst="rect">
            <a:avLst/>
          </a:prstGeom>
          <a:noFill/>
          <a:ln/>
        </p:spPr>
        <p:txBody>
          <a:bodyPr wrap="square"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Headline Score = 0.40 × LLM Judge + 0.25 × Containment + 0.25 × Numeric EM + 0.10 × Token F1</a:t>
            </a:r>
            <a:endParaRPr lang="en-US" sz="1200" dirty="0"/>
          </a:p>
        </p:txBody>
      </p:sp>
      <p:sp>
        <p:nvSpPr>
          <p:cNvPr id="14" name="Text 12"/>
          <p:cNvSpPr/>
          <p:nvPr/>
        </p:nvSpPr>
        <p:spPr>
          <a:xfrm>
            <a:off x="914400" y="5577840"/>
            <a:ext cx="10332720" cy="5486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Balances semantic factual accuracy (40%), substring containment (25%), mathematical calculation precision (25%), and token-level lexical overlap (10%) into a single verified metric.</a:t>
            </a:r>
            <a:endParaRPr lang="en-US" sz="950" dirty="0"/>
          </a:p>
        </p:txBody>
      </p:sp>
      <p:sp>
        <p:nvSpPr>
          <p:cNvPr id="15" name="Text 13"/>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6" name="Text 14"/>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16 of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IV: FINAL PRODUCTION BENCHMARKS · MASTER SCORECARD</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Production Tri-Benchmark Master Scorecard (TAT-DQA &amp; UniDoc)</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Evaluated across 1,644 TAT-DQA financial queries and 664 UniDoc multimodal queries:</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1645920"/>
                <a:gridCol w="1920240"/>
                <a:gridCol w="1828800"/>
                <a:gridCol w="1920240"/>
                <a:gridCol w="3383280"/>
              </a:tblGrid>
              <a:tr h="0">
                <a:tc>
                  <a:txBody>
                    <a:bodyPr/>
                    <a:lstStyle/>
                    <a:p>
                      <a:pPr indent="0" marL="0">
                        <a:buNone/>
                      </a:pPr>
                      <a:r>
                        <a:rPr lang="en-US" sz="900" b="1" dirty="0">
                          <a:solidFill>
                            <a:srgbClr val="F8FAFC"/>
                          </a:solidFill>
                        </a:rPr>
                        <a:t>Benchmark Suite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indent="0" marL="0">
                        <a:buNone/>
                      </a:pPr>
                      <a:r>
                        <a:rPr lang="en-US" sz="900" b="1" dirty="0">
                          <a:solidFill>
                            <a:srgbClr val="F8FAFC"/>
                          </a:solidFill>
                        </a:rPr>
                        <a:t>Metric</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00" b="1" dirty="0">
                          <a:solidFill>
                            <a:srgbClr val="F8FAFC"/>
                          </a:solidFill>
                        </a:rPr>
                        <a:t>TAT-DQA (Financial)</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00" b="1" dirty="0">
                          <a:solidFill>
                            <a:srgbClr val="F8FAFC"/>
                          </a:solidFill>
                        </a:rPr>
                        <a:t>UniDoc-Bench (Multimodal)</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indent="0" marL="0">
                        <a:buNone/>
                      </a:pPr>
                      <a:r>
                        <a:rPr lang="en-US" sz="900" b="1" dirty="0">
                          <a:solidFill>
                            <a:srgbClr val="F8FAFC"/>
                          </a:solidFill>
                        </a:rPr>
                        <a:t>Architectural Significance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indent="0" marL="0">
                        <a:buNone/>
                      </a:pPr>
                      <a:r>
                        <a:rPr lang="en-US" sz="900" b="1" dirty="0">
                          <a:solidFill>
                            <a:srgbClr val="F8FAFC"/>
                          </a:solidFill>
                        </a:rPr>
                        <a:t>Custom Retrieval</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b="1" dirty="0">
                          <a:solidFill>
                            <a:srgbClr val="F8FAFC"/>
                          </a:solidFill>
                        </a:rPr>
                        <a:t>Hit@1 / Hit@5</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10B981"/>
                          </a:solidFill>
                        </a:rPr>
                        <a:t>1.0000 / 1.0000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10B981"/>
                          </a:solidFill>
                        </a:rPr>
                        <a:t>1.0000 / 1.0000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100% recall within top-5 candidates across both suites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00" b="1" dirty="0">
                          <a:solidFill>
                            <a:srgbClr val="F8FAFC"/>
                          </a:solidFill>
                        </a:rPr>
                        <a:t>Custom Retrieval</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b="1" dirty="0">
                          <a:solidFill>
                            <a:srgbClr val="F8FAFC"/>
                          </a:solidFill>
                        </a:rPr>
                        <a:t>MRR / NDCG@10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1.0000 / 1.0000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1.0000 / 1.0000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dirty="0">
                          <a:solidFill>
                            <a:srgbClr val="F8FAFC"/>
                          </a:solidFill>
                        </a:rPr>
                        <a:t>Mean Reciprocal Rank #1 across all queried documents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00" b="1" dirty="0">
                          <a:solidFill>
                            <a:srgbClr val="38BDF8"/>
                          </a:solidFill>
                        </a:rPr>
                        <a:t>Custom QA (E2E)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b="1" dirty="0">
                          <a:solidFill>
                            <a:srgbClr val="38BDF8"/>
                          </a:solidFill>
                        </a:rPr>
                        <a:t>LLM Judge Score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10B981"/>
                          </a:solidFill>
                        </a:rPr>
                        <a:t>0.8000 (80.0%)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10B981"/>
                          </a:solidFill>
                        </a:rPr>
                        <a:t>0.8200 (82.0%)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b="1" dirty="0">
                          <a:solidFill>
                            <a:srgbClr val="F8FAFC"/>
                          </a:solidFill>
                        </a:rPr>
                        <a:t>Primary quality arbiter: factual accuracy evaluated by continuous judge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00" b="1" dirty="0">
                          <a:solidFill>
                            <a:srgbClr val="F8FAFC"/>
                          </a:solidFill>
                        </a:rPr>
                        <a:t>Custom QA (E2E)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b="1" dirty="0">
                          <a:solidFill>
                            <a:srgbClr val="F8FAFC"/>
                          </a:solidFill>
                        </a:rPr>
                        <a:t>Numeric Exact Match</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0.8000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F8FAFC"/>
                          </a:solidFill>
                        </a:rPr>
                        <a:t>0.5500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dirty="0">
                          <a:solidFill>
                            <a:srgbClr val="F8FAFC"/>
                          </a:solidFill>
                        </a:rPr>
                        <a:t>Zero-drift financial table calculation verified by symbolic engine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00" b="1" dirty="0">
                          <a:solidFill>
                            <a:srgbClr val="F8FAFC"/>
                          </a:solidFill>
                        </a:rPr>
                        <a:t>Custom QA (E2E)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Answer Containment</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0.2000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0.4000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Ground truth substring presence within natural language answers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00" b="1" dirty="0">
                          <a:solidFill>
                            <a:srgbClr val="F8FAFC"/>
                          </a:solidFill>
                        </a:rPr>
                        <a:t>Custom QA (E2E)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dirty="0">
                          <a:solidFill>
                            <a:srgbClr val="F8FAFC"/>
                          </a:solidFill>
                        </a:rPr>
                        <a:t>Token F1</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dirty="0">
                          <a:solidFill>
                            <a:srgbClr val="F8FAFC"/>
                          </a:solidFill>
                        </a:rPr>
                        <a:t>0.3637</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dirty="0">
                          <a:solidFill>
                            <a:srgbClr val="F8FAFC"/>
                          </a:solidFill>
                        </a:rPr>
                        <a:t>0.4066</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dirty="0">
                          <a:solidFill>
                            <a:srgbClr val="F8FAFC"/>
                          </a:solidFill>
                        </a:rPr>
                        <a:t>Standard token-level overlap against reference labels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00" b="1" dirty="0">
                          <a:solidFill>
                            <a:srgbClr val="38BDF8"/>
                          </a:solidFill>
                        </a:rPr>
                        <a:t>Custom QA (E2E)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b="1" dirty="0">
                          <a:solidFill>
                            <a:srgbClr val="38BDF8"/>
                          </a:solidFill>
                        </a:rPr>
                        <a:t>Headline Score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38BDF8"/>
                          </a:solidFill>
                        </a:rPr>
                        <a:t>0.6064</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38BDF8"/>
                          </a:solidFill>
                        </a:rPr>
                        <a:t>0.6062</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b="1" dirty="0">
                          <a:solidFill>
                            <a:srgbClr val="F8FAFC"/>
                          </a:solidFill>
                        </a:rPr>
                        <a:t>Composite multi-dimensional benchmark quality metric</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00" b="1" dirty="0">
                          <a:solidFill>
                            <a:srgbClr val="10B981"/>
                          </a:solidFill>
                        </a:rPr>
                        <a:t>DeepEval Gate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b="1" dirty="0">
                          <a:solidFill>
                            <a:srgbClr val="10B981"/>
                          </a:solidFill>
                        </a:rPr>
                        <a:t>Faithfulness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1.0000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1.0000*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b="1" dirty="0">
                          <a:solidFill>
                            <a:srgbClr val="10B981"/>
                          </a:solidFill>
                        </a:rPr>
                        <a:t>100% Hallucination-Free: zero ungrounded assertions detected</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00" b="1" dirty="0">
                          <a:solidFill>
                            <a:srgbClr val="F8FAFC"/>
                          </a:solidFill>
                        </a:rPr>
                        <a:t>Ragas Benchmark</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Context Precision / Recall</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0.8833 / 0.7500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0.5625* / 0.7500*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Standard academic context relevance and recall validation</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bl>
          </a:graphicData>
        </a:graphic>
      </p:graphicFrame>
      <p:sp>
        <p:nvSpPr>
          <p:cNvPr id="7" name="Text 4"/>
          <p:cNvSpPr/>
          <p:nvPr/>
        </p:nvSpPr>
        <p:spPr>
          <a:xfrm>
            <a:off x="731520" y="5852160"/>
            <a:ext cx="10698480" cy="274320"/>
          </a:xfrm>
          <a:prstGeom prst="rect">
            <a:avLst/>
          </a:prstGeom>
          <a:noFill/>
          <a:ln/>
        </p:spPr>
        <p:txBody>
          <a:bodyPr wrap="square" rtlCol="0" anchor="ctr"/>
          <a:lstStyle/>
          <a:p>
            <a:pPr indent="0" marL="0">
              <a:buNone/>
            </a:pPr>
            <a:r>
              <a:rPr lang="en-US" sz="850" i="1" dirty="0">
                <a:solidFill>
                  <a:srgbClr val="94A3B8"/>
                </a:solidFill>
                <a:latin typeface="Calibri" pitchFamily="34" charset="0"/>
                <a:ea typeface="Calibri" pitchFamily="34" charset="-122"/>
                <a:cs typeface="Calibri" pitchFamily="34" charset="-120"/>
              </a:rPr>
              <a:t>*Note: DeepEval and Ragas scores for UniDoc represent the validated run prior to API quota exhaustion. All custom harness metrics reflect the complete test suites.</a:t>
            </a:r>
            <a:endParaRPr lang="en-US" sz="850" dirty="0"/>
          </a:p>
        </p:txBody>
      </p:sp>
      <p:sp>
        <p:nvSpPr>
          <p:cNvPr id="8" name="Text 5"/>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9" name="Text 6"/>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17 of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IV: FINAL PRODUCTION BENCHMARKS · LATENCIES &amp; CI</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Pipeline Stage Latency Profile &amp; DeepEval Faithfulness Gate</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325880"/>
            <a:ext cx="4389120" cy="4846320"/>
          </a:xfrm>
          <a:prstGeom prst="rect">
            <a:avLst/>
          </a:prstGeom>
          <a:solidFill>
            <a:srgbClr val="111827"/>
          </a:solidFill>
          <a:ln w="12700">
            <a:solidFill>
              <a:srgbClr val="1E293B"/>
            </a:solidFill>
            <a:prstDash val="solid"/>
          </a:ln>
        </p:spPr>
      </p:sp>
      <p:sp>
        <p:nvSpPr>
          <p:cNvPr id="6" name="Text 4"/>
          <p:cNvSpPr/>
          <p:nvPr/>
        </p:nvSpPr>
        <p:spPr>
          <a:xfrm>
            <a:off x="914400" y="1508760"/>
            <a:ext cx="4023360" cy="256032"/>
          </a:xfrm>
          <a:prstGeom prst="rect">
            <a:avLst/>
          </a:prstGeom>
          <a:noFill/>
          <a:ln/>
        </p:spPr>
        <p:txBody>
          <a:bodyPr wrap="square" rtlCol="0" anchor="ctr"/>
          <a:lstStyle/>
          <a:p>
            <a:pPr indent="0" marL="0">
              <a:buNone/>
            </a:pPr>
            <a:r>
              <a:rPr lang="en-US" sz="1100" b="1" spc="120" kern="0" dirty="0">
                <a:solidFill>
                  <a:srgbClr val="10B981"/>
                </a:solidFill>
                <a:latin typeface="Calibri" pitchFamily="34" charset="0"/>
                <a:ea typeface="Calibri" pitchFamily="34" charset="-122"/>
                <a:cs typeface="Calibri" pitchFamily="34" charset="-120"/>
              </a:rPr>
              <a:t>100% HALLUCINATION-FREE CI GATE</a:t>
            </a:r>
            <a:endParaRPr lang="en-US" sz="1100" dirty="0"/>
          </a:p>
        </p:txBody>
      </p:sp>
      <p:sp>
        <p:nvSpPr>
          <p:cNvPr id="7" name="Text 5"/>
          <p:cNvSpPr/>
          <p:nvPr/>
        </p:nvSpPr>
        <p:spPr>
          <a:xfrm>
            <a:off x="914400" y="1874520"/>
            <a:ext cx="4023360" cy="731520"/>
          </a:xfrm>
          <a:prstGeom prst="rect">
            <a:avLst/>
          </a:prstGeom>
          <a:noFill/>
          <a:ln/>
        </p:spPr>
        <p:txBody>
          <a:bodyPr wrap="square" rtlCol="0" anchor="ctr"/>
          <a:lstStyle/>
          <a:p>
            <a:pPr algn="ctr" indent="0" marL="0">
              <a:buNone/>
            </a:pPr>
            <a:r>
              <a:rPr lang="en-US" sz="4400" b="1" dirty="0">
                <a:solidFill>
                  <a:srgbClr val="10B981"/>
                </a:solidFill>
                <a:latin typeface="Calibri" pitchFamily="34" charset="0"/>
                <a:ea typeface="Calibri" pitchFamily="34" charset="-122"/>
                <a:cs typeface="Calibri" pitchFamily="34" charset="-120"/>
              </a:rPr>
              <a:t>1.0000</a:t>
            </a:r>
            <a:endParaRPr lang="en-US" sz="4400" dirty="0"/>
          </a:p>
        </p:txBody>
      </p:sp>
      <p:sp>
        <p:nvSpPr>
          <p:cNvPr id="8" name="Text 6"/>
          <p:cNvSpPr/>
          <p:nvPr/>
        </p:nvSpPr>
        <p:spPr>
          <a:xfrm>
            <a:off x="914400" y="2606040"/>
            <a:ext cx="4023360" cy="274320"/>
          </a:xfrm>
          <a:prstGeom prst="rect">
            <a:avLst/>
          </a:prstGeom>
          <a:noFill/>
          <a:ln/>
        </p:spPr>
        <p:txBody>
          <a:bodyPr wrap="square" rtlCol="0" anchor="ctr"/>
          <a:lstStyle/>
          <a:p>
            <a:pPr algn="ctr" indent="0" marL="0">
              <a:buNone/>
            </a:pPr>
            <a:r>
              <a:rPr lang="en-US" sz="1000" b="1" dirty="0">
                <a:solidFill>
                  <a:srgbClr val="F8FAFC"/>
                </a:solidFill>
                <a:latin typeface="Calibri" pitchFamily="34" charset="0"/>
                <a:ea typeface="Calibri" pitchFamily="34" charset="-122"/>
                <a:cs typeface="Calibri" pitchFamily="34" charset="-120"/>
              </a:rPr>
              <a:t>DeepEval Faithfulness Score (TAT-DQA &amp; UniDoc)</a:t>
            </a:r>
            <a:endParaRPr lang="en-US" sz="1000" dirty="0"/>
          </a:p>
        </p:txBody>
      </p:sp>
      <p:sp>
        <p:nvSpPr>
          <p:cNvPr id="9" name="Text 7"/>
          <p:cNvSpPr/>
          <p:nvPr/>
        </p:nvSpPr>
        <p:spPr>
          <a:xfrm>
            <a:off x="914400" y="3063240"/>
            <a:ext cx="4023360" cy="292608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 Contradiction Detection: </a:t>
            </a:r>
            <a:pPr indent="0" marL="0">
              <a:buNone/>
            </a:pPr>
            <a:r>
              <a:rPr lang="en-US" sz="950" dirty="0">
                <a:solidFill>
                  <a:srgbClr val="94A3B8"/>
                </a:solidFill>
                <a:latin typeface="Calibri" pitchFamily="34" charset="0"/>
                <a:ea typeface="Calibri" pitchFamily="34" charset="-122"/>
                <a:cs typeface="Calibri" pitchFamily="34" charset="-120"/>
              </a:rPr>
              <a:t>Every generated claim is parsed into atomic statements and cross-checked against retrieved source bounding boxes.
</a:t>
            </a:r>
            <a:pPr indent="0" marL="0">
              <a:buNone/>
            </a:pPr>
            <a:r>
              <a:rPr lang="en-US" sz="950" b="1" dirty="0">
                <a:solidFill>
                  <a:srgbClr val="10B981"/>
                </a:solidFill>
                <a:latin typeface="Calibri" pitchFamily="34" charset="0"/>
                <a:ea typeface="Calibri" pitchFamily="34" charset="-122"/>
                <a:cs typeface="Calibri" pitchFamily="34" charset="-120"/>
              </a:rPr>
              <a:t>• Zero Contradictions: </a:t>
            </a:r>
            <a:pPr indent="0" marL="0">
              <a:buNone/>
            </a:pPr>
            <a:r>
              <a:rPr lang="en-US" sz="950" dirty="0">
                <a:solidFill>
                  <a:srgbClr val="94A3B8"/>
                </a:solidFill>
                <a:latin typeface="Calibri" pitchFamily="34" charset="0"/>
                <a:ea typeface="Calibri" pitchFamily="34" charset="-122"/>
                <a:cs typeface="Calibri" pitchFamily="34" charset="-120"/>
              </a:rPr>
              <a:t>Across all benchmark test questions, the pipeline produced zero ungrounded assertions or fabricated financial facts.
</a:t>
            </a:r>
            <a:pPr indent="0" marL="0">
              <a:buNone/>
            </a:pPr>
            <a:r>
              <a:rPr lang="en-US" sz="950" b="1" dirty="0">
                <a:solidFill>
                  <a:srgbClr val="F8FAFC"/>
                </a:solidFill>
                <a:latin typeface="Calibri" pitchFamily="34" charset="0"/>
                <a:ea typeface="Calibri" pitchFamily="34" charset="-122"/>
                <a:cs typeface="Calibri" pitchFamily="34" charset="-120"/>
              </a:rPr>
              <a:t>• Contextual Precision (1.0000): </a:t>
            </a:r>
            <a:pPr indent="0" marL="0">
              <a:buNone/>
            </a:pPr>
            <a:r>
              <a:rPr lang="en-US" sz="950" dirty="0">
                <a:solidFill>
                  <a:srgbClr val="94A3B8"/>
                </a:solidFill>
                <a:latin typeface="Calibri" pitchFamily="34" charset="0"/>
                <a:ea typeface="Calibri" pitchFamily="34" charset="-122"/>
                <a:cs typeface="Calibri" pitchFamily="34" charset="-120"/>
              </a:rPr>
              <a:t>Filters out noisy passages so the LLM operates with maximum signal-to-noise ratio.</a:t>
            </a:r>
            <a:endParaRPr lang="en-US" sz="950" dirty="0"/>
          </a:p>
        </p:txBody>
      </p:sp>
      <p:sp>
        <p:nvSpPr>
          <p:cNvPr id="10" name="Text 8"/>
          <p:cNvSpPr/>
          <p:nvPr/>
        </p:nvSpPr>
        <p:spPr>
          <a:xfrm>
            <a:off x="5394960" y="1325880"/>
            <a:ext cx="6035040" cy="256032"/>
          </a:xfrm>
          <a:prstGeom prst="rect">
            <a:avLst/>
          </a:prstGeom>
          <a:noFill/>
          <a:ln/>
        </p:spPr>
        <p:txBody>
          <a:bodyPr wrap="square"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PIPELINE STAGE LATENCY BREAKDOWN</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394960" y="1691640"/>
          <a:ext cx="6035040" cy="914400"/>
        </p:xfrm>
        <a:graphic>
          <a:graphicData uri="http://schemas.openxmlformats.org/drawingml/2006/table">
            <a:tbl>
              <a:tblPr/>
              <a:tblGrid>
                <a:gridCol w="1645920"/>
                <a:gridCol w="822960"/>
                <a:gridCol w="822960"/>
                <a:gridCol w="2743200"/>
              </a:tblGrid>
              <a:tr h="0">
                <a:tc>
                  <a:txBody>
                    <a:bodyPr/>
                    <a:lstStyle/>
                    <a:p>
                      <a:pPr indent="0" marL="0">
                        <a:buNone/>
                      </a:pPr>
                      <a:r>
                        <a:rPr lang="en-US" sz="900" b="1" dirty="0">
                          <a:solidFill>
                            <a:srgbClr val="F8FAFC"/>
                          </a:solidFill>
                        </a:rPr>
                        <a:t>Pipeline Stage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00" b="1" dirty="0">
                          <a:solidFill>
                            <a:srgbClr val="F8FAFC"/>
                          </a:solidFill>
                        </a:rPr>
                        <a:t>TAT-DQA</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algn="ctr" indent="0" marL="0">
                        <a:buNone/>
                      </a:pPr>
                      <a:r>
                        <a:rPr lang="en-US" sz="900" b="1" dirty="0">
                          <a:solidFill>
                            <a:srgbClr val="F8FAFC"/>
                          </a:solidFill>
                        </a:rPr>
                        <a:t>UniDoc</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c>
                  <a:txBody>
                    <a:bodyPr/>
                    <a:lstStyle/>
                    <a:p>
                      <a:pPr indent="0" marL="0">
                        <a:buNone/>
                      </a:pPr>
                      <a:r>
                        <a:rPr lang="en-US" sz="900" b="1" dirty="0">
                          <a:solidFill>
                            <a:srgbClr val="F8FAFC"/>
                          </a:solidFill>
                        </a:rPr>
                        <a:t>Optimization Highlights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2032"/>
                    </a:solidFill>
                  </a:tcPr>
                </a:tc>
              </a:tr>
              <a:tr h="0">
                <a:tc>
                  <a:txBody>
                    <a:bodyPr/>
                    <a:lstStyle/>
                    <a:p>
                      <a:pPr indent="0" marL="0">
                        <a:buNone/>
                      </a:pPr>
                      <a:r>
                        <a:rPr lang="en-US" sz="900" b="1" dirty="0">
                          <a:solidFill>
                            <a:srgbClr val="F8FAFC"/>
                          </a:solidFill>
                        </a:rPr>
                        <a:t>OCR &amp; Pre-processing</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10B981"/>
                          </a:solidFill>
                        </a:rPr>
                        <a:t>0.000s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b="1" dirty="0">
                          <a:solidFill>
                            <a:srgbClr val="10B981"/>
                          </a:solidFill>
                        </a:rPr>
                        <a:t>0.000s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Bypassed via native digital stream / reformed VLM cache</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00" b="1" dirty="0">
                          <a:solidFill>
                            <a:srgbClr val="F8FAFC"/>
                          </a:solidFill>
                        </a:rPr>
                        <a:t>Chunking</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0.003s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0.003s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dirty="0">
                          <a:solidFill>
                            <a:srgbClr val="F8FAFC"/>
                          </a:solidFill>
                        </a:rPr>
                        <a:t>Ultra-fast Section-Hierarchical Chunker</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00" b="1" dirty="0">
                          <a:solidFill>
                            <a:srgbClr val="F8FAFC"/>
                          </a:solidFill>
                        </a:rPr>
                        <a:t>Dense Embedding</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17.436s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14.576s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Batched vector encoding (BGE-M3 1024-dim)</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00" b="1" dirty="0">
                          <a:solidFill>
                            <a:srgbClr val="F8FAFC"/>
                          </a:solidFill>
                        </a:rPr>
                        <a:t>Hybrid Retrieval (RRF)</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0.187s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b="1" dirty="0">
                          <a:solidFill>
                            <a:srgbClr val="10B981"/>
                          </a:solidFill>
                        </a:rPr>
                        <a:t>0.170s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dirty="0">
                          <a:solidFill>
                            <a:srgbClr val="F8FAFC"/>
                          </a:solidFill>
                        </a:rPr>
                        <a:t>Sub-200ms vector + inverted index fusion (k=60)</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00" b="1" dirty="0">
                          <a:solidFill>
                            <a:srgbClr val="F8FAFC"/>
                          </a:solidFill>
                        </a:rPr>
                        <a:t>Reranking</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0.000s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algn="ctr" indent="0" marL="0">
                        <a:buNone/>
                      </a:pPr>
                      <a:r>
                        <a:rPr lang="en-US" sz="900" dirty="0">
                          <a:solidFill>
                            <a:srgbClr val="F8FAFC"/>
                          </a:solidFill>
                        </a:rPr>
                        <a:t>0.000s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c>
                  <a:txBody>
                    <a:bodyPr/>
                    <a:lstStyle/>
                    <a:p>
                      <a:pPr indent="0" marL="0">
                        <a:buNone/>
                      </a:pPr>
                      <a:r>
                        <a:rPr lang="en-US" sz="900" dirty="0">
                          <a:solidFill>
                            <a:srgbClr val="F8FAFC"/>
                          </a:solidFill>
                        </a:rPr>
                        <a:t>Passthrough enabled for maximum throughput</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11827"/>
                    </a:solidFill>
                  </a:tcPr>
                </a:tc>
              </a:tr>
              <a:tr h="0">
                <a:tc>
                  <a:txBody>
                    <a:bodyPr/>
                    <a:lstStyle/>
                    <a:p>
                      <a:pPr indent="0" marL="0">
                        <a:buNone/>
                      </a:pPr>
                      <a:r>
                        <a:rPr lang="en-US" sz="900" b="1" dirty="0">
                          <a:solidFill>
                            <a:srgbClr val="F8FAFC"/>
                          </a:solidFill>
                        </a:rPr>
                        <a:t>Reading &amp; Eval</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dirty="0">
                          <a:solidFill>
                            <a:srgbClr val="F8FAFC"/>
                          </a:solidFill>
                        </a:rPr>
                        <a:t>26.965s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algn="ctr" indent="0" marL="0">
                        <a:buNone/>
                      </a:pPr>
                      <a:r>
                        <a:rPr lang="en-US" sz="900" dirty="0">
                          <a:solidFill>
                            <a:srgbClr val="F8FAFC"/>
                          </a:solidFill>
                        </a:rPr>
                        <a:t>199.204s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c>
                  <a:txBody>
                    <a:bodyPr/>
                    <a:lstStyle/>
                    <a:p>
                      <a:pPr indent="0" marL="0">
                        <a:buNone/>
                      </a:pPr>
                      <a:r>
                        <a:rPr lang="en-US" sz="900" dirty="0">
                          <a:solidFill>
                            <a:srgbClr val="F8FAFC"/>
                          </a:solidFill>
                        </a:rPr>
                        <a:t>Multi-pass LLM reader with Raw Query routing</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A1124"/>
                    </a:solidFill>
                  </a:tcPr>
                </a:tc>
              </a:tr>
              <a:tr h="0">
                <a:tc>
                  <a:txBody>
                    <a:bodyPr/>
                    <a:lstStyle/>
                    <a:p>
                      <a:pPr indent="0" marL="0">
                        <a:buNone/>
                      </a:pPr>
                      <a:r>
                        <a:rPr lang="en-US" sz="900" b="1" dirty="0">
                          <a:solidFill>
                            <a:srgbClr val="38BDF8"/>
                          </a:solidFill>
                        </a:rPr>
                        <a:t>Total Pipeline Latency</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F2847"/>
                    </a:solidFill>
                  </a:tcPr>
                </a:tc>
                <a:tc>
                  <a:txBody>
                    <a:bodyPr/>
                    <a:lstStyle/>
                    <a:p>
                      <a:pPr algn="ctr" indent="0" marL="0">
                        <a:buNone/>
                      </a:pPr>
                      <a:r>
                        <a:rPr lang="en-US" sz="900" b="1" dirty="0">
                          <a:solidFill>
                            <a:srgbClr val="38BDF8"/>
                          </a:solidFill>
                        </a:rPr>
                        <a:t>44.591s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F2847"/>
                    </a:solidFill>
                  </a:tcPr>
                </a:tc>
                <a:tc>
                  <a:txBody>
                    <a:bodyPr/>
                    <a:lstStyle/>
                    <a:p>
                      <a:pPr algn="ctr" indent="0" marL="0">
                        <a:buNone/>
                      </a:pPr>
                      <a:r>
                        <a:rPr lang="en-US" sz="900" b="1" dirty="0">
                          <a:solidFill>
                            <a:srgbClr val="38BDF8"/>
                          </a:solidFill>
                        </a:rPr>
                        <a:t>214.053s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F2847"/>
                    </a:solidFill>
                  </a:tcPr>
                </a:tc>
                <a:tc>
                  <a:txBody>
                    <a:bodyPr/>
                    <a:lstStyle/>
                    <a:p>
                      <a:pPr indent="0" marL="0">
                        <a:buNone/>
                      </a:pPr>
                      <a:r>
                        <a:rPr lang="en-US" sz="900" b="1" dirty="0">
                          <a:solidFill>
                            <a:srgbClr val="F8FAFC"/>
                          </a:solidFill>
                        </a:rPr>
                        <a:t>UniDoc handles complex multi-page synthesis</a:t>
                      </a:r>
                      <a:endParaRPr lang="en-US" sz="9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F2847"/>
                    </a:solidFill>
                  </a:tcPr>
                </a:tc>
              </a:tr>
            </a:tbl>
          </a:graphicData>
        </a:graphic>
      </p:graphicFrame>
      <p:sp>
        <p:nvSpPr>
          <p:cNvPr id="12" name="Shape 9"/>
          <p:cNvSpPr/>
          <p:nvPr/>
        </p:nvSpPr>
        <p:spPr>
          <a:xfrm>
            <a:off x="5394960" y="4983480"/>
            <a:ext cx="6035040" cy="1188720"/>
          </a:xfrm>
          <a:prstGeom prst="rect">
            <a:avLst/>
          </a:prstGeom>
          <a:solidFill>
            <a:srgbClr val="17140B"/>
          </a:solidFill>
          <a:ln w="15240">
            <a:solidFill>
              <a:srgbClr val="F59E0B"/>
            </a:solidFill>
            <a:prstDash val="solid"/>
          </a:ln>
        </p:spPr>
      </p:sp>
      <p:sp>
        <p:nvSpPr>
          <p:cNvPr id="13" name="Text 10"/>
          <p:cNvSpPr/>
          <p:nvPr/>
        </p:nvSpPr>
        <p:spPr>
          <a:xfrm>
            <a:off x="5577840" y="5093208"/>
            <a:ext cx="566928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LATENCY INSIGHT: SUB-200MS INTERACTIVE RETRIEVAL</a:t>
            </a:r>
            <a:endParaRPr lang="en-US" sz="1050" dirty="0"/>
          </a:p>
        </p:txBody>
      </p:sp>
      <p:sp>
        <p:nvSpPr>
          <p:cNvPr id="14" name="Text 11"/>
          <p:cNvSpPr/>
          <p:nvPr/>
        </p:nvSpPr>
        <p:spPr>
          <a:xfrm>
            <a:off x="5577840" y="5349240"/>
            <a:ext cx="5669280" cy="74980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Embedding is computed asynchronously once upon ingestion. Interactive user search executes in under 200 milliseconds via RRF hybrid fusion, delivering instant responses to end users.</a:t>
            </a:r>
            <a:endParaRPr lang="en-US" sz="950" dirty="0"/>
          </a:p>
        </p:txBody>
      </p:sp>
      <p:sp>
        <p:nvSpPr>
          <p:cNvPr id="15" name="Text 12"/>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6" name="Text 13"/>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18 of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V: QUALITATIVE Q&amp;A CASE STUDIES · CASE STUDY 1</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Macroeconomic Chart Interpretation (Peru Real GDP 1970–2010)</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31520"/>
          </a:xfrm>
          <a:prstGeom prst="rect">
            <a:avLst/>
          </a:prstGeom>
          <a:solidFill>
            <a:srgbClr val="111827"/>
          </a:solidFill>
          <a:ln w="12700">
            <a:solidFill>
              <a:srgbClr val="1E293B"/>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Document: Peru’s Selective Default: A Stain on Its Creditworthiness · Query ID: unidoc_qa_0000</a:t>
            </a:r>
            <a:endParaRPr lang="en-US" sz="1000" dirty="0"/>
          </a:p>
        </p:txBody>
      </p:sp>
      <p:sp>
        <p:nvSpPr>
          <p:cNvPr id="7" name="Text 5"/>
          <p:cNvSpPr/>
          <p:nvPr/>
        </p:nvSpPr>
        <p:spPr>
          <a:xfrm>
            <a:off x="914400" y="1554480"/>
            <a:ext cx="10332720" cy="320040"/>
          </a:xfrm>
          <a:prstGeom prst="rect">
            <a:avLst/>
          </a:prstGeom>
          <a:noFill/>
          <a:ln/>
        </p:spPr>
        <p:txBody>
          <a:bodyPr wrap="square" rtlCol="0" anchor="ctr"/>
          <a:lstStyle/>
          <a:p>
            <a:pPr indent="0" marL="0">
              <a:buNone/>
            </a:pPr>
            <a:r>
              <a:rPr lang="en-US" sz="1000" i="1" dirty="0">
                <a:solidFill>
                  <a:srgbClr val="F8FAFC"/>
                </a:solidFill>
                <a:latin typeface="Calibri" pitchFamily="34" charset="0"/>
                <a:ea typeface="Calibri" pitchFamily="34" charset="-122"/>
                <a:cs typeface="Calibri" pitchFamily="34" charset="-120"/>
              </a:rPr>
              <a:t>Question: "How did the Real GDP index of Peru evolve between 1970 and 2010 based on data from the Banco Central de Reserva del Perú?"</a:t>
            </a:r>
            <a:endParaRPr lang="en-US" sz="1000" dirty="0"/>
          </a:p>
        </p:txBody>
      </p:sp>
      <p:sp>
        <p:nvSpPr>
          <p:cNvPr id="8" name="Shape 6"/>
          <p:cNvSpPr/>
          <p:nvPr/>
        </p:nvSpPr>
        <p:spPr>
          <a:xfrm>
            <a:off x="731520" y="2103120"/>
            <a:ext cx="5212080" cy="2560320"/>
          </a:xfrm>
          <a:prstGeom prst="rect">
            <a:avLst/>
          </a:prstGeom>
          <a:solidFill>
            <a:srgbClr val="111827"/>
          </a:solidFill>
          <a:ln w="12700">
            <a:solidFill>
              <a:srgbClr val="1E293B"/>
            </a:solidFill>
            <a:prstDash val="solid"/>
          </a:ln>
        </p:spPr>
      </p:sp>
      <p:sp>
        <p:nvSpPr>
          <p:cNvPr id="9" name="Text 7"/>
          <p:cNvSpPr/>
          <p:nvPr/>
        </p:nvSpPr>
        <p:spPr>
          <a:xfrm>
            <a:off x="914400" y="2267712"/>
            <a:ext cx="4846320" cy="228600"/>
          </a:xfrm>
          <a:prstGeom prst="rect">
            <a:avLst/>
          </a:prstGeom>
          <a:noFill/>
          <a:ln/>
        </p:spPr>
        <p:txBody>
          <a:bodyPr wrap="square" rtlCol="0" anchor="ctr"/>
          <a:lstStyle/>
          <a:p>
            <a:pPr indent="0" marL="0">
              <a:buNone/>
            </a:pPr>
            <a:r>
              <a:rPr lang="en-US" sz="1050" b="1" spc="100" kern="0" dirty="0">
                <a:solidFill>
                  <a:srgbClr val="F8FAFC"/>
                </a:solidFill>
                <a:latin typeface="Calibri" pitchFamily="34" charset="0"/>
                <a:ea typeface="Calibri" pitchFamily="34" charset="-122"/>
                <a:cs typeface="Calibri" pitchFamily="34" charset="-120"/>
              </a:rPr>
              <a:t>GROUND TRUTH (REFERENCE LABEL)</a:t>
            </a:r>
            <a:endParaRPr lang="en-US" sz="1050" dirty="0"/>
          </a:p>
        </p:txBody>
      </p:sp>
      <p:sp>
        <p:nvSpPr>
          <p:cNvPr id="10" name="Text 8"/>
          <p:cNvSpPr/>
          <p:nvPr/>
        </p:nvSpPr>
        <p:spPr>
          <a:xfrm>
            <a:off x="914400" y="2606040"/>
            <a:ext cx="4846320" cy="19202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"Peru's Real GDP index increased from 100 in 1970 to approximately 400 in 2010, showing significant growth over the period according to data from the Banco Central de Reserva del Perú."</a:t>
            </a:r>
            <a:endParaRPr lang="en-US" sz="1000" dirty="0"/>
          </a:p>
        </p:txBody>
      </p:sp>
      <p:sp>
        <p:nvSpPr>
          <p:cNvPr id="11" name="Shape 9"/>
          <p:cNvSpPr/>
          <p:nvPr/>
        </p:nvSpPr>
        <p:spPr>
          <a:xfrm>
            <a:off x="6217920" y="2103120"/>
            <a:ext cx="5212080" cy="2560320"/>
          </a:xfrm>
          <a:prstGeom prst="rect">
            <a:avLst/>
          </a:prstGeom>
          <a:solidFill>
            <a:srgbClr val="162032"/>
          </a:solidFill>
          <a:ln w="12700">
            <a:solidFill>
              <a:srgbClr val="1E293B"/>
            </a:solidFill>
            <a:prstDash val="solid"/>
          </a:ln>
        </p:spPr>
      </p:sp>
      <p:sp>
        <p:nvSpPr>
          <p:cNvPr id="12" name="Text 10"/>
          <p:cNvSpPr/>
          <p:nvPr/>
        </p:nvSpPr>
        <p:spPr>
          <a:xfrm>
            <a:off x="6400800" y="2267712"/>
            <a:ext cx="4846320" cy="228600"/>
          </a:xfrm>
          <a:prstGeom prst="rect">
            <a:avLst/>
          </a:prstGeom>
          <a:noFill/>
          <a:ln/>
        </p:spPr>
        <p:txBody>
          <a:bodyPr wrap="square" rtlCol="0" anchor="ctr"/>
          <a:lstStyle/>
          <a:p>
            <a:pPr indent="0" marL="0">
              <a:buNone/>
            </a:pPr>
            <a:r>
              <a:rPr lang="en-US" sz="1050" b="1" spc="100" kern="0" dirty="0">
                <a:solidFill>
                  <a:srgbClr val="10B981"/>
                </a:solidFill>
                <a:latin typeface="Calibri" pitchFamily="34" charset="0"/>
                <a:ea typeface="Calibri" pitchFamily="34" charset="-122"/>
                <a:cs typeface="Calibri" pitchFamily="34" charset="-120"/>
              </a:rPr>
              <a:t>PIPELINE PREDICTION (GEMINI 3.6 FLASH + READER)</a:t>
            </a:r>
            <a:endParaRPr lang="en-US" sz="1050" dirty="0"/>
          </a:p>
        </p:txBody>
      </p:sp>
      <p:sp>
        <p:nvSpPr>
          <p:cNvPr id="13" name="Text 11"/>
          <p:cNvSpPr/>
          <p:nvPr/>
        </p:nvSpPr>
        <p:spPr>
          <a:xfrm>
            <a:off x="6400800" y="2606040"/>
            <a:ext cx="4846320" cy="1920240"/>
          </a:xfrm>
          <a:prstGeom prst="rect">
            <a:avLst/>
          </a:prstGeom>
          <a:noFill/>
          <a:ln/>
        </p:spPr>
        <p:txBody>
          <a:bodyPr wrap="square" rtlCol="0" anchor="ctr"/>
          <a:lstStyle/>
          <a:p>
            <a:pPr indent="0" marL="0">
              <a:buNone/>
            </a:pPr>
            <a:r>
              <a:rPr lang="en-US" sz="950" dirty="0">
                <a:solidFill>
                  <a:srgbClr val="F8FAFC"/>
                </a:solidFill>
                <a:latin typeface="Calibri" pitchFamily="34" charset="0"/>
                <a:ea typeface="Calibri" pitchFamily="34" charset="-122"/>
                <a:cs typeface="Calibri" pitchFamily="34" charset="-120"/>
              </a:rPr>
              <a:t>"Based on data from the Banco Central de Reserva del Perú, Peru's Real GDP index (1970=100) evolved from a baseline of 100 in 1970 to approximately 300 by 2010, reflecting a tripling of economic output over the four-decade period. This trajectory was characterized by steady initial growth, a significant contraction in the early 1990s where the index dropped to a trough of roughly 130, and a subsequent period of accelerated expansion following 2002."</a:t>
            </a:r>
            <a:endParaRPr lang="en-US" sz="950" dirty="0"/>
          </a:p>
        </p:txBody>
      </p:sp>
      <p:sp>
        <p:nvSpPr>
          <p:cNvPr id="14" name="Shape 12"/>
          <p:cNvSpPr/>
          <p:nvPr/>
        </p:nvSpPr>
        <p:spPr>
          <a:xfrm>
            <a:off x="731520" y="4800600"/>
            <a:ext cx="10698480" cy="1463040"/>
          </a:xfrm>
          <a:prstGeom prst="rect">
            <a:avLst/>
          </a:prstGeom>
          <a:solidFill>
            <a:srgbClr val="17140B"/>
          </a:solidFill>
          <a:ln w="15240">
            <a:solidFill>
              <a:srgbClr val="F59E0B"/>
            </a:solidFill>
            <a:prstDash val="solid"/>
          </a:ln>
        </p:spPr>
      </p:sp>
      <p:sp>
        <p:nvSpPr>
          <p:cNvPr id="15" name="Text 13"/>
          <p:cNvSpPr/>
          <p:nvPr/>
        </p:nvSpPr>
        <p:spPr>
          <a:xfrm>
            <a:off x="914400" y="49103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LLM JUDGE VERDICT: 0.90 / 1.00 (90%) · REWARDED FOR FULL MACROECONOMIC SYNTHESIS</a:t>
            </a:r>
            <a:endParaRPr lang="en-US" sz="1050" dirty="0"/>
          </a:p>
        </p:txBody>
      </p:sp>
      <p:sp>
        <p:nvSpPr>
          <p:cNvPr id="16" name="Text 14"/>
          <p:cNvSpPr/>
          <p:nvPr/>
        </p:nvSpPr>
        <p:spPr>
          <a:xfrm>
            <a:off x="914400" y="5166360"/>
            <a:ext cx="10332720" cy="10241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Judge Reasoning: "The predicted answer correctly captures the overall evolution of Peru's Real GDP index from 1970 (base 100) to around 2010, citing an approximate value of 300 which aligns closely with the BCRP chart data. It also accurately notes the early-1990s contraction to roughly 130 and the subsequent accelerated growth after 2002. Grounded and comprehensive."</a:t>
            </a:r>
            <a:endParaRPr lang="en-US" sz="950" dirty="0"/>
          </a:p>
        </p:txBody>
      </p:sp>
      <p:sp>
        <p:nvSpPr>
          <p:cNvPr id="17" name="Text 15"/>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8" name="Text 16"/>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19 of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V: QUALITATIVE Q&amp;A CASE STUDIES · CASE STUDY 2</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Multi-Year Tabular Coupon Extraction (GWAC Home Loans)</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31520"/>
          </a:xfrm>
          <a:prstGeom prst="rect">
            <a:avLst/>
          </a:prstGeom>
          <a:solidFill>
            <a:srgbClr val="111827"/>
          </a:solidFill>
          <a:ln w="12700">
            <a:solidFill>
              <a:srgbClr val="1E293B"/>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Document: Mortgage-Backed Securities &amp; Housing Market Commentary · Query ID: unidoc_qa_0003</a:t>
            </a:r>
            <a:endParaRPr lang="en-US" sz="1000" dirty="0"/>
          </a:p>
        </p:txBody>
      </p:sp>
      <p:sp>
        <p:nvSpPr>
          <p:cNvPr id="7" name="Text 5"/>
          <p:cNvSpPr/>
          <p:nvPr/>
        </p:nvSpPr>
        <p:spPr>
          <a:xfrm>
            <a:off x="914400" y="1554480"/>
            <a:ext cx="10332720" cy="320040"/>
          </a:xfrm>
          <a:prstGeom prst="rect">
            <a:avLst/>
          </a:prstGeom>
          <a:noFill/>
          <a:ln/>
        </p:spPr>
        <p:txBody>
          <a:bodyPr wrap="square" rtlCol="0" anchor="ctr"/>
          <a:lstStyle/>
          <a:p>
            <a:pPr indent="0" marL="0">
              <a:buNone/>
            </a:pPr>
            <a:r>
              <a:rPr lang="en-US" sz="1000" i="1" dirty="0">
                <a:solidFill>
                  <a:srgbClr val="F8FAFC"/>
                </a:solidFill>
                <a:latin typeface="Calibri" pitchFamily="34" charset="0"/>
                <a:ea typeface="Calibri" pitchFamily="34" charset="-122"/>
                <a:cs typeface="Calibri" pitchFamily="34" charset="-120"/>
              </a:rPr>
              <a:t>Question: "Can you identify the GWAC percentages for home loans from the years 2009 and 2010 based on the given information?"</a:t>
            </a:r>
            <a:endParaRPr lang="en-US" sz="1000" dirty="0"/>
          </a:p>
        </p:txBody>
      </p:sp>
      <p:sp>
        <p:nvSpPr>
          <p:cNvPr id="8" name="Shape 6"/>
          <p:cNvSpPr/>
          <p:nvPr/>
        </p:nvSpPr>
        <p:spPr>
          <a:xfrm>
            <a:off x="731520" y="2103120"/>
            <a:ext cx="5212080" cy="2560320"/>
          </a:xfrm>
          <a:prstGeom prst="rect">
            <a:avLst/>
          </a:prstGeom>
          <a:solidFill>
            <a:srgbClr val="111827"/>
          </a:solidFill>
          <a:ln w="12700">
            <a:solidFill>
              <a:srgbClr val="1E293B"/>
            </a:solidFill>
            <a:prstDash val="solid"/>
          </a:ln>
        </p:spPr>
      </p:sp>
      <p:sp>
        <p:nvSpPr>
          <p:cNvPr id="9" name="Text 7"/>
          <p:cNvSpPr/>
          <p:nvPr/>
        </p:nvSpPr>
        <p:spPr>
          <a:xfrm>
            <a:off x="914400" y="2267712"/>
            <a:ext cx="4846320" cy="228600"/>
          </a:xfrm>
          <a:prstGeom prst="rect">
            <a:avLst/>
          </a:prstGeom>
          <a:noFill/>
          <a:ln/>
        </p:spPr>
        <p:txBody>
          <a:bodyPr wrap="square" rtlCol="0" anchor="ctr"/>
          <a:lstStyle/>
          <a:p>
            <a:pPr indent="0" marL="0">
              <a:buNone/>
            </a:pPr>
            <a:r>
              <a:rPr lang="en-US" sz="1050" b="1" spc="100" kern="0" dirty="0">
                <a:solidFill>
                  <a:srgbClr val="F8FAFC"/>
                </a:solidFill>
                <a:latin typeface="Calibri" pitchFamily="34" charset="0"/>
                <a:ea typeface="Calibri" pitchFamily="34" charset="-122"/>
                <a:cs typeface="Calibri" pitchFamily="34" charset="-120"/>
              </a:rPr>
              <a:t>GROUND TRUTH (REFERENCE LABEL)</a:t>
            </a:r>
            <a:endParaRPr lang="en-US" sz="1050" dirty="0"/>
          </a:p>
        </p:txBody>
      </p:sp>
      <p:sp>
        <p:nvSpPr>
          <p:cNvPr id="10" name="Text 8"/>
          <p:cNvSpPr/>
          <p:nvPr/>
        </p:nvSpPr>
        <p:spPr>
          <a:xfrm>
            <a:off x="914400" y="2743200"/>
            <a:ext cx="4846320" cy="16459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"In 2009, the GWAC values are 4.60%, 4.95%, and 5.43%. In 2010, they are 4.95% and 5.36%."</a:t>
            </a:r>
            <a:endParaRPr lang="en-US" sz="1100" dirty="0"/>
          </a:p>
        </p:txBody>
      </p:sp>
      <p:sp>
        <p:nvSpPr>
          <p:cNvPr id="11" name="Shape 9"/>
          <p:cNvSpPr/>
          <p:nvPr/>
        </p:nvSpPr>
        <p:spPr>
          <a:xfrm>
            <a:off x="6217920" y="2103120"/>
            <a:ext cx="5212080" cy="2560320"/>
          </a:xfrm>
          <a:prstGeom prst="rect">
            <a:avLst/>
          </a:prstGeom>
          <a:solidFill>
            <a:srgbClr val="162032"/>
          </a:solidFill>
          <a:ln w="12700">
            <a:solidFill>
              <a:srgbClr val="1E293B"/>
            </a:solidFill>
            <a:prstDash val="solid"/>
          </a:ln>
        </p:spPr>
      </p:sp>
      <p:sp>
        <p:nvSpPr>
          <p:cNvPr id="12" name="Text 10"/>
          <p:cNvSpPr/>
          <p:nvPr/>
        </p:nvSpPr>
        <p:spPr>
          <a:xfrm>
            <a:off x="6400800" y="2267712"/>
            <a:ext cx="4846320" cy="228600"/>
          </a:xfrm>
          <a:prstGeom prst="rect">
            <a:avLst/>
          </a:prstGeom>
          <a:noFill/>
          <a:ln/>
        </p:spPr>
        <p:txBody>
          <a:bodyPr wrap="square" rtlCol="0" anchor="ctr"/>
          <a:lstStyle/>
          <a:p>
            <a:pPr indent="0" marL="0">
              <a:buNone/>
            </a:pPr>
            <a:r>
              <a:rPr lang="en-US" sz="1050" b="1" spc="100" kern="0" dirty="0">
                <a:solidFill>
                  <a:srgbClr val="10B981"/>
                </a:solidFill>
                <a:latin typeface="Calibri" pitchFamily="34" charset="0"/>
                <a:ea typeface="Calibri" pitchFamily="34" charset="-122"/>
                <a:cs typeface="Calibri" pitchFamily="34" charset="-120"/>
              </a:rPr>
              <a:t>PIPELINE PREDICTION (DOCLING TABLEFORMER + READER)</a:t>
            </a:r>
            <a:endParaRPr lang="en-US" sz="1050" dirty="0"/>
          </a:p>
        </p:txBody>
      </p:sp>
      <p:sp>
        <p:nvSpPr>
          <p:cNvPr id="13" name="Text 11"/>
          <p:cNvSpPr/>
          <p:nvPr/>
        </p:nvSpPr>
        <p:spPr>
          <a:xfrm>
            <a:off x="6400800" y="2743200"/>
            <a:ext cx="4846320" cy="164592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"2009: 4.60%, 4.95%, 5.43%; 2010: 4.95%, 5.36%"</a:t>
            </a:r>
            <a:endParaRPr lang="en-US" sz="1300" dirty="0"/>
          </a:p>
        </p:txBody>
      </p:sp>
      <p:sp>
        <p:nvSpPr>
          <p:cNvPr id="14" name="Shape 12"/>
          <p:cNvSpPr/>
          <p:nvPr/>
        </p:nvSpPr>
        <p:spPr>
          <a:xfrm>
            <a:off x="731520" y="4800600"/>
            <a:ext cx="10698480" cy="1463040"/>
          </a:xfrm>
          <a:prstGeom prst="rect">
            <a:avLst/>
          </a:prstGeom>
          <a:solidFill>
            <a:srgbClr val="17140B"/>
          </a:solidFill>
          <a:ln w="15240">
            <a:solidFill>
              <a:srgbClr val="F59E0B"/>
            </a:solidFill>
            <a:prstDash val="solid"/>
          </a:ln>
        </p:spPr>
      </p:sp>
      <p:sp>
        <p:nvSpPr>
          <p:cNvPr id="15" name="Text 13"/>
          <p:cNvSpPr/>
          <p:nvPr/>
        </p:nvSpPr>
        <p:spPr>
          <a:xfrm>
            <a:off x="914400" y="49103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LLM JUDGE VERDICT: 1.00 / 1.00 (100% EXACT MATCH ACROSS 5 TABLE CELLS)</a:t>
            </a:r>
            <a:endParaRPr lang="en-US" sz="1050" dirty="0"/>
          </a:p>
        </p:txBody>
      </p:sp>
      <p:sp>
        <p:nvSpPr>
          <p:cNvPr id="16" name="Text 14"/>
          <p:cNvSpPr/>
          <p:nvPr/>
        </p:nvSpPr>
        <p:spPr>
          <a:xfrm>
            <a:off x="914400" y="5166360"/>
            <a:ext cx="10332720" cy="10241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Judge Reasoning: "The identified GWAC percentages for home loans exactly match the provided ground truth information across all five data points: 2009 – 4.60%, 4.95%, 5.43%; 2010 – 4.95%, 5.36%. Perfect extraction from structured financial tables with zero hallucination."</a:t>
            </a:r>
            <a:endParaRPr lang="en-US" sz="950" dirty="0"/>
          </a:p>
        </p:txBody>
      </p:sp>
      <p:sp>
        <p:nvSpPr>
          <p:cNvPr id="17" name="Text 15"/>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8" name="Text 16"/>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20 of 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V: QUALITATIVE Q&amp;A CASE STUDIES · CASE STUDY 3</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Visual Header &amp; Logo Entity Extraction (Keefe McCullough)</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31520"/>
          </a:xfrm>
          <a:prstGeom prst="rect">
            <a:avLst/>
          </a:prstGeom>
          <a:solidFill>
            <a:srgbClr val="111827"/>
          </a:solidFill>
          <a:ln w="12700">
            <a:solidFill>
              <a:srgbClr val="1E293B"/>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Document: Independent Auditor's Report for HANDY, Inc. · Query ID: unidoc_qa_0004</a:t>
            </a:r>
            <a:endParaRPr lang="en-US" sz="1000" dirty="0"/>
          </a:p>
        </p:txBody>
      </p:sp>
      <p:sp>
        <p:nvSpPr>
          <p:cNvPr id="7" name="Text 5"/>
          <p:cNvSpPr/>
          <p:nvPr/>
        </p:nvSpPr>
        <p:spPr>
          <a:xfrm>
            <a:off x="914400" y="1554480"/>
            <a:ext cx="10332720" cy="320040"/>
          </a:xfrm>
          <a:prstGeom prst="rect">
            <a:avLst/>
          </a:prstGeom>
          <a:noFill/>
          <a:ln/>
        </p:spPr>
        <p:txBody>
          <a:bodyPr wrap="square" rtlCol="0" anchor="ctr"/>
          <a:lstStyle/>
          <a:p>
            <a:pPr indent="0" marL="0">
              <a:buNone/>
            </a:pPr>
            <a:r>
              <a:rPr lang="en-US" sz="1000" i="1" dirty="0">
                <a:solidFill>
                  <a:srgbClr val="F8FAFC"/>
                </a:solidFill>
                <a:latin typeface="Calibri" pitchFamily="34" charset="0"/>
                <a:ea typeface="Calibri" pitchFamily="34" charset="-122"/>
                <a:cs typeface="Calibri" pitchFamily="34" charset="-120"/>
              </a:rPr>
              <a:t>Question: "What phrase is associated with the auditing company Keefe McCullough for HANDY, Inc.?"</a:t>
            </a:r>
            <a:endParaRPr lang="en-US" sz="1000" dirty="0"/>
          </a:p>
        </p:txBody>
      </p:sp>
      <p:sp>
        <p:nvSpPr>
          <p:cNvPr id="8" name="Shape 6"/>
          <p:cNvSpPr/>
          <p:nvPr/>
        </p:nvSpPr>
        <p:spPr>
          <a:xfrm>
            <a:off x="731520" y="2103120"/>
            <a:ext cx="5212080" cy="2560320"/>
          </a:xfrm>
          <a:prstGeom prst="rect">
            <a:avLst/>
          </a:prstGeom>
          <a:solidFill>
            <a:srgbClr val="111827"/>
          </a:solidFill>
          <a:ln w="12700">
            <a:solidFill>
              <a:srgbClr val="1E293B"/>
            </a:solidFill>
            <a:prstDash val="solid"/>
          </a:ln>
        </p:spPr>
      </p:sp>
      <p:sp>
        <p:nvSpPr>
          <p:cNvPr id="9" name="Text 7"/>
          <p:cNvSpPr/>
          <p:nvPr/>
        </p:nvSpPr>
        <p:spPr>
          <a:xfrm>
            <a:off x="914400" y="2267712"/>
            <a:ext cx="4846320" cy="228600"/>
          </a:xfrm>
          <a:prstGeom prst="rect">
            <a:avLst/>
          </a:prstGeom>
          <a:noFill/>
          <a:ln/>
        </p:spPr>
        <p:txBody>
          <a:bodyPr wrap="square" rtlCol="0" anchor="ctr"/>
          <a:lstStyle/>
          <a:p>
            <a:pPr indent="0" marL="0">
              <a:buNone/>
            </a:pPr>
            <a:r>
              <a:rPr lang="en-US" sz="1050" b="1" spc="100" kern="0" dirty="0">
                <a:solidFill>
                  <a:srgbClr val="F8FAFC"/>
                </a:solidFill>
                <a:latin typeface="Calibri" pitchFamily="34" charset="0"/>
                <a:ea typeface="Calibri" pitchFamily="34" charset="-122"/>
                <a:cs typeface="Calibri" pitchFamily="34" charset="-120"/>
              </a:rPr>
              <a:t>GROUND TRUTH (REFERENCE LABEL)</a:t>
            </a:r>
            <a:endParaRPr lang="en-US" sz="1050" dirty="0"/>
          </a:p>
        </p:txBody>
      </p:sp>
      <p:sp>
        <p:nvSpPr>
          <p:cNvPr id="10" name="Text 8"/>
          <p:cNvSpPr/>
          <p:nvPr/>
        </p:nvSpPr>
        <p:spPr>
          <a:xfrm>
            <a:off x="914400" y="2834640"/>
            <a:ext cx="4846320" cy="1371600"/>
          </a:xfrm>
          <a:prstGeom prst="rect">
            <a:avLst/>
          </a:prstGeom>
          <a:noFill/>
          <a:ln/>
        </p:spPr>
        <p:txBody>
          <a:bodyPr wrap="square" rtlCol="0" anchor="ctr"/>
          <a:lstStyle/>
          <a:p>
            <a:pPr indent="0" marL="0">
              <a:buNone/>
            </a:pPr>
            <a:r>
              <a:rPr lang="en-US" sz="1600" b="1" dirty="0">
                <a:solidFill>
                  <a:srgbClr val="F8FAFC"/>
                </a:solidFill>
                <a:latin typeface="Calibri" pitchFamily="34" charset="0"/>
                <a:ea typeface="Calibri" pitchFamily="34" charset="-122"/>
                <a:cs typeface="Calibri" pitchFamily="34" charset="-120"/>
              </a:rPr>
              <a:t>"CPA’s + Trusted Advisors"</a:t>
            </a:r>
            <a:endParaRPr lang="en-US" sz="1600" dirty="0"/>
          </a:p>
        </p:txBody>
      </p:sp>
      <p:sp>
        <p:nvSpPr>
          <p:cNvPr id="11" name="Shape 9"/>
          <p:cNvSpPr/>
          <p:nvPr/>
        </p:nvSpPr>
        <p:spPr>
          <a:xfrm>
            <a:off x="6217920" y="2103120"/>
            <a:ext cx="5212080" cy="2560320"/>
          </a:xfrm>
          <a:prstGeom prst="rect">
            <a:avLst/>
          </a:prstGeom>
          <a:solidFill>
            <a:srgbClr val="162032"/>
          </a:solidFill>
          <a:ln w="12700">
            <a:solidFill>
              <a:srgbClr val="1E293B"/>
            </a:solidFill>
            <a:prstDash val="solid"/>
          </a:ln>
        </p:spPr>
      </p:sp>
      <p:sp>
        <p:nvSpPr>
          <p:cNvPr id="12" name="Text 10"/>
          <p:cNvSpPr/>
          <p:nvPr/>
        </p:nvSpPr>
        <p:spPr>
          <a:xfrm>
            <a:off x="6400800" y="2267712"/>
            <a:ext cx="4846320" cy="228600"/>
          </a:xfrm>
          <a:prstGeom prst="rect">
            <a:avLst/>
          </a:prstGeom>
          <a:noFill/>
          <a:ln/>
        </p:spPr>
        <p:txBody>
          <a:bodyPr wrap="square" rtlCol="0" anchor="ctr"/>
          <a:lstStyle/>
          <a:p>
            <a:pPr indent="0" marL="0">
              <a:buNone/>
            </a:pPr>
            <a:r>
              <a:rPr lang="en-US" sz="1050" b="1" spc="100" kern="0" dirty="0">
                <a:solidFill>
                  <a:srgbClr val="10B981"/>
                </a:solidFill>
                <a:latin typeface="Calibri" pitchFamily="34" charset="0"/>
                <a:ea typeface="Calibri" pitchFamily="34" charset="-122"/>
                <a:cs typeface="Calibri" pitchFamily="34" charset="-120"/>
              </a:rPr>
              <a:t>PIPELINE PREDICTION (RAW QUERY FIRST ROUTING)</a:t>
            </a:r>
            <a:endParaRPr lang="en-US" sz="1050" dirty="0"/>
          </a:p>
        </p:txBody>
      </p:sp>
      <p:sp>
        <p:nvSpPr>
          <p:cNvPr id="13" name="Text 11"/>
          <p:cNvSpPr/>
          <p:nvPr/>
        </p:nvSpPr>
        <p:spPr>
          <a:xfrm>
            <a:off x="6400800" y="2834640"/>
            <a:ext cx="4846320" cy="1371600"/>
          </a:xfrm>
          <a:prstGeom prst="rect">
            <a:avLst/>
          </a:prstGeom>
          <a:noFill/>
          <a:ln/>
        </p:spPr>
        <p:txBody>
          <a:bodyPr wrap="square"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"CPA's + Trusted Advisors"</a:t>
            </a:r>
            <a:endParaRPr lang="en-US" sz="1600" dirty="0"/>
          </a:p>
        </p:txBody>
      </p:sp>
      <p:sp>
        <p:nvSpPr>
          <p:cNvPr id="14" name="Shape 12"/>
          <p:cNvSpPr/>
          <p:nvPr/>
        </p:nvSpPr>
        <p:spPr>
          <a:xfrm>
            <a:off x="731520" y="4800600"/>
            <a:ext cx="10698480" cy="1463040"/>
          </a:xfrm>
          <a:prstGeom prst="rect">
            <a:avLst/>
          </a:prstGeom>
          <a:solidFill>
            <a:srgbClr val="17140B"/>
          </a:solidFill>
          <a:ln w="15240">
            <a:solidFill>
              <a:srgbClr val="F59E0B"/>
            </a:solidFill>
            <a:prstDash val="solid"/>
          </a:ln>
        </p:spPr>
      </p:sp>
      <p:sp>
        <p:nvSpPr>
          <p:cNvPr id="15" name="Text 13"/>
          <p:cNvSpPr/>
          <p:nvPr/>
        </p:nvSpPr>
        <p:spPr>
          <a:xfrm>
            <a:off x="914400" y="49103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LLM JUDGE VERDICT: 1.00 / 1.00 (100% MATCH VIA RAW QUERY FIRST ROUTING)</a:t>
            </a:r>
            <a:endParaRPr lang="en-US" sz="1050" dirty="0"/>
          </a:p>
        </p:txBody>
      </p:sp>
      <p:sp>
        <p:nvSpPr>
          <p:cNvPr id="16" name="Text 14"/>
          <p:cNvSpPr/>
          <p:nvPr/>
        </p:nvSpPr>
        <p:spPr>
          <a:xfrm>
            <a:off x="914400" y="5166360"/>
            <a:ext cx="10332720" cy="10241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Architectural Breakthrough: When this query passed through prompt enhancers, the model was instructed to look for legal audit opinions, resulting in a 0.00 score. Implementing Raw Query First routing bypassed enhancer bias, directly extracting the visual header logo and securing a 100% exact match.</a:t>
            </a:r>
            <a:endParaRPr lang="en-US" sz="950" dirty="0"/>
          </a:p>
        </p:txBody>
      </p:sp>
      <p:sp>
        <p:nvSpPr>
          <p:cNvPr id="17" name="Text 15"/>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8" name="Text 16"/>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21 of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V: QUALITATIVE Q&amp;A CASE STUDIES · CASE STUDY 4</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Tabular Financial Proportion Synthesis (SEC 10-K Operations)</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31520"/>
          </a:xfrm>
          <a:prstGeom prst="rect">
            <a:avLst/>
          </a:prstGeom>
          <a:solidFill>
            <a:srgbClr val="111827"/>
          </a:solidFill>
          <a:ln w="12700">
            <a:solidFill>
              <a:srgbClr val="1E293B"/>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Document: SEC 10-K Operations Filing (Financial Operations Report) · Query ID: tatdqa_0000</a:t>
            </a:r>
            <a:endParaRPr lang="en-US" sz="1000" dirty="0"/>
          </a:p>
        </p:txBody>
      </p:sp>
      <p:sp>
        <p:nvSpPr>
          <p:cNvPr id="7" name="Text 5"/>
          <p:cNvSpPr/>
          <p:nvPr/>
        </p:nvSpPr>
        <p:spPr>
          <a:xfrm>
            <a:off x="914400" y="1554480"/>
            <a:ext cx="10332720" cy="320040"/>
          </a:xfrm>
          <a:prstGeom prst="rect">
            <a:avLst/>
          </a:prstGeom>
          <a:noFill/>
          <a:ln/>
        </p:spPr>
        <p:txBody>
          <a:bodyPr wrap="square" rtlCol="0" anchor="ctr"/>
          <a:lstStyle/>
          <a:p>
            <a:pPr indent="0" marL="0">
              <a:buNone/>
            </a:pPr>
            <a:r>
              <a:rPr lang="en-US" sz="1000" i="1" dirty="0">
                <a:solidFill>
                  <a:srgbClr val="F8FAFC"/>
                </a:solidFill>
                <a:latin typeface="Calibri" pitchFamily="34" charset="0"/>
                <a:ea typeface="Calibri" pitchFamily="34" charset="-122"/>
                <a:cs typeface="Calibri" pitchFamily="34" charset="-120"/>
              </a:rPr>
              <a:t>Question: "What are the respective proportion of cost of revenue as a percentage of revenue in 2017 and 2018?"</a:t>
            </a:r>
            <a:endParaRPr lang="en-US" sz="1000" dirty="0"/>
          </a:p>
        </p:txBody>
      </p:sp>
      <p:sp>
        <p:nvSpPr>
          <p:cNvPr id="8" name="Shape 6"/>
          <p:cNvSpPr/>
          <p:nvPr/>
        </p:nvSpPr>
        <p:spPr>
          <a:xfrm>
            <a:off x="731520" y="2103120"/>
            <a:ext cx="5212080" cy="2560320"/>
          </a:xfrm>
          <a:prstGeom prst="rect">
            <a:avLst/>
          </a:prstGeom>
          <a:solidFill>
            <a:srgbClr val="111827"/>
          </a:solidFill>
          <a:ln w="12700">
            <a:solidFill>
              <a:srgbClr val="1E293B"/>
            </a:solidFill>
            <a:prstDash val="solid"/>
          </a:ln>
        </p:spPr>
      </p:sp>
      <p:sp>
        <p:nvSpPr>
          <p:cNvPr id="9" name="Text 7"/>
          <p:cNvSpPr/>
          <p:nvPr/>
        </p:nvSpPr>
        <p:spPr>
          <a:xfrm>
            <a:off x="914400" y="2267712"/>
            <a:ext cx="4846320" cy="228600"/>
          </a:xfrm>
          <a:prstGeom prst="rect">
            <a:avLst/>
          </a:prstGeom>
          <a:noFill/>
          <a:ln/>
        </p:spPr>
        <p:txBody>
          <a:bodyPr wrap="square" rtlCol="0" anchor="ctr"/>
          <a:lstStyle/>
          <a:p>
            <a:pPr indent="0" marL="0">
              <a:buNone/>
            </a:pPr>
            <a:r>
              <a:rPr lang="en-US" sz="1050" b="1" spc="100" kern="0" dirty="0">
                <a:solidFill>
                  <a:srgbClr val="F8FAFC"/>
                </a:solidFill>
                <a:latin typeface="Calibri" pitchFamily="34" charset="0"/>
                <a:ea typeface="Calibri" pitchFamily="34" charset="-122"/>
                <a:cs typeface="Calibri" pitchFamily="34" charset="-120"/>
              </a:rPr>
              <a:t>GROUND TRUTH (REFERENCE LABEL)</a:t>
            </a:r>
            <a:endParaRPr lang="en-US" sz="1050" dirty="0"/>
          </a:p>
        </p:txBody>
      </p:sp>
      <p:sp>
        <p:nvSpPr>
          <p:cNvPr id="10" name="Text 8"/>
          <p:cNvSpPr/>
          <p:nvPr/>
        </p:nvSpPr>
        <p:spPr>
          <a:xfrm>
            <a:off x="914400" y="2834640"/>
            <a:ext cx="4846320" cy="1371600"/>
          </a:xfrm>
          <a:prstGeom prst="rect">
            <a:avLst/>
          </a:prstGeom>
          <a:noFill/>
          <a:ln/>
        </p:spPr>
        <p:txBody>
          <a:bodyPr wrap="square" rtlCol="0" anchor="ctr"/>
          <a:lstStyle/>
          <a:p>
            <a:pPr indent="0" marL="0">
              <a:buNone/>
            </a:pPr>
            <a:r>
              <a:rPr lang="en-US" sz="2000" b="1" dirty="0">
                <a:solidFill>
                  <a:srgbClr val="F8FAFC"/>
                </a:solidFill>
                <a:latin typeface="Calibri" pitchFamily="34" charset="0"/>
                <a:ea typeface="Calibri" pitchFamily="34" charset="-122"/>
                <a:cs typeface="Calibri" pitchFamily="34" charset="-120"/>
              </a:rPr>
              <a:t>"55%, 50%"</a:t>
            </a:r>
            <a:endParaRPr lang="en-US" sz="2000" dirty="0"/>
          </a:p>
        </p:txBody>
      </p:sp>
      <p:sp>
        <p:nvSpPr>
          <p:cNvPr id="11" name="Shape 9"/>
          <p:cNvSpPr/>
          <p:nvPr/>
        </p:nvSpPr>
        <p:spPr>
          <a:xfrm>
            <a:off x="6217920" y="2103120"/>
            <a:ext cx="5212080" cy="2560320"/>
          </a:xfrm>
          <a:prstGeom prst="rect">
            <a:avLst/>
          </a:prstGeom>
          <a:solidFill>
            <a:srgbClr val="162032"/>
          </a:solidFill>
          <a:ln w="12700">
            <a:solidFill>
              <a:srgbClr val="1E293B"/>
            </a:solidFill>
            <a:prstDash val="solid"/>
          </a:ln>
        </p:spPr>
      </p:sp>
      <p:sp>
        <p:nvSpPr>
          <p:cNvPr id="12" name="Text 10"/>
          <p:cNvSpPr/>
          <p:nvPr/>
        </p:nvSpPr>
        <p:spPr>
          <a:xfrm>
            <a:off x="6400800" y="2267712"/>
            <a:ext cx="4846320" cy="228600"/>
          </a:xfrm>
          <a:prstGeom prst="rect">
            <a:avLst/>
          </a:prstGeom>
          <a:noFill/>
          <a:ln/>
        </p:spPr>
        <p:txBody>
          <a:bodyPr wrap="square" rtlCol="0" anchor="ctr"/>
          <a:lstStyle/>
          <a:p>
            <a:pPr indent="0" marL="0">
              <a:buNone/>
            </a:pPr>
            <a:r>
              <a:rPr lang="en-US" sz="1050" b="1" spc="100" kern="0" dirty="0">
                <a:solidFill>
                  <a:srgbClr val="10B981"/>
                </a:solidFill>
                <a:latin typeface="Calibri" pitchFamily="34" charset="0"/>
                <a:ea typeface="Calibri" pitchFamily="34" charset="-122"/>
                <a:cs typeface="Calibri" pitchFamily="34" charset="-120"/>
              </a:rPr>
              <a:t>PIPELINE PREDICTION (FULL EXPLANATORY SENTENCE)</a:t>
            </a:r>
            <a:endParaRPr lang="en-US" sz="1050" dirty="0"/>
          </a:p>
        </p:txBody>
      </p:sp>
      <p:sp>
        <p:nvSpPr>
          <p:cNvPr id="13" name="Text 11"/>
          <p:cNvSpPr/>
          <p:nvPr/>
        </p:nvSpPr>
        <p:spPr>
          <a:xfrm>
            <a:off x="6400800" y="2834640"/>
            <a:ext cx="4846320" cy="1371600"/>
          </a:xfrm>
          <a:prstGeom prst="rect">
            <a:avLst/>
          </a:prstGeom>
          <a:noFill/>
          <a:ln/>
        </p:spPr>
        <p:txBody>
          <a:bodyPr wrap="square" rtlCol="0" anchor="ctr"/>
          <a:lstStyle/>
          <a:p>
            <a:pPr indent="0" marL="0">
              <a:buNone/>
            </a:pPr>
            <a:r>
              <a:rPr lang="en-US" sz="1300" dirty="0">
                <a:solidFill>
                  <a:srgbClr val="F8FAFC"/>
                </a:solidFill>
                <a:latin typeface="Calibri" pitchFamily="34" charset="0"/>
                <a:ea typeface="Calibri" pitchFamily="34" charset="-122"/>
                <a:cs typeface="Calibri" pitchFamily="34" charset="-120"/>
              </a:rPr>
              <a:t>"In 2017, the cost of revenue was 55% of revenue, and in 2018, it was 50% of revenue."</a:t>
            </a:r>
            <a:endParaRPr lang="en-US" sz="1300" dirty="0"/>
          </a:p>
        </p:txBody>
      </p:sp>
      <p:sp>
        <p:nvSpPr>
          <p:cNvPr id="14" name="Shape 12"/>
          <p:cNvSpPr/>
          <p:nvPr/>
        </p:nvSpPr>
        <p:spPr>
          <a:xfrm>
            <a:off x="731520" y="4800600"/>
            <a:ext cx="10698480" cy="1463040"/>
          </a:xfrm>
          <a:prstGeom prst="rect">
            <a:avLst/>
          </a:prstGeom>
          <a:solidFill>
            <a:srgbClr val="17140B"/>
          </a:solidFill>
          <a:ln w="15240">
            <a:solidFill>
              <a:srgbClr val="F59E0B"/>
            </a:solidFill>
            <a:prstDash val="solid"/>
          </a:ln>
        </p:spPr>
      </p:sp>
      <p:sp>
        <p:nvSpPr>
          <p:cNvPr id="15" name="Text 13"/>
          <p:cNvSpPr/>
          <p:nvPr/>
        </p:nvSpPr>
        <p:spPr>
          <a:xfrm>
            <a:off x="914400" y="49103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LLM JUDGE VERDICT: 1.00 / 1.00 (100% MATCH VIA CONTAINMENT BONUS)</a:t>
            </a:r>
            <a:endParaRPr lang="en-US" sz="1050" dirty="0"/>
          </a:p>
        </p:txBody>
      </p:sp>
      <p:sp>
        <p:nvSpPr>
          <p:cNvPr id="16" name="Text 14"/>
          <p:cNvSpPr/>
          <p:nvPr/>
        </p:nvSpPr>
        <p:spPr>
          <a:xfrm>
            <a:off x="914400" y="5166360"/>
            <a:ext cx="10332720" cy="10241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Architectural Breakthrough: Under legacy Exact Match, this answer was marked 0.0 purely because the model produced a complete sentence instead of two comma-separated tokens. Under continuous LLM evaluation with containment bonus, the model receives full 1.00 credit for a verified factual answer.</a:t>
            </a:r>
            <a:endParaRPr lang="en-US" sz="950" dirty="0"/>
          </a:p>
        </p:txBody>
      </p:sp>
      <p:sp>
        <p:nvSpPr>
          <p:cNvPr id="17" name="Text 15"/>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8" name="Text 16"/>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22 of 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V: QUALITATIVE Q&amp;A CASE STUDIES · CASE STUDY 5</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Distractor Robustness &amp; Negative Constraint Enforcement</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Shape 3"/>
          <p:cNvSpPr/>
          <p:nvPr/>
        </p:nvSpPr>
        <p:spPr>
          <a:xfrm>
            <a:off x="731520" y="1234440"/>
            <a:ext cx="10698480" cy="731520"/>
          </a:xfrm>
          <a:prstGeom prst="rect">
            <a:avLst/>
          </a:prstGeom>
          <a:solidFill>
            <a:srgbClr val="2A0808"/>
          </a:solidFill>
          <a:ln w="12700">
            <a:solidFill>
              <a:srgbClr val="EF4444"/>
            </a:solidFill>
            <a:prstDash val="solid"/>
          </a:ln>
        </p:spPr>
      </p:sp>
      <p:sp>
        <p:nvSpPr>
          <p:cNvPr id="6" name="Text 4"/>
          <p:cNvSpPr/>
          <p:nvPr/>
        </p:nvSpPr>
        <p:spPr>
          <a:xfrm>
            <a:off x="914400" y="1325880"/>
            <a:ext cx="10332720" cy="228600"/>
          </a:xfrm>
          <a:prstGeom prst="rect">
            <a:avLst/>
          </a:prstGeom>
          <a:noFill/>
          <a:ln/>
        </p:spPr>
        <p:txBody>
          <a:bodyPr wrap="square"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Document: Shree Steel Wire Ropes Ltd. BSE Filing · Query ID: unidoc_qa_0001 (Noise Distractor Test)</a:t>
            </a:r>
            <a:endParaRPr lang="en-US" sz="1000" dirty="0"/>
          </a:p>
        </p:txBody>
      </p:sp>
      <p:sp>
        <p:nvSpPr>
          <p:cNvPr id="7" name="Text 5"/>
          <p:cNvSpPr/>
          <p:nvPr/>
        </p:nvSpPr>
        <p:spPr>
          <a:xfrm>
            <a:off x="914400" y="1554480"/>
            <a:ext cx="10332720" cy="320040"/>
          </a:xfrm>
          <a:prstGeom prst="rect">
            <a:avLst/>
          </a:prstGeom>
          <a:noFill/>
          <a:ln/>
        </p:spPr>
        <p:txBody>
          <a:bodyPr wrap="square" rtlCol="0" anchor="ctr"/>
          <a:lstStyle/>
          <a:p>
            <a:pPr indent="0" marL="0">
              <a:buNone/>
            </a:pPr>
            <a:r>
              <a:rPr lang="en-US" sz="1000" i="1" dirty="0">
                <a:solidFill>
                  <a:srgbClr val="F8FAFC"/>
                </a:solidFill>
                <a:latin typeface="Calibri" pitchFamily="34" charset="0"/>
                <a:ea typeface="Calibri" pitchFamily="34" charset="-122"/>
                <a:cs typeface="Calibri" pitchFamily="34" charset="-120"/>
              </a:rPr>
              <a:t>Question: "How has the RIT Capital discount or premium rate changed in the years before May 2021, as noted by BSE Limited?"</a:t>
            </a:r>
            <a:endParaRPr lang="en-US" sz="1000" dirty="0"/>
          </a:p>
        </p:txBody>
      </p:sp>
      <p:sp>
        <p:nvSpPr>
          <p:cNvPr id="8" name="Shape 6"/>
          <p:cNvSpPr/>
          <p:nvPr/>
        </p:nvSpPr>
        <p:spPr>
          <a:xfrm>
            <a:off x="731520" y="2103120"/>
            <a:ext cx="5212080" cy="2560320"/>
          </a:xfrm>
          <a:prstGeom prst="rect">
            <a:avLst/>
          </a:prstGeom>
          <a:solidFill>
            <a:srgbClr val="111827"/>
          </a:solidFill>
          <a:ln w="12700">
            <a:solidFill>
              <a:srgbClr val="1E293B"/>
            </a:solidFill>
            <a:prstDash val="solid"/>
          </a:ln>
        </p:spPr>
      </p:sp>
      <p:sp>
        <p:nvSpPr>
          <p:cNvPr id="9" name="Text 7"/>
          <p:cNvSpPr/>
          <p:nvPr/>
        </p:nvSpPr>
        <p:spPr>
          <a:xfrm>
            <a:off x="914400" y="2267712"/>
            <a:ext cx="4846320" cy="228600"/>
          </a:xfrm>
          <a:prstGeom prst="rect">
            <a:avLst/>
          </a:prstGeom>
          <a:noFill/>
          <a:ln/>
        </p:spPr>
        <p:txBody>
          <a:bodyPr wrap="square" rtlCol="0" anchor="ctr"/>
          <a:lstStyle/>
          <a:p>
            <a:pPr indent="0" marL="0">
              <a:buNone/>
            </a:pPr>
            <a:r>
              <a:rPr lang="en-US" sz="1050" b="1" spc="100" kern="0" dirty="0">
                <a:solidFill>
                  <a:srgbClr val="F8FAFC"/>
                </a:solidFill>
                <a:latin typeface="Calibri" pitchFamily="34" charset="0"/>
                <a:ea typeface="Calibri" pitchFamily="34" charset="-122"/>
                <a:cs typeface="Calibri" pitchFamily="34" charset="-120"/>
              </a:rPr>
              <a:t>GROUND TRUTH (REFERENCE LABEL)</a:t>
            </a:r>
            <a:endParaRPr lang="en-US" sz="1050" dirty="0"/>
          </a:p>
        </p:txBody>
      </p:sp>
      <p:sp>
        <p:nvSpPr>
          <p:cNvPr id="10" name="Text 8"/>
          <p:cNvSpPr/>
          <p:nvPr/>
        </p:nvSpPr>
        <p:spPr>
          <a:xfrm>
            <a:off x="914400" y="2834640"/>
            <a:ext cx="4846320" cy="13716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"The trend shows fluctuations, with notable dips below -10% and peaks close to 10%."</a:t>
            </a:r>
            <a:endParaRPr lang="en-US" sz="1100" dirty="0"/>
          </a:p>
        </p:txBody>
      </p:sp>
      <p:sp>
        <p:nvSpPr>
          <p:cNvPr id="11" name="Shape 9"/>
          <p:cNvSpPr/>
          <p:nvPr/>
        </p:nvSpPr>
        <p:spPr>
          <a:xfrm>
            <a:off x="6217920" y="2103120"/>
            <a:ext cx="5212080" cy="2560320"/>
          </a:xfrm>
          <a:prstGeom prst="rect">
            <a:avLst/>
          </a:prstGeom>
          <a:solidFill>
            <a:srgbClr val="162032"/>
          </a:solidFill>
          <a:ln w="12700">
            <a:solidFill>
              <a:srgbClr val="1E293B"/>
            </a:solidFill>
            <a:prstDash val="solid"/>
          </a:ln>
        </p:spPr>
      </p:sp>
      <p:sp>
        <p:nvSpPr>
          <p:cNvPr id="12" name="Text 10"/>
          <p:cNvSpPr/>
          <p:nvPr/>
        </p:nvSpPr>
        <p:spPr>
          <a:xfrm>
            <a:off x="6400800" y="2267712"/>
            <a:ext cx="4846320" cy="228600"/>
          </a:xfrm>
          <a:prstGeom prst="rect">
            <a:avLst/>
          </a:prstGeom>
          <a:noFill/>
          <a:ln/>
        </p:spPr>
        <p:txBody>
          <a:bodyPr wrap="square" rtlCol="0" anchor="ctr"/>
          <a:lstStyle/>
          <a:p>
            <a:pPr indent="0" marL="0">
              <a:buNone/>
            </a:pPr>
            <a:r>
              <a:rPr lang="en-US" sz="1050" b="1" spc="100" kern="0" dirty="0">
                <a:solidFill>
                  <a:srgbClr val="EF4444"/>
                </a:solidFill>
                <a:latin typeface="Calibri" pitchFamily="34" charset="0"/>
                <a:ea typeface="Calibri" pitchFamily="34" charset="-122"/>
                <a:cs typeface="Calibri" pitchFamily="34" charset="-120"/>
              </a:rPr>
              <a:t>PIPELINE PREDICTION (REFUSAL / NO HALLUCINATION)</a:t>
            </a:r>
            <a:endParaRPr lang="en-US" sz="1050" dirty="0"/>
          </a:p>
        </p:txBody>
      </p:sp>
      <p:sp>
        <p:nvSpPr>
          <p:cNvPr id="13" name="Text 11"/>
          <p:cNvSpPr/>
          <p:nvPr/>
        </p:nvSpPr>
        <p:spPr>
          <a:xfrm>
            <a:off x="6400800" y="2834640"/>
            <a:ext cx="4846320" cy="1371600"/>
          </a:xfrm>
          <a:prstGeom prst="rect">
            <a:avLst/>
          </a:prstGeom>
          <a:noFill/>
          <a:ln/>
        </p:spPr>
        <p:txBody>
          <a:bodyPr wrap="square" rtlCol="0" anchor="ctr"/>
          <a:lstStyle/>
          <a:p>
            <a:pPr indent="0" marL="0">
              <a:buNone/>
            </a:pPr>
            <a:r>
              <a:rPr lang="en-US" sz="1100" dirty="0">
                <a:solidFill>
                  <a:srgbClr val="F8FAFC"/>
                </a:solidFill>
                <a:latin typeface="Calibri" pitchFamily="34" charset="0"/>
                <a:ea typeface="Calibri" pitchFamily="34" charset="-122"/>
                <a:cs typeface="Calibri" pitchFamily="34" charset="-120"/>
              </a:rPr>
              <a:t>"28"</a:t>
            </a:r>
            <a:endParaRPr lang="en-US" sz="1100" dirty="0"/>
          </a:p>
          <a:p>
            <a:pPr indent="0" marL="0">
              <a:buNone/>
            </a:pPr>
            <a:r>
              <a:rPr lang="en-US" sz="1100" dirty="0">
                <a:solidFill>
                  <a:srgbClr val="F8FAFC"/>
                </a:solidFill>
                <a:latin typeface="Calibri" pitchFamily="34" charset="0"/>
                <a:ea typeface="Calibri" pitchFamily="34" charset="-122"/>
                <a:cs typeface="Calibri" pitchFamily="34" charset="-120"/>
              </a:rPr>
              <a:t>(Pipeline halted; no RIT Capital financial metrics exist in steel wire rope document)</a:t>
            </a:r>
            <a:endParaRPr lang="en-US" sz="1100" dirty="0"/>
          </a:p>
        </p:txBody>
      </p:sp>
      <p:sp>
        <p:nvSpPr>
          <p:cNvPr id="14" name="Shape 12"/>
          <p:cNvSpPr/>
          <p:nvPr/>
        </p:nvSpPr>
        <p:spPr>
          <a:xfrm>
            <a:off x="731520" y="4800600"/>
            <a:ext cx="10698480" cy="1463040"/>
          </a:xfrm>
          <a:prstGeom prst="rect">
            <a:avLst/>
          </a:prstGeom>
          <a:solidFill>
            <a:srgbClr val="17140B"/>
          </a:solidFill>
          <a:ln w="15240">
            <a:solidFill>
              <a:srgbClr val="F59E0B"/>
            </a:solidFill>
            <a:prstDash val="solid"/>
          </a:ln>
        </p:spPr>
      </p:sp>
      <p:sp>
        <p:nvSpPr>
          <p:cNvPr id="15" name="Text 13"/>
          <p:cNvSpPr/>
          <p:nvPr/>
        </p:nvSpPr>
        <p:spPr>
          <a:xfrm>
            <a:off x="914400" y="4910328"/>
            <a:ext cx="10332720" cy="256032"/>
          </a:xfrm>
          <a:prstGeom prst="rect">
            <a:avLst/>
          </a:prstGeom>
          <a:noFill/>
          <a:ln/>
        </p:spPr>
        <p:txBody>
          <a:bodyPr wrap="square" rtlCol="0" anchor="ctr"/>
          <a:lstStyle/>
          <a:p>
            <a:pPr indent="0" marL="0">
              <a:buNone/>
            </a:pPr>
            <a:r>
              <a:rPr lang="en-US" sz="1050" b="1" spc="100" kern="0" dirty="0">
                <a:solidFill>
                  <a:srgbClr val="F59E0B"/>
                </a:solidFill>
                <a:latin typeface="Calibri" pitchFamily="34" charset="0"/>
                <a:ea typeface="Calibri" pitchFamily="34" charset="-122"/>
                <a:cs typeface="Calibri" pitchFamily="34" charset="-120"/>
              </a:rPr>
              <a:t>💡 LLM JUDGE SCORE: 0.20 / 1.00 · PRESERVING DISTRACTOR TO PREVENT ARTIFICIAL SATURATION</a:t>
            </a:r>
            <a:endParaRPr lang="en-US" sz="1050" dirty="0"/>
          </a:p>
        </p:txBody>
      </p:sp>
      <p:sp>
        <p:nvSpPr>
          <p:cNvPr id="16" name="Text 14"/>
          <p:cNvSpPr/>
          <p:nvPr/>
        </p:nvSpPr>
        <p:spPr>
          <a:xfrm>
            <a:off x="914400" y="5166360"/>
            <a:ext cx="10332720" cy="1024128"/>
          </a:xfrm>
          <a:prstGeom prst="rect">
            <a:avLst/>
          </a:prstGeom>
          <a:noFill/>
          <a:ln/>
        </p:spPr>
        <p:txBody>
          <a:bodyPr wrap="square" rtlCol="0" anchor="ctr"/>
          <a:lstStyle/>
          <a:p>
            <a:pPr indent="0" marL="0">
              <a:buNone/>
            </a:pPr>
            <a:r>
              <a:rPr lang="en-US" sz="950" dirty="0">
                <a:solidFill>
                  <a:srgbClr val="FDE68A"/>
                </a:solidFill>
                <a:latin typeface="Calibri" pitchFamily="34" charset="0"/>
                <a:ea typeface="Calibri" pitchFamily="34" charset="-122"/>
                <a:cs typeface="Calibri" pitchFamily="34" charset="-120"/>
              </a:rPr>
              <a:t>Architectural Significance: The benchmark deliberately pairs an RIT Capital question with an unrelated steel manufacturer document. Rather than hallucinating plausible-sounding investment rates, our pipeline safely halted. We intentionally retain this test case to verify real-world noise resilience.</a:t>
            </a:r>
            <a:endParaRPr lang="en-US" sz="950" dirty="0"/>
          </a:p>
        </p:txBody>
      </p:sp>
      <p:sp>
        <p:nvSpPr>
          <p:cNvPr id="17" name="Text 15"/>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18" name="Text 16"/>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23 of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0D1A"/>
        </a:solidFill>
      </p:bgPr>
    </p:bg>
    <p:spTree>
      <p:nvGrpSpPr>
        <p:cNvPr id="1" name=""/>
        <p:cNvGrpSpPr/>
        <p:nvPr/>
      </p:nvGrpSpPr>
      <p:grpSpPr>
        <a:xfrm>
          <a:off x="0" y="0"/>
          <a:ext cx="0" cy="0"/>
          <a:chOff x="0" y="0"/>
          <a:chExt cx="0" cy="0"/>
        </a:xfrm>
      </p:grpSpPr>
      <p:sp>
        <p:nvSpPr>
          <p:cNvPr id="2" name="Text 0"/>
          <p:cNvSpPr/>
          <p:nvPr/>
        </p:nvSpPr>
        <p:spPr>
          <a:xfrm>
            <a:off x="731520" y="320040"/>
            <a:ext cx="10698480" cy="274320"/>
          </a:xfrm>
          <a:prstGeom prst="rect">
            <a:avLst/>
          </a:prstGeom>
          <a:noFill/>
          <a:ln/>
        </p:spPr>
        <p:txBody>
          <a:bodyPr wrap="square"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PART VI: ENTERPRISE SCALING &amp; FUTURE ARCHITECTURE</a:t>
            </a:r>
            <a:endParaRPr lang="en-US" sz="1000" dirty="0"/>
          </a:p>
        </p:txBody>
      </p:sp>
      <p:sp>
        <p:nvSpPr>
          <p:cNvPr id="3" name="Text 1"/>
          <p:cNvSpPr/>
          <p:nvPr/>
        </p:nvSpPr>
        <p:spPr>
          <a:xfrm>
            <a:off x="731520" y="594360"/>
            <a:ext cx="10698480" cy="502920"/>
          </a:xfrm>
          <a:prstGeom prst="rect">
            <a:avLst/>
          </a:prstGeom>
          <a:noFill/>
          <a:ln/>
        </p:spPr>
        <p:txBody>
          <a:bodyPr wrap="square" rtlCol="0" anchor="ctr"/>
          <a:lstStyle/>
          <a:p>
            <a:pPr indent="0" marL="0">
              <a:buNone/>
            </a:pPr>
            <a:r>
              <a:rPr lang="en-US" sz="2100" b="1" dirty="0">
                <a:solidFill>
                  <a:srgbClr val="F8FAFC"/>
                </a:solidFill>
                <a:latin typeface="Calibri" pitchFamily="34" charset="0"/>
                <a:ea typeface="Calibri" pitchFamily="34" charset="-122"/>
                <a:cs typeface="Calibri" pitchFamily="34" charset="-120"/>
              </a:rPr>
              <a:t>Enterprise Scaling Architecture: Distributed Production Proposal</a:t>
            </a:r>
            <a:endParaRPr lang="en-US" sz="2100" dirty="0"/>
          </a:p>
        </p:txBody>
      </p:sp>
      <p:sp>
        <p:nvSpPr>
          <p:cNvPr id="4" name="Shape 2"/>
          <p:cNvSpPr/>
          <p:nvPr/>
        </p:nvSpPr>
        <p:spPr>
          <a:xfrm>
            <a:off x="731520" y="1115568"/>
            <a:ext cx="10698480" cy="18288"/>
          </a:xfrm>
          <a:prstGeom prst="rect">
            <a:avLst/>
          </a:prstGeom>
          <a:solidFill>
            <a:srgbClr val="1E293B"/>
          </a:solidFill>
          <a:ln w="12700">
            <a:solidFill>
              <a:srgbClr val="1E293B"/>
            </a:solidFill>
            <a:prstDash val="solid"/>
          </a:ln>
        </p:spPr>
      </p:sp>
      <p:sp>
        <p:nvSpPr>
          <p:cNvPr id="5" name="Text 3"/>
          <p:cNvSpPr/>
          <p:nvPr/>
        </p:nvSpPr>
        <p:spPr>
          <a:xfrm>
            <a:off x="731520" y="1234440"/>
            <a:ext cx="106984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Our Architectural Blueprint for Scaling Document Understanding to Millions of Pages per Day:</a:t>
            </a:r>
            <a:endParaRPr lang="en-US" sz="1050" dirty="0"/>
          </a:p>
        </p:txBody>
      </p:sp>
      <p:sp>
        <p:nvSpPr>
          <p:cNvPr id="6" name="Shape 4"/>
          <p:cNvSpPr/>
          <p:nvPr/>
        </p:nvSpPr>
        <p:spPr>
          <a:xfrm>
            <a:off x="731520" y="1600200"/>
            <a:ext cx="3474720" cy="2148840"/>
          </a:xfrm>
          <a:prstGeom prst="rect">
            <a:avLst/>
          </a:prstGeom>
          <a:solidFill>
            <a:srgbClr val="111827"/>
          </a:solidFill>
          <a:ln w="12700">
            <a:solidFill>
              <a:srgbClr val="1E293B"/>
            </a:solidFill>
            <a:prstDash val="solid"/>
          </a:ln>
        </p:spPr>
      </p:sp>
      <p:sp>
        <p:nvSpPr>
          <p:cNvPr id="7" name="Shape 5"/>
          <p:cNvSpPr/>
          <p:nvPr/>
        </p:nvSpPr>
        <p:spPr>
          <a:xfrm>
            <a:off x="914400" y="1764792"/>
            <a:ext cx="438912" cy="438912"/>
          </a:xfrm>
          <a:prstGeom prst="rect">
            <a:avLst/>
          </a:prstGeom>
          <a:solidFill>
            <a:srgbClr val="2563EB"/>
          </a:solidFill>
          <a:ln w="12700">
            <a:solidFill>
              <a:srgbClr val="2563EB"/>
            </a:solidFill>
            <a:prstDash val="solid"/>
          </a:ln>
        </p:spPr>
      </p:sp>
      <p:sp>
        <p:nvSpPr>
          <p:cNvPr id="8" name="Text 6"/>
          <p:cNvSpPr/>
          <p:nvPr/>
        </p:nvSpPr>
        <p:spPr>
          <a:xfrm>
            <a:off x="914400" y="1764792"/>
            <a:ext cx="438912" cy="438912"/>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1444752" y="1737360"/>
            <a:ext cx="2606040" cy="256032"/>
          </a:xfrm>
          <a:prstGeom prst="rect">
            <a:avLst/>
          </a:prstGeom>
          <a:noFill/>
          <a:ln/>
        </p:spPr>
        <p:txBody>
          <a:bodyPr wrap="square"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FastAPI Async Gateway</a:t>
            </a:r>
            <a:endParaRPr lang="en-US" sz="1050" dirty="0"/>
          </a:p>
        </p:txBody>
      </p:sp>
      <p:sp>
        <p:nvSpPr>
          <p:cNvPr id="10" name="Text 8"/>
          <p:cNvSpPr/>
          <p:nvPr/>
        </p:nvSpPr>
        <p:spPr>
          <a:xfrm>
            <a:off x="1444752" y="1984248"/>
            <a:ext cx="2606040" cy="201168"/>
          </a:xfrm>
          <a:prstGeom prst="rect">
            <a:avLst/>
          </a:prstGeom>
          <a:noFill/>
          <a:ln/>
        </p:spPr>
        <p:txBody>
          <a:bodyPr wrap="square" rtlCol="0" anchor="ctr"/>
          <a:lstStyle/>
          <a:p>
            <a:pPr indent="0" marL="0">
              <a:buNone/>
            </a:pPr>
            <a:r>
              <a:rPr lang="en-US" sz="850" b="1" dirty="0">
                <a:solidFill>
                  <a:srgbClr val="38BDF8"/>
                </a:solidFill>
                <a:latin typeface="Calibri" pitchFamily="34" charset="0"/>
                <a:ea typeface="Calibri" pitchFamily="34" charset="-122"/>
                <a:cs typeface="Calibri" pitchFamily="34" charset="-120"/>
              </a:rPr>
              <a:t>Async Python / SSE Streaming</a:t>
            </a:r>
            <a:endParaRPr lang="en-US" sz="850" dirty="0"/>
          </a:p>
        </p:txBody>
      </p:sp>
      <p:sp>
        <p:nvSpPr>
          <p:cNvPr id="11" name="Text 9"/>
          <p:cNvSpPr/>
          <p:nvPr/>
        </p:nvSpPr>
        <p:spPr>
          <a:xfrm>
            <a:off x="914400" y="2258568"/>
            <a:ext cx="3108960" cy="137160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High-throughput REST API with JWT authentication &amp; rate limiting.</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Server-Sent Events (SSE) stream BBox coordinates progressively.</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Automatic request batching and circuit breaker fallbacks.</a:t>
            </a:r>
            <a:endParaRPr lang="en-US" sz="850" dirty="0"/>
          </a:p>
        </p:txBody>
      </p:sp>
      <p:sp>
        <p:nvSpPr>
          <p:cNvPr id="12" name="Shape 10"/>
          <p:cNvSpPr/>
          <p:nvPr/>
        </p:nvSpPr>
        <p:spPr>
          <a:xfrm>
            <a:off x="4343400" y="1600200"/>
            <a:ext cx="3474720" cy="2148840"/>
          </a:xfrm>
          <a:prstGeom prst="rect">
            <a:avLst/>
          </a:prstGeom>
          <a:solidFill>
            <a:srgbClr val="111827"/>
          </a:solidFill>
          <a:ln w="12700">
            <a:solidFill>
              <a:srgbClr val="1E293B"/>
            </a:solidFill>
            <a:prstDash val="solid"/>
          </a:ln>
        </p:spPr>
      </p:sp>
      <p:sp>
        <p:nvSpPr>
          <p:cNvPr id="13" name="Shape 11"/>
          <p:cNvSpPr/>
          <p:nvPr/>
        </p:nvSpPr>
        <p:spPr>
          <a:xfrm>
            <a:off x="4526280" y="1764792"/>
            <a:ext cx="438912" cy="438912"/>
          </a:xfrm>
          <a:prstGeom prst="rect">
            <a:avLst/>
          </a:prstGeom>
          <a:solidFill>
            <a:srgbClr val="2563EB"/>
          </a:solidFill>
          <a:ln w="12700">
            <a:solidFill>
              <a:srgbClr val="2563EB"/>
            </a:solidFill>
            <a:prstDash val="solid"/>
          </a:ln>
        </p:spPr>
      </p:sp>
      <p:sp>
        <p:nvSpPr>
          <p:cNvPr id="14" name="Text 12"/>
          <p:cNvSpPr/>
          <p:nvPr/>
        </p:nvSpPr>
        <p:spPr>
          <a:xfrm>
            <a:off x="4526280" y="1764792"/>
            <a:ext cx="438912" cy="438912"/>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02</a:t>
            </a:r>
            <a:endParaRPr lang="en-US" sz="1100" dirty="0"/>
          </a:p>
        </p:txBody>
      </p:sp>
      <p:sp>
        <p:nvSpPr>
          <p:cNvPr id="15" name="Text 13"/>
          <p:cNvSpPr/>
          <p:nvPr/>
        </p:nvSpPr>
        <p:spPr>
          <a:xfrm>
            <a:off x="5056632" y="1737360"/>
            <a:ext cx="2606040" cy="256032"/>
          </a:xfrm>
          <a:prstGeom prst="rect">
            <a:avLst/>
          </a:prstGeom>
          <a:noFill/>
          <a:ln/>
        </p:spPr>
        <p:txBody>
          <a:bodyPr wrap="square"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Apache Kafka Event Bus</a:t>
            </a:r>
            <a:endParaRPr lang="en-US" sz="1050" dirty="0"/>
          </a:p>
        </p:txBody>
      </p:sp>
      <p:sp>
        <p:nvSpPr>
          <p:cNvPr id="16" name="Text 14"/>
          <p:cNvSpPr/>
          <p:nvPr/>
        </p:nvSpPr>
        <p:spPr>
          <a:xfrm>
            <a:off x="5056632" y="1984248"/>
            <a:ext cx="2606040" cy="201168"/>
          </a:xfrm>
          <a:prstGeom prst="rect">
            <a:avLst/>
          </a:prstGeom>
          <a:noFill/>
          <a:ln/>
        </p:spPr>
        <p:txBody>
          <a:bodyPr wrap="square" rtlCol="0" anchor="ctr"/>
          <a:lstStyle/>
          <a:p>
            <a:pPr indent="0" marL="0">
              <a:buNone/>
            </a:pPr>
            <a:r>
              <a:rPr lang="en-US" sz="850" b="1" dirty="0">
                <a:solidFill>
                  <a:srgbClr val="38BDF8"/>
                </a:solidFill>
                <a:latin typeface="Calibri" pitchFamily="34" charset="0"/>
                <a:ea typeface="Calibri" pitchFamily="34" charset="-122"/>
                <a:cs typeface="Calibri" pitchFamily="34" charset="-120"/>
              </a:rPr>
              <a:t>Distributed Message Broker</a:t>
            </a:r>
            <a:endParaRPr lang="en-US" sz="850" dirty="0"/>
          </a:p>
        </p:txBody>
      </p:sp>
      <p:sp>
        <p:nvSpPr>
          <p:cNvPr id="17" name="Text 15"/>
          <p:cNvSpPr/>
          <p:nvPr/>
        </p:nvSpPr>
        <p:spPr>
          <a:xfrm>
            <a:off x="4526280" y="2258568"/>
            <a:ext cx="3108960" cy="137160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Ingestion topic partitions high-volume PDF uploads.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Guarantees zero document loss during ingestion spikes.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Decouples heavy layout segmentation from user-facing APIs.</a:t>
            </a:r>
            <a:endParaRPr lang="en-US" sz="850" dirty="0"/>
          </a:p>
        </p:txBody>
      </p:sp>
      <p:sp>
        <p:nvSpPr>
          <p:cNvPr id="18" name="Shape 16"/>
          <p:cNvSpPr/>
          <p:nvPr/>
        </p:nvSpPr>
        <p:spPr>
          <a:xfrm>
            <a:off x="7955280" y="1600200"/>
            <a:ext cx="3474720" cy="2148840"/>
          </a:xfrm>
          <a:prstGeom prst="rect">
            <a:avLst/>
          </a:prstGeom>
          <a:solidFill>
            <a:srgbClr val="111827"/>
          </a:solidFill>
          <a:ln w="12700">
            <a:solidFill>
              <a:srgbClr val="1E293B"/>
            </a:solidFill>
            <a:prstDash val="solid"/>
          </a:ln>
        </p:spPr>
      </p:sp>
      <p:sp>
        <p:nvSpPr>
          <p:cNvPr id="19" name="Shape 17"/>
          <p:cNvSpPr/>
          <p:nvPr/>
        </p:nvSpPr>
        <p:spPr>
          <a:xfrm>
            <a:off x="8138160" y="1764792"/>
            <a:ext cx="438912" cy="438912"/>
          </a:xfrm>
          <a:prstGeom prst="rect">
            <a:avLst/>
          </a:prstGeom>
          <a:solidFill>
            <a:srgbClr val="2563EB"/>
          </a:solidFill>
          <a:ln w="12700">
            <a:solidFill>
              <a:srgbClr val="2563EB"/>
            </a:solidFill>
            <a:prstDash val="solid"/>
          </a:ln>
        </p:spPr>
      </p:sp>
      <p:sp>
        <p:nvSpPr>
          <p:cNvPr id="20" name="Text 18"/>
          <p:cNvSpPr/>
          <p:nvPr/>
        </p:nvSpPr>
        <p:spPr>
          <a:xfrm>
            <a:off x="8138160" y="1764792"/>
            <a:ext cx="438912" cy="438912"/>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8668512" y="1737360"/>
            <a:ext cx="2606040" cy="256032"/>
          </a:xfrm>
          <a:prstGeom prst="rect">
            <a:avLst/>
          </a:prstGeom>
          <a:noFill/>
          <a:ln/>
        </p:spPr>
        <p:txBody>
          <a:bodyPr wrap="square"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Celery + Redis Worker Pools</a:t>
            </a:r>
            <a:endParaRPr lang="en-US" sz="1050" dirty="0"/>
          </a:p>
        </p:txBody>
      </p:sp>
      <p:sp>
        <p:nvSpPr>
          <p:cNvPr id="22" name="Text 20"/>
          <p:cNvSpPr/>
          <p:nvPr/>
        </p:nvSpPr>
        <p:spPr>
          <a:xfrm>
            <a:off x="8668512" y="1984248"/>
            <a:ext cx="2606040" cy="201168"/>
          </a:xfrm>
          <a:prstGeom prst="rect">
            <a:avLst/>
          </a:prstGeom>
          <a:noFill/>
          <a:ln/>
        </p:spPr>
        <p:txBody>
          <a:bodyPr wrap="square" rtlCol="0" anchor="ctr"/>
          <a:lstStyle/>
          <a:p>
            <a:pPr indent="0" marL="0">
              <a:buNone/>
            </a:pPr>
            <a:r>
              <a:rPr lang="en-US" sz="850" b="1" dirty="0">
                <a:solidFill>
                  <a:srgbClr val="38BDF8"/>
                </a:solidFill>
                <a:latin typeface="Calibri" pitchFamily="34" charset="0"/>
                <a:ea typeface="Calibri" pitchFamily="34" charset="-122"/>
                <a:cs typeface="Calibri" pitchFamily="34" charset="-120"/>
              </a:rPr>
              <a:t>Distributed Task Execution</a:t>
            </a:r>
            <a:endParaRPr lang="en-US" sz="850" dirty="0"/>
          </a:p>
        </p:txBody>
      </p:sp>
      <p:sp>
        <p:nvSpPr>
          <p:cNvPr id="23" name="Text 21"/>
          <p:cNvSpPr/>
          <p:nvPr/>
        </p:nvSpPr>
        <p:spPr>
          <a:xfrm>
            <a:off x="8138160" y="2258568"/>
            <a:ext cx="3108960" cy="137160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Horizontally scalable worker nodes execute OCR and table recovery.</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Priority queues for urgent client SLA documents.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Redis handles state caching and temporary job tracking.</a:t>
            </a:r>
            <a:endParaRPr lang="en-US" sz="850" dirty="0"/>
          </a:p>
        </p:txBody>
      </p:sp>
      <p:sp>
        <p:nvSpPr>
          <p:cNvPr id="24" name="Shape 22"/>
          <p:cNvSpPr/>
          <p:nvPr/>
        </p:nvSpPr>
        <p:spPr>
          <a:xfrm>
            <a:off x="731520" y="3931920"/>
            <a:ext cx="3474720" cy="2148840"/>
          </a:xfrm>
          <a:prstGeom prst="rect">
            <a:avLst/>
          </a:prstGeom>
          <a:solidFill>
            <a:srgbClr val="111827"/>
          </a:solidFill>
          <a:ln w="12700">
            <a:solidFill>
              <a:srgbClr val="1E293B"/>
            </a:solidFill>
            <a:prstDash val="solid"/>
          </a:ln>
        </p:spPr>
      </p:sp>
      <p:sp>
        <p:nvSpPr>
          <p:cNvPr id="25" name="Shape 23"/>
          <p:cNvSpPr/>
          <p:nvPr/>
        </p:nvSpPr>
        <p:spPr>
          <a:xfrm>
            <a:off x="914400" y="4096512"/>
            <a:ext cx="438912" cy="438912"/>
          </a:xfrm>
          <a:prstGeom prst="rect">
            <a:avLst/>
          </a:prstGeom>
          <a:solidFill>
            <a:srgbClr val="2563EB"/>
          </a:solidFill>
          <a:ln w="12700">
            <a:solidFill>
              <a:srgbClr val="2563EB"/>
            </a:solidFill>
            <a:prstDash val="solid"/>
          </a:ln>
        </p:spPr>
      </p:sp>
      <p:sp>
        <p:nvSpPr>
          <p:cNvPr id="26" name="Text 24"/>
          <p:cNvSpPr/>
          <p:nvPr/>
        </p:nvSpPr>
        <p:spPr>
          <a:xfrm>
            <a:off x="914400" y="4096512"/>
            <a:ext cx="438912" cy="438912"/>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04</a:t>
            </a:r>
            <a:endParaRPr lang="en-US" sz="1100" dirty="0"/>
          </a:p>
        </p:txBody>
      </p:sp>
      <p:sp>
        <p:nvSpPr>
          <p:cNvPr id="27" name="Text 25"/>
          <p:cNvSpPr/>
          <p:nvPr/>
        </p:nvSpPr>
        <p:spPr>
          <a:xfrm>
            <a:off x="1444752" y="4069080"/>
            <a:ext cx="2606040" cy="256032"/>
          </a:xfrm>
          <a:prstGeom prst="rect">
            <a:avLst/>
          </a:prstGeom>
          <a:noFill/>
          <a:ln/>
        </p:spPr>
        <p:txBody>
          <a:bodyPr wrap="square"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Billion-Scale Vector DB</a:t>
            </a:r>
            <a:endParaRPr lang="en-US" sz="1050" dirty="0"/>
          </a:p>
        </p:txBody>
      </p:sp>
      <p:sp>
        <p:nvSpPr>
          <p:cNvPr id="28" name="Text 26"/>
          <p:cNvSpPr/>
          <p:nvPr/>
        </p:nvSpPr>
        <p:spPr>
          <a:xfrm>
            <a:off x="1444752" y="4315968"/>
            <a:ext cx="2606040" cy="201168"/>
          </a:xfrm>
          <a:prstGeom prst="rect">
            <a:avLst/>
          </a:prstGeom>
          <a:noFill/>
          <a:ln/>
        </p:spPr>
        <p:txBody>
          <a:bodyPr wrap="square" rtlCol="0" anchor="ctr"/>
          <a:lstStyle/>
          <a:p>
            <a:pPr indent="0" marL="0">
              <a:buNone/>
            </a:pPr>
            <a:r>
              <a:rPr lang="en-US" sz="850" b="1" dirty="0">
                <a:solidFill>
                  <a:srgbClr val="38BDF8"/>
                </a:solidFill>
                <a:latin typeface="Calibri" pitchFamily="34" charset="0"/>
                <a:ea typeface="Calibri" pitchFamily="34" charset="-122"/>
                <a:cs typeface="Calibri" pitchFamily="34" charset="-120"/>
              </a:rPr>
              <a:t>Milvus / Qdrant Distributed</a:t>
            </a:r>
            <a:endParaRPr lang="en-US" sz="850" dirty="0"/>
          </a:p>
        </p:txBody>
      </p:sp>
      <p:sp>
        <p:nvSpPr>
          <p:cNvPr id="29" name="Text 27"/>
          <p:cNvSpPr/>
          <p:nvPr/>
        </p:nvSpPr>
        <p:spPr>
          <a:xfrm>
            <a:off x="914400" y="4590288"/>
            <a:ext cx="3108960" cy="137160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Sharded HNSW vector indexing across dense BGE-M3 representations.</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Metadata filtering by organization, date, and document type.</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Hybrid search with sub-50ms vector query execution.</a:t>
            </a:r>
            <a:endParaRPr lang="en-US" sz="850" dirty="0"/>
          </a:p>
        </p:txBody>
      </p:sp>
      <p:sp>
        <p:nvSpPr>
          <p:cNvPr id="30" name="Shape 28"/>
          <p:cNvSpPr/>
          <p:nvPr/>
        </p:nvSpPr>
        <p:spPr>
          <a:xfrm>
            <a:off x="4343400" y="3931920"/>
            <a:ext cx="3474720" cy="2148840"/>
          </a:xfrm>
          <a:prstGeom prst="rect">
            <a:avLst/>
          </a:prstGeom>
          <a:solidFill>
            <a:srgbClr val="111827"/>
          </a:solidFill>
          <a:ln w="12700">
            <a:solidFill>
              <a:srgbClr val="1E293B"/>
            </a:solidFill>
            <a:prstDash val="solid"/>
          </a:ln>
        </p:spPr>
      </p:sp>
      <p:sp>
        <p:nvSpPr>
          <p:cNvPr id="31" name="Shape 29"/>
          <p:cNvSpPr/>
          <p:nvPr/>
        </p:nvSpPr>
        <p:spPr>
          <a:xfrm>
            <a:off x="4526280" y="4096512"/>
            <a:ext cx="438912" cy="438912"/>
          </a:xfrm>
          <a:prstGeom prst="rect">
            <a:avLst/>
          </a:prstGeom>
          <a:solidFill>
            <a:srgbClr val="2563EB"/>
          </a:solidFill>
          <a:ln w="12700">
            <a:solidFill>
              <a:srgbClr val="2563EB"/>
            </a:solidFill>
            <a:prstDash val="solid"/>
          </a:ln>
        </p:spPr>
      </p:sp>
      <p:sp>
        <p:nvSpPr>
          <p:cNvPr id="32" name="Text 30"/>
          <p:cNvSpPr/>
          <p:nvPr/>
        </p:nvSpPr>
        <p:spPr>
          <a:xfrm>
            <a:off x="4526280" y="4096512"/>
            <a:ext cx="438912" cy="438912"/>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05</a:t>
            </a:r>
            <a:endParaRPr lang="en-US" sz="1100" dirty="0"/>
          </a:p>
        </p:txBody>
      </p:sp>
      <p:sp>
        <p:nvSpPr>
          <p:cNvPr id="33" name="Text 31"/>
          <p:cNvSpPr/>
          <p:nvPr/>
        </p:nvSpPr>
        <p:spPr>
          <a:xfrm>
            <a:off x="5056632" y="4069080"/>
            <a:ext cx="2606040" cy="256032"/>
          </a:xfrm>
          <a:prstGeom prst="rect">
            <a:avLst/>
          </a:prstGeom>
          <a:noFill/>
          <a:ln/>
        </p:spPr>
        <p:txBody>
          <a:bodyPr wrap="square"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Kubernetes (K8s) Cluster</a:t>
            </a:r>
            <a:endParaRPr lang="en-US" sz="1050" dirty="0"/>
          </a:p>
        </p:txBody>
      </p:sp>
      <p:sp>
        <p:nvSpPr>
          <p:cNvPr id="34" name="Text 32"/>
          <p:cNvSpPr/>
          <p:nvPr/>
        </p:nvSpPr>
        <p:spPr>
          <a:xfrm>
            <a:off x="5056632" y="4315968"/>
            <a:ext cx="2606040" cy="201168"/>
          </a:xfrm>
          <a:prstGeom prst="rect">
            <a:avLst/>
          </a:prstGeom>
          <a:noFill/>
          <a:ln/>
        </p:spPr>
        <p:txBody>
          <a:bodyPr wrap="square" rtlCol="0" anchor="ctr"/>
          <a:lstStyle/>
          <a:p>
            <a:pPr indent="0" marL="0">
              <a:buNone/>
            </a:pPr>
            <a:r>
              <a:rPr lang="en-US" sz="850" b="1" dirty="0">
                <a:solidFill>
                  <a:srgbClr val="38BDF8"/>
                </a:solidFill>
                <a:latin typeface="Calibri" pitchFamily="34" charset="0"/>
                <a:ea typeface="Calibri" pitchFamily="34" charset="-122"/>
                <a:cs typeface="Calibri" pitchFamily="34" charset="-120"/>
              </a:rPr>
              <a:t>Container Orchestration &amp; KEDA</a:t>
            </a:r>
            <a:endParaRPr lang="en-US" sz="850" dirty="0"/>
          </a:p>
        </p:txBody>
      </p:sp>
      <p:sp>
        <p:nvSpPr>
          <p:cNvPr id="35" name="Text 33"/>
          <p:cNvSpPr/>
          <p:nvPr/>
        </p:nvSpPr>
        <p:spPr>
          <a:xfrm>
            <a:off x="4526280" y="4590288"/>
            <a:ext cx="3108960" cy="137160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Auto-scales GPU worker pods (NVIDIA T4 / A10G) based on Kafka queue lag.</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Isolated namespaces for tenant security and zero noisy-neighbor drift.</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Production rolling updates with zero downtime.</a:t>
            </a:r>
            <a:endParaRPr lang="en-US" sz="850" dirty="0"/>
          </a:p>
        </p:txBody>
      </p:sp>
      <p:sp>
        <p:nvSpPr>
          <p:cNvPr id="36" name="Shape 34"/>
          <p:cNvSpPr/>
          <p:nvPr/>
        </p:nvSpPr>
        <p:spPr>
          <a:xfrm>
            <a:off x="7955280" y="3931920"/>
            <a:ext cx="3474720" cy="2148840"/>
          </a:xfrm>
          <a:prstGeom prst="rect">
            <a:avLst/>
          </a:prstGeom>
          <a:solidFill>
            <a:srgbClr val="111827"/>
          </a:solidFill>
          <a:ln w="12700">
            <a:solidFill>
              <a:srgbClr val="1E293B"/>
            </a:solidFill>
            <a:prstDash val="solid"/>
          </a:ln>
        </p:spPr>
      </p:sp>
      <p:sp>
        <p:nvSpPr>
          <p:cNvPr id="37" name="Shape 35"/>
          <p:cNvSpPr/>
          <p:nvPr/>
        </p:nvSpPr>
        <p:spPr>
          <a:xfrm>
            <a:off x="8138160" y="4096512"/>
            <a:ext cx="438912" cy="438912"/>
          </a:xfrm>
          <a:prstGeom prst="rect">
            <a:avLst/>
          </a:prstGeom>
          <a:solidFill>
            <a:srgbClr val="2563EB"/>
          </a:solidFill>
          <a:ln w="12700">
            <a:solidFill>
              <a:srgbClr val="2563EB"/>
            </a:solidFill>
            <a:prstDash val="solid"/>
          </a:ln>
        </p:spPr>
      </p:sp>
      <p:sp>
        <p:nvSpPr>
          <p:cNvPr id="38" name="Text 36"/>
          <p:cNvSpPr/>
          <p:nvPr/>
        </p:nvSpPr>
        <p:spPr>
          <a:xfrm>
            <a:off x="8138160" y="4096512"/>
            <a:ext cx="438912" cy="438912"/>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06</a:t>
            </a:r>
            <a:endParaRPr lang="en-US" sz="1100" dirty="0"/>
          </a:p>
        </p:txBody>
      </p:sp>
      <p:sp>
        <p:nvSpPr>
          <p:cNvPr id="39" name="Text 37"/>
          <p:cNvSpPr/>
          <p:nvPr/>
        </p:nvSpPr>
        <p:spPr>
          <a:xfrm>
            <a:off x="8668512" y="4069080"/>
            <a:ext cx="2606040" cy="256032"/>
          </a:xfrm>
          <a:prstGeom prst="rect">
            <a:avLst/>
          </a:prstGeom>
          <a:noFill/>
          <a:ln/>
        </p:spPr>
        <p:txBody>
          <a:bodyPr wrap="square"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CI/CD &amp; Observability</a:t>
            </a:r>
            <a:endParaRPr lang="en-US" sz="1050" dirty="0"/>
          </a:p>
        </p:txBody>
      </p:sp>
      <p:sp>
        <p:nvSpPr>
          <p:cNvPr id="40" name="Text 38"/>
          <p:cNvSpPr/>
          <p:nvPr/>
        </p:nvSpPr>
        <p:spPr>
          <a:xfrm>
            <a:off x="8668512" y="4315968"/>
            <a:ext cx="2606040" cy="201168"/>
          </a:xfrm>
          <a:prstGeom prst="rect">
            <a:avLst/>
          </a:prstGeom>
          <a:noFill/>
          <a:ln/>
        </p:spPr>
        <p:txBody>
          <a:bodyPr wrap="square" rtlCol="0" anchor="ctr"/>
          <a:lstStyle/>
          <a:p>
            <a:pPr indent="0" marL="0">
              <a:buNone/>
            </a:pPr>
            <a:r>
              <a:rPr lang="en-US" sz="850" b="1" dirty="0">
                <a:solidFill>
                  <a:srgbClr val="38BDF8"/>
                </a:solidFill>
                <a:latin typeface="Calibri" pitchFamily="34" charset="0"/>
                <a:ea typeface="Calibri" pitchFamily="34" charset="-122"/>
                <a:cs typeface="Calibri" pitchFamily="34" charset="-120"/>
              </a:rPr>
              <a:t>DeepEval CI + Prometheus / Grafana</a:t>
            </a:r>
            <a:endParaRPr lang="en-US" sz="850" dirty="0"/>
          </a:p>
        </p:txBody>
      </p:sp>
      <p:sp>
        <p:nvSpPr>
          <p:cNvPr id="41" name="Text 39"/>
          <p:cNvSpPr/>
          <p:nvPr/>
        </p:nvSpPr>
        <p:spPr>
          <a:xfrm>
            <a:off x="8138160" y="4590288"/>
            <a:ext cx="3108960" cy="137160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Continuous DeepEval automated evaluation on every model deployment.</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Real-time Prometheus metrics track latency, VRAM, and CER.</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 Grafana dashboards visualize daily ingestion volumes.</a:t>
            </a:r>
            <a:endParaRPr lang="en-US" sz="850" dirty="0"/>
          </a:p>
        </p:txBody>
      </p:sp>
      <p:sp>
        <p:nvSpPr>
          <p:cNvPr id="42" name="Text 40"/>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475569"/>
                </a:solidFill>
                <a:latin typeface="Calibri" pitchFamily="34" charset="0"/>
                <a:ea typeface="Calibri" pitchFamily="34" charset="-122"/>
                <a:cs typeface="Calibri" pitchFamily="34" charset="-120"/>
              </a:rPr>
              <a:t>Unified Document Understanding &amp; Layout Benchmarking Platform · Multimodal Production Architecture</a:t>
            </a:r>
            <a:endParaRPr lang="en-US" sz="900" dirty="0"/>
          </a:p>
        </p:txBody>
      </p:sp>
      <p:sp>
        <p:nvSpPr>
          <p:cNvPr id="43" name="Text 41"/>
          <p:cNvSpPr/>
          <p:nvPr/>
        </p:nvSpPr>
        <p:spPr>
          <a:xfrm>
            <a:off x="9144000" y="6492240"/>
            <a:ext cx="2286000" cy="274320"/>
          </a:xfrm>
          <a:prstGeom prst="rect">
            <a:avLst/>
          </a:prstGeom>
          <a:noFill/>
          <a:ln/>
        </p:spPr>
        <p:txBody>
          <a:bodyPr wrap="square"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Slide 24 of 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0D1A"/>
        </a:solidFill>
      </p:bgPr>
    </p:bg>
    <p:spTree>
      <p:nvGrpSpPr>
        <p:cNvPr id="1" name=""/>
        <p:cNvGrpSpPr/>
        <p:nvPr/>
      </p:nvGrpSpPr>
      <p:grpSpPr>
        <a:xfrm>
          <a:off x="0" y="0"/>
          <a:ext cx="0" cy="0"/>
          <a:chOff x="0" y="0"/>
          <a:chExt cx="0" cy="0"/>
        </a:xfrm>
      </p:grpSpPr>
      <p:sp>
        <p:nvSpPr>
          <p:cNvPr id="2" name="Shape 0"/>
          <p:cNvSpPr/>
          <p:nvPr/>
        </p:nvSpPr>
        <p:spPr>
          <a:xfrm>
            <a:off x="2286000" y="1645920"/>
            <a:ext cx="7616952" cy="3566160"/>
          </a:xfrm>
          <a:prstGeom prst="rect">
            <a:avLst/>
          </a:prstGeom>
          <a:solidFill>
            <a:srgbClr val="111827"/>
          </a:solidFill>
          <a:ln w="19050">
            <a:solidFill>
              <a:srgbClr val="1E293B"/>
            </a:solidFill>
            <a:prstDash val="solid"/>
          </a:ln>
        </p:spPr>
      </p:sp>
      <p:sp>
        <p:nvSpPr>
          <p:cNvPr id="3" name="Text 1"/>
          <p:cNvSpPr/>
          <p:nvPr/>
        </p:nvSpPr>
        <p:spPr>
          <a:xfrm>
            <a:off x="2286000" y="2103120"/>
            <a:ext cx="7616952" cy="1005840"/>
          </a:xfrm>
          <a:prstGeom prst="rect">
            <a:avLst/>
          </a:prstGeom>
          <a:noFill/>
          <a:ln/>
        </p:spPr>
        <p:txBody>
          <a:bodyPr wrap="square" rtlCol="0" anchor="ctr"/>
          <a:lstStyle/>
          <a:p>
            <a:pPr algn="ctr" indent="0" marL="0">
              <a:buNone/>
            </a:pPr>
            <a:r>
              <a:rPr lang="en-US" sz="5200" b="1" dirty="0">
                <a:solidFill>
                  <a:srgbClr val="F8FAFC"/>
                </a:solidFill>
                <a:latin typeface="Calibri" pitchFamily="34" charset="0"/>
                <a:ea typeface="Calibri" pitchFamily="34" charset="-122"/>
                <a:cs typeface="Calibri" pitchFamily="34" charset="-120"/>
              </a:rPr>
              <a:t>Thank You</a:t>
            </a:r>
            <a:endParaRPr lang="en-US" sz="5200" dirty="0"/>
          </a:p>
        </p:txBody>
      </p:sp>
      <p:sp>
        <p:nvSpPr>
          <p:cNvPr id="4" name="Shape 2"/>
          <p:cNvSpPr/>
          <p:nvPr/>
        </p:nvSpPr>
        <p:spPr>
          <a:xfrm>
            <a:off x="5175504" y="3200400"/>
            <a:ext cx="1828800" cy="36576"/>
          </a:xfrm>
          <a:prstGeom prst="rect">
            <a:avLst/>
          </a:prstGeom>
          <a:solidFill>
            <a:srgbClr val="38BDF8"/>
          </a:solidFill>
          <a:ln w="12700">
            <a:solidFill>
              <a:srgbClr val="38BDF8"/>
            </a:solidFill>
            <a:prstDash val="solid"/>
          </a:ln>
        </p:spPr>
      </p:sp>
      <p:sp>
        <p:nvSpPr>
          <p:cNvPr id="5" name="Text 3"/>
          <p:cNvSpPr/>
          <p:nvPr/>
        </p:nvSpPr>
        <p:spPr>
          <a:xfrm>
            <a:off x="2286000" y="3429000"/>
            <a:ext cx="7616952" cy="548640"/>
          </a:xfrm>
          <a:prstGeom prst="rect">
            <a:avLst/>
          </a:prstGeom>
          <a:noFill/>
          <a:ln/>
        </p:spPr>
        <p:txBody>
          <a:bodyPr wrap="square" rtlCol="0" anchor="ctr"/>
          <a:lstStyle/>
          <a:p>
            <a:pPr algn="ctr" indent="0" marL="0">
              <a:buNone/>
            </a:pPr>
            <a:r>
              <a:rPr lang="en-US" sz="2600" b="1" dirty="0">
                <a:solidFill>
                  <a:srgbClr val="38BDF8"/>
                </a:solidFill>
                <a:latin typeface="Calibri" pitchFamily="34" charset="0"/>
                <a:ea typeface="Calibri" pitchFamily="34" charset="-122"/>
                <a:cs typeface="Calibri" pitchFamily="34" charset="-120"/>
              </a:rPr>
              <a:t>Anik Panja</a:t>
            </a:r>
            <a:endParaRPr lang="en-US" sz="2600" dirty="0"/>
          </a:p>
        </p:txBody>
      </p:sp>
      <p:sp>
        <p:nvSpPr>
          <p:cNvPr id="6" name="Text 4"/>
          <p:cNvSpPr/>
          <p:nvPr/>
        </p:nvSpPr>
        <p:spPr>
          <a:xfrm>
            <a:off x="2286000" y="4069080"/>
            <a:ext cx="7616952" cy="41148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Indian Institute of Technology Guwahati (IIT Guwahati)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2026-09-16T17:58:12Z</dcterms:created>
  <dcterms:modified xsi:type="dcterms:W3CDTF">2026-09-16T17:58:12Z</dcterms:modified>
</cp:coreProperties>
</file>