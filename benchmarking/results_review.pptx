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645920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300">
                <a:solidFill>
                  <a:srgbClr val="6B778D"/>
                </a:solidFill>
                <a:latin typeface="Calibri"/>
              </a:defRPr>
            </a:pPr>
            <a:r>
              <a:t>B E N C H M A R K   R E S U L T S   R E V I E 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011680"/>
            <a:ext cx="10817352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b="1" sz="4400">
                <a:solidFill>
                  <a:srgbClr val="1C2B4A"/>
                </a:solidFill>
                <a:latin typeface="Cambria"/>
              </a:defRPr>
            </a:pPr>
            <a:r>
              <a:t>Layout Detection Benchmarking</a:t>
            </a:r>
          </a:p>
          <a:p>
            <a:pPr>
              <a:defRPr b="1" sz="4410">
                <a:solidFill>
                  <a:srgbClr val="1C2B4A"/>
                </a:solidFill>
                <a:latin typeface="Cambria"/>
              </a:defRPr>
            </a:pPr>
            <a:r>
              <a:t>Results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931920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i="1" sz="1600">
                <a:solidFill>
                  <a:srgbClr val="33415E"/>
                </a:solidFill>
                <a:latin typeface="Calibri"/>
              </a:defRPr>
            </a:pPr>
            <a:r>
              <a:t>DocLayoutYOLO  vs  NVIDIA Nemotron-Parse-v1.1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943600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B778D"/>
                </a:solidFill>
                <a:latin typeface="Calibri"/>
              </a:defRPr>
            </a:pPr>
            <a:r>
              <a:t>Custom document benchmark evaluated against tightened human ground truth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"/>
            <a:ext cx="10817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B778D"/>
                </a:solidFill>
                <a:latin typeface="Calibri"/>
              </a:defRPr>
            </a:pPr>
            <a:r>
              <a:t>Layout Detection Benchmarking — Results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446520"/>
            <a:ext cx="685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78D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1C2B4A"/>
                </a:solidFill>
                <a:latin typeface="Cambria"/>
              </a:defRPr>
            </a:pPr>
            <a:r>
              <a:t>Synthetic Catalogue Generation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17352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b="1" sz="1060">
                <a:solidFill>
                  <a:srgbClr val="33415E"/>
                </a:solidFill>
                <a:latin typeface="Calibri"/>
              </a:rPr>
              <a:t>AI-Generated Layouts: </a:t>
            </a:r>
            <a:r>
              <a:rPr b="0" i="0" sz="1060">
                <a:solidFill>
                  <a:srgbClr val="33415E"/>
                </a:solidFill>
                <a:latin typeface="Calibri"/>
              </a:rPr>
              <a:t>Initial Playwright + Faker generated pages had poor realism and repetitive grids. The production v2 document catalogue and labels were directly generated by the AI (Claude Sonnet model) to create high-realism catalogue pages.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b="1" sz="1060">
                <a:solidFill>
                  <a:srgbClr val="33415E"/>
                </a:solidFill>
                <a:latin typeface="Calibri"/>
              </a:rPr>
              <a:t>Zero-Error Ground Truth: </a:t>
            </a:r>
            <a:r>
              <a:rPr b="0" i="0" sz="1060">
                <a:solidFill>
                  <a:srgbClr val="33415E"/>
                </a:solidFill>
                <a:latin typeface="Calibri"/>
              </a:rPr>
              <a:t>Bounding boxes are extracted directly from the browser's DOM rendering coordinates in real-time. This guarantees 100% ground-truth accuracy with zero human annotator errors.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060">
                <a:solidFill>
                  <a:srgbClr val="33415E"/>
                </a:solidFill>
                <a:latin typeface="Calibri"/>
              </a:rPr>
              <a:t>Resolving Public Dataset Limitations: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b="1" sz="1060">
                <a:solidFill>
                  <a:srgbClr val="33415E"/>
                </a:solidFill>
                <a:latin typeface="Calibri"/>
              </a:rPr>
              <a:t>  - Lack of Domain Realism: </a:t>
            </a:r>
            <a:r>
              <a:rPr b="0" i="0" sz="1060">
                <a:solidFill>
                  <a:srgbClr val="33415E"/>
                </a:solidFill>
                <a:latin typeface="Calibri"/>
              </a:rPr>
              <a:t>Standard datasets (like DocLayNet) are restricted to academic papers or reports. Our catalog features medical devices, price tags, specifications, and modern themes.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b="1" sz="1060">
                <a:solidFill>
                  <a:srgbClr val="33415E"/>
                </a:solidFill>
                <a:latin typeface="Calibri"/>
              </a:rPr>
              <a:t>  - Image Placeholders: </a:t>
            </a:r>
            <a:r>
              <a:rPr b="0" i="0" sz="1060">
                <a:solidFill>
                  <a:srgbClr val="33415E"/>
                </a:solidFill>
                <a:latin typeface="Calibri"/>
              </a:rPr>
              <a:t>Generated realistic custom product photo assets rather than simple gray boxes.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b="1" sz="1060">
                <a:solidFill>
                  <a:srgbClr val="33415E"/>
                </a:solidFill>
                <a:latin typeface="Calibri"/>
              </a:rPr>
              <a:t>  - Layout Repetition: </a:t>
            </a:r>
            <a:r>
              <a:rPr b="0" i="0" sz="1060">
                <a:solidFill>
                  <a:srgbClr val="33415E"/>
                </a:solidFill>
                <a:latin typeface="Calibri"/>
              </a:rPr>
              <a:t>Avoided identical element grids across pages by dynamically varying column counts, vertical margins, and styles.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"/>
            <a:ext cx="10817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B778D"/>
                </a:solidFill>
                <a:latin typeface="Calibri"/>
              </a:defRPr>
            </a:pPr>
            <a:r>
              <a:t>Layout Detection Benchmarking — Results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17352" y="6446520"/>
            <a:ext cx="685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78D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1C2B4A"/>
                </a:solidFill>
                <a:latin typeface="Cambria"/>
              </a:defRPr>
            </a:pPr>
            <a:r>
              <a:t>Custom Benchmark — Metrics &amp; Formulas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5212080" cy="5029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</a:pPr>
            <a:r>
              <a:rPr b="1" sz="1060">
                <a:solidFill>
                  <a:srgbClr val="33415E"/>
                </a:solidFill>
                <a:latin typeface="Calibri"/>
              </a:rPr>
              <a:t>Layer 1 — Geometric Match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50" i="1" b="0">
                <a:solidFill>
                  <a:srgbClr val="1C2B4A"/>
                </a:solidFill>
                <a:latin typeface="Courier New"/>
              </a:rPr>
              <a:t>F1 = 2 * (P * R) / (P + R); P = TP/(TP+FP), R = TP/(TP+FN)</a:t>
            </a:r>
          </a:p>
          <a:p>
            <a:pPr lvl="1">
              <a:lnSpc>
                <a:spcPct val="115000"/>
              </a:lnSpc>
              <a:spcAft>
                <a:spcPts val="800"/>
              </a:spcAft>
            </a:pPr>
            <a:r>
              <a:rPr b="1" sz="1060">
                <a:solidFill>
                  <a:srgbClr val="33415E"/>
                </a:solidFill>
                <a:latin typeface="Calibri"/>
              </a:rPr>
              <a:t>  - Interpretation [Higher is Better]: </a:t>
            </a:r>
            <a:r>
              <a:rPr b="0" i="0" sz="1060">
                <a:solidFill>
                  <a:srgbClr val="33415E"/>
                </a:solidFill>
                <a:latin typeface="Calibri"/>
              </a:rPr>
              <a:t>Validates layout bounding box spatial overlap. Threshold: F1 &gt; 0.60 is good.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b="1" sz="1060">
                <a:solidFill>
                  <a:srgbClr val="33415E"/>
                </a:solidFill>
                <a:latin typeface="Calibri"/>
              </a:rPr>
              <a:t>Layer 2 — COTe Coverage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50" i="1" b="0">
                <a:solidFill>
                  <a:srgbClr val="1C2B4A"/>
                </a:solidFill>
                <a:latin typeface="Courier New"/>
              </a:rPr>
              <a:t>Coverage = Area(GT ∩ anyPred) / Area(GT)</a:t>
            </a:r>
          </a:p>
          <a:p>
            <a:pPr lvl="1">
              <a:lnSpc>
                <a:spcPct val="115000"/>
              </a:lnSpc>
              <a:spcAft>
                <a:spcPts val="800"/>
              </a:spcAft>
            </a:pPr>
            <a:r>
              <a:rPr b="1" sz="1060">
                <a:solidFill>
                  <a:srgbClr val="33415E"/>
                </a:solidFill>
                <a:latin typeface="Calibri"/>
              </a:rPr>
              <a:t>  - Interpretation [Higher is Better]: </a:t>
            </a:r>
            <a:r>
              <a:rPr b="0" i="0" sz="1060">
                <a:solidFill>
                  <a:srgbClr val="33415E"/>
                </a:solidFill>
                <a:latin typeface="Calibri"/>
              </a:rPr>
              <a:t>Measures how much of the true layout region was found by predictions, bypassing box coordinate padding bias.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b="1" sz="1060">
                <a:solidFill>
                  <a:srgbClr val="33415E"/>
                </a:solidFill>
                <a:latin typeface="Calibri"/>
              </a:rPr>
              <a:t>Layer 2 — COTe Trespass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50" i="1" b="0">
                <a:solidFill>
                  <a:srgbClr val="1C2B4A"/>
                </a:solidFill>
                <a:latin typeface="Courier New"/>
              </a:rPr>
              <a:t>Trespass = Area(Pred outside GT) / Area(Pred)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b="1" sz="1060">
                <a:solidFill>
                  <a:srgbClr val="33415E"/>
                </a:solidFill>
                <a:latin typeface="Calibri"/>
              </a:rPr>
              <a:t>  - Interpretation [Lower is Better]: </a:t>
            </a:r>
            <a:r>
              <a:rPr b="0" i="0" sz="1060">
                <a:solidFill>
                  <a:srgbClr val="33415E"/>
                </a:solidFill>
                <a:latin typeface="Calibri"/>
              </a:rPr>
              <a:t>Tracks bleed/waste outside true regions. Threshold: Trespass &lt; 0.15 is good.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188720"/>
            <a:ext cx="5212080" cy="5029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</a:pPr>
            <a:r>
              <a:rPr b="1" sz="1060">
                <a:solidFill>
                  <a:srgbClr val="33415E"/>
                </a:solidFill>
                <a:latin typeface="Calibri"/>
              </a:rPr>
              <a:t>Layer 2 — COTe Excess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50" i="1" b="0">
                <a:solidFill>
                  <a:srgbClr val="1C2B4A"/>
                </a:solidFill>
                <a:latin typeface="Courier New"/>
              </a:rPr>
              <a:t>Excess = Area(Pred) / Area(GT)</a:t>
            </a:r>
          </a:p>
          <a:p>
            <a:pPr lvl="1">
              <a:lnSpc>
                <a:spcPct val="115000"/>
              </a:lnSpc>
              <a:spcAft>
                <a:spcPts val="800"/>
              </a:spcAft>
            </a:pPr>
            <a:r>
              <a:rPr b="1" sz="1060">
                <a:solidFill>
                  <a:srgbClr val="33415E"/>
                </a:solidFill>
                <a:latin typeface="Calibri"/>
              </a:rPr>
              <a:t>  - Interpretation [Ideal = 1.0]: </a:t>
            </a:r>
            <a:r>
              <a:rPr b="0" i="0" sz="1060">
                <a:solidFill>
                  <a:srgbClr val="33415E"/>
                </a:solidFill>
                <a:latin typeface="Calibri"/>
              </a:rPr>
              <a:t>Ratio of total predicted area vs. total true area. &gt;1 is over-detecting, &lt;1 is under-detecting.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b="1" sz="1060">
                <a:solidFill>
                  <a:srgbClr val="33415E"/>
                </a:solidFill>
                <a:latin typeface="Calibri"/>
              </a:rPr>
              <a:t>Layer 4 — Reading Order: ROKT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50" i="1" b="0">
                <a:solidFill>
                  <a:srgbClr val="1C2B4A"/>
                </a:solidFill>
                <a:latin typeface="Courier New"/>
              </a:rPr>
              <a:t>ROKT (Kendall's τ) = (C - D) / (n*(n-1)/2)</a:t>
            </a:r>
          </a:p>
          <a:p>
            <a:pPr lvl="1">
              <a:lnSpc>
                <a:spcPct val="115000"/>
              </a:lnSpc>
              <a:spcAft>
                <a:spcPts val="800"/>
              </a:spcAft>
            </a:pPr>
            <a:r>
              <a:rPr b="1" sz="1060">
                <a:solidFill>
                  <a:srgbClr val="33415E"/>
                </a:solidFill>
                <a:latin typeface="Calibri"/>
              </a:rPr>
              <a:t>  - Interpretation [Higher is Better]: </a:t>
            </a:r>
            <a:r>
              <a:rPr b="0" i="0" sz="1060">
                <a:solidFill>
                  <a:srgbClr val="33415E"/>
                </a:solidFill>
                <a:latin typeface="Calibri"/>
              </a:rPr>
              <a:t>Tests reading order flow sequence correctness. Threshold: τ &gt; 0.70 is strong; 1.00 is perfect.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b="1" sz="1060">
                <a:solidFill>
                  <a:srgbClr val="33415E"/>
                </a:solidFill>
                <a:latin typeface="Calibri"/>
              </a:rPr>
              <a:t>Layer 4 — Reading Order: ROA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50" i="1" b="0">
                <a:solidFill>
                  <a:srgbClr val="1C2B4A"/>
                </a:solidFill>
                <a:latin typeface="Courier New"/>
              </a:rPr>
              <a:t>ROA = 1 - (adjacent inversions) / (n - 1)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b="1" sz="1060">
                <a:solidFill>
                  <a:srgbClr val="33415E"/>
                </a:solidFill>
                <a:latin typeface="Calibri"/>
              </a:rPr>
              <a:t>  - Interpretation [Higher is Better]: </a:t>
            </a:r>
            <a:r>
              <a:rPr b="0" i="0" sz="1060">
                <a:solidFill>
                  <a:srgbClr val="33415E"/>
                </a:solidFill>
                <a:latin typeface="Calibri"/>
              </a:rPr>
              <a:t>Measures local reading-order correctness via adjacent swaps. 1.00 is perfect.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"/>
            <a:ext cx="10817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B778D"/>
                </a:solidFill>
                <a:latin typeface="Calibri"/>
              </a:defRPr>
            </a:pPr>
            <a:r>
              <a:t>Layout Detection Benchmarking — Results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46520"/>
            <a:ext cx="685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78D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1C2B4A"/>
                </a:solidFill>
                <a:latin typeface="Cambria"/>
              </a:defRPr>
            </a:pPr>
            <a:r>
              <a:t>Custom Benchmark — Scorecard (GT-tight)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280160"/>
          <a:ext cx="107899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926080"/>
                <a:gridCol w="2468880"/>
                <a:gridCol w="2468880"/>
              </a:tblGrid>
              <a:tr h="349134"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mbria"/>
                        </a:rPr>
                        <a:t>Evaluation Layer</a:t>
                      </a:r>
                    </a:p>
                  </a:txBody>
                  <a:tcPr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mbria"/>
                        </a:rPr>
                        <a:t>Metric</a:t>
                      </a:r>
                    </a:p>
                  </a:txBody>
                  <a:tcPr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mbria"/>
                        </a:rPr>
                        <a:t>DocLayoutYOLO</a:t>
                      </a:r>
                    </a:p>
                  </a:txBody>
                  <a:tcPr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mbria"/>
                        </a:rPr>
                        <a:t>Nemotron-Parse</a:t>
                      </a:r>
                    </a:p>
                  </a:txBody>
                  <a:tcPr>
                    <a:solidFill>
                      <a:srgbClr val="1C2B4A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  <a:latin typeface="Calibri"/>
                        </a:rPr>
                        <a:t>Layer 1: Geometric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  <a:latin typeface="Calibri"/>
                        </a:rPr>
                        <a:t>Precision [Higher is Better]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  <a:latin typeface="Calibri"/>
                        </a:rPr>
                        <a:t>0.2381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  <a:latin typeface="Calibri"/>
                        </a:rPr>
                        <a:t>0.2712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  <a:latin typeface="Calibri"/>
                        </a:rPr>
                        <a:t>Layer 1: Geometric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  <a:latin typeface="Calibri"/>
                        </a:rPr>
                        <a:t>Recall [Higher is Better]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  <a:latin typeface="Calibri"/>
                        </a:rPr>
                        <a:t>0.4517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  <a:latin typeface="Calibri"/>
                        </a:rPr>
                        <a:t>0.4101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  <a:latin typeface="Calibri"/>
                        </a:rPr>
                        <a:t>Layer 1: Geometric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  <a:latin typeface="Calibri"/>
                        </a:rPr>
                        <a:t>F1-Score [Higher is Better]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  <a:latin typeface="Calibri"/>
                        </a:rPr>
                        <a:t>0.3072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  <a:latin typeface="Calibri"/>
                        </a:rPr>
                        <a:t>0.3251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  <a:latin typeface="Calibri"/>
                        </a:rPr>
                        <a:t>Layer 1: Geometric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  <a:latin typeface="Calibri"/>
                        </a:rPr>
                        <a:t>Mean IoU [Higher is Better]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  <a:latin typeface="Calibri"/>
                        </a:rPr>
                        <a:t>0.8060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  <a:latin typeface="Calibri"/>
                        </a:rPr>
                        <a:t>0.7464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  <a:latin typeface="Calibri"/>
                        </a:rPr>
                        <a:t>Layer 1: Geometric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  <a:latin typeface="Calibri"/>
                        </a:rPr>
                        <a:t>Class Accuracy [Higher is Better]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  <a:latin typeface="Calibri"/>
                        </a:rPr>
                        <a:t>0.5304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  <a:latin typeface="Calibri"/>
                        </a:rPr>
                        <a:t>0.8661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  <a:latin typeface="Calibri"/>
                        </a:rPr>
                        <a:t>Layer 2: COTe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  <a:latin typeface="Calibri"/>
                        </a:rPr>
                        <a:t>Coverage [Higher is Better]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  <a:latin typeface="Calibri"/>
                        </a:rPr>
                        <a:t>0.6059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  <a:latin typeface="Calibri"/>
                        </a:rPr>
                        <a:t>0.6575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  <a:latin typeface="Calibri"/>
                        </a:rPr>
                        <a:t>Layer 2: COTe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  <a:latin typeface="Calibri"/>
                        </a:rPr>
                        <a:t>Trespass [Lower is Better]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  <a:latin typeface="Calibri"/>
                        </a:rPr>
                        <a:t>0.0156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  <a:latin typeface="Calibri"/>
                        </a:rPr>
                        <a:t>0.0233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  <a:latin typeface="Calibri"/>
                        </a:rPr>
                        <a:t>Layer 2: COTe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  <a:latin typeface="Calibri"/>
                        </a:rPr>
                        <a:t>Excess [Ideal = 1.0]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  <a:latin typeface="Calibri"/>
                        </a:rPr>
                        <a:t>0.6157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  <a:latin typeface="Calibri"/>
                        </a:rPr>
                        <a:t>0.6732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  <a:latin typeface="Calibri"/>
                        </a:rPr>
                        <a:t>Layer 3: LED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  <a:latin typeface="Calibri"/>
                        </a:rPr>
                        <a:t>Missing [Lower is Better]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  <a:latin typeface="Calibri"/>
                        </a:rPr>
                        <a:t>3.00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  <a:tr h="34914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  <a:latin typeface="Calibri"/>
                        </a:rPr>
                        <a:t>Layer 4: Reading Order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  <a:latin typeface="Calibri"/>
                        </a:rPr>
                        <a:t>ROKT (Kendall's τ - Higher is Better)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  <a:latin typeface="Calibri"/>
                        </a:rPr>
                        <a:t>1.0000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  <a:latin typeface="Calibri"/>
                        </a:rPr>
                        <a:t>1.0000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85800" y="5303520"/>
            <a:ext cx="10817352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b="1" sz="1060">
                <a:solidFill>
                  <a:srgbClr val="33415E"/>
                </a:solidFill>
                <a:latin typeface="Calibri"/>
              </a:rPr>
              <a:t>Key Takeaway: </a:t>
            </a:r>
            <a:r>
              <a:rPr b="0" i="0" sz="1060">
                <a:solidFill>
                  <a:srgbClr val="33415E"/>
                </a:solidFill>
                <a:latin typeface="Calibri"/>
              </a:rPr>
              <a:t>Nemotron-Parse leads in classification accuracy (86.61% vs 53.04%), whereas DocLayoutYOLO displays tighter layout localization bounding boxes (80.60% vs 74.64% Mean IoU). Reading order is perfectly reconstructed by both (1.0000 ROKT).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"/>
            <a:ext cx="10817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B778D"/>
                </a:solidFill>
                <a:latin typeface="Calibri"/>
              </a:defRPr>
            </a:pPr>
            <a:r>
              <a:t>Layout Detection Benchmarking — Results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46520"/>
            <a:ext cx="685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78D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1C2B4A"/>
                </a:solidFill>
                <a:latin typeface="Cambria"/>
              </a:defRPr>
            </a:pPr>
            <a:r>
              <a:t>Text OCR Performance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5212080" cy="5029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b="1" sz="1060">
                <a:solidFill>
                  <a:srgbClr val="33415E"/>
                </a:solidFill>
                <a:latin typeface="Calibri"/>
              </a:rPr>
              <a:t>OCR Models Evaluated: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b="1" sz="1060">
                <a:solidFill>
                  <a:srgbClr val="33415E"/>
                </a:solidFill>
                <a:latin typeface="Calibri"/>
              </a:rPr>
              <a:t>  - EasyOCR: </a:t>
            </a:r>
            <a:r>
              <a:rPr b="0" i="0" sz="1060">
                <a:solidFill>
                  <a:srgbClr val="33415E"/>
                </a:solidFill>
                <a:latin typeface="Calibri"/>
              </a:rPr>
              <a:t>Lightweight, PyTorch-based text localization/recognition framework using CRAFT and CRNN models.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b="1" sz="1060">
                <a:solidFill>
                  <a:srgbClr val="33415E"/>
                </a:solidFill>
                <a:latin typeface="Calibri"/>
              </a:rPr>
              <a:t>  - Tesseract: </a:t>
            </a:r>
            <a:r>
              <a:rPr b="0" i="0" sz="1060">
                <a:solidFill>
                  <a:srgbClr val="33415E"/>
                </a:solidFill>
                <a:latin typeface="Calibri"/>
              </a:rPr>
              <a:t>Classic, highly-optimized LSTM-based neural network OCR engine.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b="1" sz="1060">
                <a:solidFill>
                  <a:srgbClr val="33415E"/>
                </a:solidFill>
                <a:latin typeface="Calibri"/>
              </a:rPr>
              <a:t>Evaluation Metrics &amp; Formulas: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b="1" sz="1060">
                <a:solidFill>
                  <a:srgbClr val="33415E"/>
                </a:solidFill>
                <a:latin typeface="Calibri"/>
              </a:rPr>
              <a:t>  - CER (Character Error Rate) [Lower is Better]: </a:t>
            </a:r>
            <a:r>
              <a:rPr b="0" i="0" sz="1060">
                <a:solidFill>
                  <a:srgbClr val="33415E"/>
                </a:solidFill>
                <a:latin typeface="Calibri"/>
              </a:rPr>
              <a:t>CER = (S + D + I) / N, where S=substitutions, D=deletions, I=insertions, N=total characters. Ideal is 0.0.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b="1" sz="1060">
                <a:solidFill>
                  <a:srgbClr val="33415E"/>
                </a:solidFill>
                <a:latin typeface="Calibri"/>
              </a:rPr>
              <a:t>  - WER (Word Error Rate) [Lower is Better]: </a:t>
            </a:r>
            <a:r>
              <a:rPr b="0" i="0" sz="1060">
                <a:solidFill>
                  <a:srgbClr val="33415E"/>
                </a:solidFill>
                <a:latin typeface="Calibri"/>
              </a:rPr>
              <a:t>WER = (S + D + I) / N at word token level. Ideal is 0.0.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b="1" sz="1060">
                <a:solidFill>
                  <a:srgbClr val="33415E"/>
                </a:solidFill>
                <a:latin typeface="Calibri"/>
              </a:rPr>
              <a:t>  - Exact Match Rate [Higher is Better]: </a:t>
            </a:r>
            <a:r>
              <a:rPr b="0" i="0" sz="1060">
                <a:solidFill>
                  <a:srgbClr val="33415E"/>
                </a:solidFill>
                <a:latin typeface="Calibri"/>
              </a:rPr>
              <a:t>Percentage of text zones with 100% exact character matches. Ideal is 1.0 (100%).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217920" y="1371600"/>
          <a:ext cx="5239512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822960"/>
                <a:gridCol w="822960"/>
                <a:gridCol w="822960"/>
                <a:gridCol w="822960"/>
                <a:gridCol w="667512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mbria"/>
                        </a:rPr>
                        <a:t>Model</a:t>
                      </a:r>
                    </a:p>
                  </a:txBody>
                  <a:tcPr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mbria"/>
                        </a:rPr>
                        <a:t>Corpus CER</a:t>
                      </a:r>
                    </a:p>
                  </a:txBody>
                  <a:tcPr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mbria"/>
                        </a:rPr>
                        <a:t>Corpus WER</a:t>
                      </a:r>
                    </a:p>
                  </a:txBody>
                  <a:tcPr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mbria"/>
                        </a:rPr>
                        <a:t>Macro CER</a:t>
                      </a:r>
                    </a:p>
                  </a:txBody>
                  <a:tcPr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mbria"/>
                        </a:rPr>
                        <a:t>Macro WER</a:t>
                      </a:r>
                    </a:p>
                  </a:txBody>
                  <a:tcPr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mbria"/>
                        </a:rPr>
                        <a:t>Exact Match</a:t>
                      </a:r>
                    </a:p>
                  </a:txBody>
                  <a:tcPr>
                    <a:solidFill>
                      <a:srgbClr val="1C2B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  <a:latin typeface="Calibri"/>
                        </a:rPr>
                        <a:t>EasyOCR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  <a:latin typeface="Calibri"/>
                        </a:rPr>
                        <a:t>10.78%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  <a:latin typeface="Calibri"/>
                        </a:rPr>
                        <a:t>23.08%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  <a:latin typeface="Calibri"/>
                        </a:rPr>
                        <a:t>8.06%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  <a:latin typeface="Calibri"/>
                        </a:rPr>
                        <a:t>19.73%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  <a:latin typeface="Calibri"/>
                        </a:rPr>
                        <a:t>31.25%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  <a:latin typeface="Calibri"/>
                        </a:rPr>
                        <a:t>Tesseract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  <a:latin typeface="Calibri"/>
                        </a:rPr>
                        <a:t>13.28%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  <a:latin typeface="Calibri"/>
                        </a:rPr>
                        <a:t>18.32%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  <a:latin typeface="Calibri"/>
                        </a:rPr>
                        <a:t>11.11%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  <a:latin typeface="Calibri"/>
                        </a:rPr>
                        <a:t>17.13%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  <a:latin typeface="Calibri"/>
                        </a:rPr>
                        <a:t>68.75%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217920" y="3108960"/>
            <a:ext cx="5239512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060">
                <a:solidFill>
                  <a:srgbClr val="33415E"/>
                </a:solidFill>
                <a:latin typeface="Calibri"/>
              </a:rPr>
              <a:t>OCR Key Takeaway: </a:t>
            </a:r>
            <a:r>
              <a:rPr b="0" i="0" sz="1060">
                <a:solidFill>
                  <a:srgbClr val="33415E"/>
                </a:solidFill>
                <a:latin typeface="Calibri"/>
              </a:rPr>
              <a:t>Tesseract achieves a significantly higher Exact Match Rate (68.75% vs 31.25% for EasyOCR) because it segments character blobs cleanly in structured fields. However, EasyOCR yields lower character-level error rates overall (8.06% vs 11.11% Macro CER).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"/>
            <a:ext cx="10817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B778D"/>
                </a:solidFill>
                <a:latin typeface="Calibri"/>
              </a:defRPr>
            </a:pPr>
            <a:r>
              <a:t>Layout Detection Benchmarking — Results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446520"/>
            <a:ext cx="685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78D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1C2B4A"/>
                </a:solidFill>
                <a:latin typeface="Cambria"/>
              </a:defRPr>
            </a:pPr>
            <a:r>
              <a:t>Table Extraction Performance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5212080" cy="5029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b="1" sz="1060">
                <a:solidFill>
                  <a:srgbClr val="33415E"/>
                </a:solidFill>
                <a:latin typeface="Calibri"/>
              </a:rPr>
              <a:t>Table Extractor Integration: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b="1" sz="1060">
                <a:solidFill>
                  <a:srgbClr val="33415E"/>
                </a:solidFill>
                <a:latin typeface="Calibri"/>
              </a:rPr>
              <a:t>  - EasyOCR Table Pipeline: </a:t>
            </a:r>
            <a:r>
              <a:rPr b="0" i="0" sz="1060">
                <a:solidFill>
                  <a:srgbClr val="33415E"/>
                </a:solidFill>
                <a:latin typeface="Calibri"/>
              </a:rPr>
              <a:t>CRAFT cell detector + heuristic row/column grid alignment.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b="1" sz="1060">
                <a:solidFill>
                  <a:srgbClr val="33415E"/>
                </a:solidFill>
                <a:latin typeface="Calibri"/>
              </a:rPr>
              <a:t>  - Tesseract Table Pipeline: </a:t>
            </a:r>
            <a:r>
              <a:rPr b="0" i="0" sz="1060">
                <a:solidFill>
                  <a:srgbClr val="33415E"/>
                </a:solidFill>
                <a:latin typeface="Calibri"/>
              </a:rPr>
              <a:t>Bounding-box overlap clustering to construct logical cells.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b="1" sz="1060">
                <a:solidFill>
                  <a:srgbClr val="33415E"/>
                </a:solidFill>
                <a:latin typeface="Calibri"/>
              </a:rPr>
              <a:t>Evaluation Metrics &amp; Formulas: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b="1" sz="1060">
                <a:solidFill>
                  <a:srgbClr val="33415E"/>
                </a:solidFill>
                <a:latin typeface="Calibri"/>
              </a:rPr>
              <a:t>  - TEDS (Tree Edit Distance for Structure) [Higher is Better]: </a:t>
            </a:r>
            <a:r>
              <a:rPr b="0" i="0" sz="1060">
                <a:solidFill>
                  <a:srgbClr val="33415E"/>
                </a:solidFill>
                <a:latin typeface="Calibri"/>
              </a:rPr>
              <a:t>TEDS = 1 - (Tree Edit Distance(T_pred, T_gt) / max(NodeCount(T_pred), NodeCount(T_gt))). Computes structural edit operations on HTML tree structure.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b="1" sz="1060">
                <a:solidFill>
                  <a:srgbClr val="33415E"/>
                </a:solidFill>
                <a:latin typeface="Calibri"/>
              </a:rPr>
              <a:t>  - Grid Exact Match [Higher is Better]: </a:t>
            </a:r>
            <a:r>
              <a:rPr b="0" i="0" sz="1060">
                <a:solidFill>
                  <a:srgbClr val="33415E"/>
                </a:solidFill>
                <a:latin typeface="Calibri"/>
              </a:rPr>
              <a:t>Percentage of tables with 100% correct layout cell-coordinate values and structures. Ideal is 1.0 (100%).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217920" y="1371600"/>
          <a:ext cx="5239512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188720"/>
                <a:gridCol w="1188720"/>
                <a:gridCol w="1307592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mbria"/>
                        </a:rPr>
                        <a:t>Model</a:t>
                      </a:r>
                    </a:p>
                  </a:txBody>
                  <a:tcPr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mbria"/>
                        </a:rPr>
                        <a:t>TEDS Score</a:t>
                      </a:r>
                    </a:p>
                  </a:txBody>
                  <a:tcPr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mbria"/>
                        </a:rPr>
                        <a:t>TEDS Structural</a:t>
                      </a:r>
                    </a:p>
                  </a:txBody>
                  <a:tcPr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mbria"/>
                        </a:rPr>
                        <a:t>Grid Exact Match</a:t>
                      </a:r>
                    </a:p>
                  </a:txBody>
                  <a:tcPr>
                    <a:solidFill>
                      <a:srgbClr val="1C2B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  <a:latin typeface="Calibri"/>
                        </a:rPr>
                        <a:t>EasyOCR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  <a:latin typeface="Calibri"/>
                        </a:rPr>
                        <a:t>98.16%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  <a:latin typeface="Calibri"/>
                        </a:rPr>
                        <a:t>100.00%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  <a:latin typeface="Calibri"/>
                        </a:rPr>
                        <a:t>87.20%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  <a:latin typeface="Calibri"/>
                        </a:rPr>
                        <a:t>Tesseract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  <a:latin typeface="Calibri"/>
                        </a:rPr>
                        <a:t>83.62%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  <a:latin typeface="Calibri"/>
                        </a:rPr>
                        <a:t>96.58%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  <a:latin typeface="Calibri"/>
                        </a:rPr>
                        <a:t>25.89%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217920" y="3108960"/>
            <a:ext cx="5239512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060">
                <a:solidFill>
                  <a:srgbClr val="33415E"/>
                </a:solidFill>
                <a:latin typeface="Calibri"/>
              </a:rPr>
              <a:t>Table Key Takeaway: </a:t>
            </a:r>
            <a:r>
              <a:rPr b="0" i="0" sz="1060">
                <a:solidFill>
                  <a:srgbClr val="33415E"/>
                </a:solidFill>
                <a:latin typeface="Calibri"/>
              </a:rPr>
              <a:t>EasyOCR performs exceptionally well on tabular data, achieving perfect table grid layout recovery (100.00% TEDS Structural) and an 87.20% Grid Exact Match rate. Tesseract struggles with row cell alignment, dragging its exact match rate down to 25.89%.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"/>
            <a:ext cx="10817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B778D"/>
                </a:solidFill>
                <a:latin typeface="Calibri"/>
              </a:defRPr>
            </a:pPr>
            <a:r>
              <a:t>Layout Detection Benchmarking — Results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446520"/>
            <a:ext cx="685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78D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1C2B4A"/>
                </a:solidFill>
                <a:latin typeface="Cambria"/>
              </a:defRPr>
            </a:pPr>
            <a:r>
              <a:t>Executive Summary &amp; VLM Benchmark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56692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b="1" sz="1060">
                <a:solidFill>
                  <a:srgbClr val="33415E"/>
                </a:solidFill>
                <a:latin typeface="Calibri"/>
              </a:rPr>
              <a:t>Layout Detection Recovery: </a:t>
            </a:r>
            <a:r>
              <a:rPr b="0" i="0" sz="1060">
                <a:solidFill>
                  <a:srgbClr val="33415E"/>
                </a:solidFill>
                <a:latin typeface="Calibri"/>
              </a:rPr>
              <a:t>Resolving the label-mapping and coordinate padding issues successfully recovered custom catalogue F1 scores to &gt;30%, matching public dataset baselines.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b="1" sz="1060">
                <a:solidFill>
                  <a:srgbClr val="33415E"/>
                </a:solidFill>
                <a:latin typeface="Calibri"/>
              </a:rPr>
              <a:t>Optical Character Recognition (OCR): </a:t>
            </a:r>
            <a:r>
              <a:rPr b="0" i="0" sz="1060">
                <a:solidFill>
                  <a:srgbClr val="33415E"/>
                </a:solidFill>
                <a:latin typeface="Calibri"/>
              </a:rPr>
              <a:t>Tesseract is superior for exact string fields (e.g., part numbers, prices), while EasyOCR is better suited for loose paragraphs.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b="1" sz="1060">
                <a:solidFill>
                  <a:srgbClr val="33415E"/>
                </a:solidFill>
                <a:latin typeface="Calibri"/>
              </a:rPr>
              <a:t>Table Extraction: </a:t>
            </a:r>
            <a:r>
              <a:rPr b="0" i="0" sz="1060">
                <a:solidFill>
                  <a:srgbClr val="33415E"/>
                </a:solidFill>
                <a:latin typeface="Calibri"/>
              </a:rPr>
              <a:t>EasyOCR is the recommended extraction model for medical and commercial catalogs, showing near-perfect structural cell grid recovery.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b="1" sz="1060">
                <a:solidFill>
                  <a:srgbClr val="33415E"/>
                </a:solidFill>
                <a:latin typeface="Calibri"/>
              </a:rPr>
              <a:t>VLM Grounding &amp; Extraction: </a:t>
            </a:r>
            <a:r>
              <a:rPr b="0" i="0" sz="1060">
                <a:solidFill>
                  <a:srgbClr val="33415E"/>
                </a:solidFill>
                <a:latin typeface="Calibri"/>
              </a:rPr>
              <a:t>Groq Llama-4-Scout (95.2% grounding) significantly outperformed local Moondream2 (0.0% grounding). Moondream2 hallucinated heavily or was paged by 4GB VRAM limits.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83680" y="1371600"/>
          <a:ext cx="4919472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1371600"/>
                <a:gridCol w="1371600"/>
              </a:tblGrid>
              <a:tr h="533400"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mbria"/>
                        </a:rPr>
                        <a:t>VLM Metric</a:t>
                      </a:r>
                    </a:p>
                  </a:txBody>
                  <a:tcPr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mbria"/>
                        </a:rPr>
                        <a:t>Groq Llama-4</a:t>
                      </a:r>
                    </a:p>
                  </a:txBody>
                  <a:tcPr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mbria"/>
                        </a:rPr>
                        <a:t>Local Moondream2</a:t>
                      </a:r>
                    </a:p>
                  </a:txBody>
                  <a:tcPr>
                    <a:solidFill>
                      <a:srgbClr val="1C2B4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  <a:latin typeface="Calibri"/>
                        </a:rPr>
                        <a:t>Black-Image Det. Rate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  <a:latin typeface="Calibri"/>
                        </a:rPr>
                        <a:t>83.3%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  <a:latin typeface="Calibri"/>
                        </a:rPr>
                        <a:t>Category 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  <a:latin typeface="Calibri"/>
                        </a:rPr>
                        <a:t>8.3%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  <a:latin typeface="Calibri"/>
                        </a:rPr>
                        <a:t>Color Fill Rate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  <a:latin typeface="Calibri"/>
                        </a:rPr>
                        <a:t>16.7%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  <a:latin typeface="Calibri"/>
                        </a:rPr>
                        <a:t>Material Fill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  <a:latin typeface="Calibri"/>
                        </a:rPr>
                        <a:t>16.7%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  <a:latin typeface="Calibri"/>
                        </a:rPr>
                        <a:t>Avg. Latency (sec)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  <a:latin typeface="Calibri"/>
                        </a:rPr>
                        <a:t>1.27s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  <a:latin typeface="Calibri"/>
                        </a:rPr>
                        <a:t>235.32s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137160"/>
            <a:ext cx="10817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B778D"/>
                </a:solidFill>
                <a:latin typeface="Calibri"/>
              </a:defRPr>
            </a:pPr>
            <a:r>
              <a:t>Layout Detection Benchmarking — Results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46520"/>
            <a:ext cx="685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78D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