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Detection Benchmarking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Review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DocLayoutYOLO  vs  NVIDIA Nemotron-Parse-v1.1  vs  LandingAI ADE-DPT2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146304" cy="146304"/>
          </a:xfrm>
          <a:prstGeom prst="ellipse">
            <a:avLst/>
          </a:prstGeom>
          <a:solidFill>
            <a:srgbClr val="4878A8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4645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DocLayoutYOLO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4709160"/>
            <a:ext cx="146304" cy="146304"/>
          </a:xfrm>
          <a:prstGeom prst="ellipse">
            <a:avLst/>
          </a:prstGeom>
          <a:solidFill>
            <a:srgbClr val="D9636B"/>
          </a:solidFill>
          <a:ln/>
        </p:spPr>
      </p:sp>
      <p:sp>
        <p:nvSpPr>
          <p:cNvPr id="9" name="Text 7"/>
          <p:cNvSpPr/>
          <p:nvPr/>
        </p:nvSpPr>
        <p:spPr>
          <a:xfrm>
            <a:off x="3328416" y="4645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Nemotron-Parse-v1.1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4709160"/>
            <a:ext cx="146304" cy="14630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1" name="Text 9"/>
          <p:cNvSpPr/>
          <p:nvPr/>
        </p:nvSpPr>
        <p:spPr>
          <a:xfrm>
            <a:off x="6071616" y="4645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ADE-DPT2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4709160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7900416" y="4645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5212080"/>
            <a:ext cx="10515600" cy="0"/>
          </a:xfrm>
          <a:prstGeom prst="line">
            <a:avLst/>
          </a:prstGeom>
          <a:noFill/>
          <a:ln w="12700">
            <a:solidFill>
              <a:srgbClr val="DCE2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349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public-dataset benchmark  +  Custom real-document benchmark vs human ground truth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Detection Benchmarking — Results 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Setup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Detection Benchmarking — Results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777240"/>
                <a:gridCol w="777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DocLayoutYOLO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detector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benchmarks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Nemotron-Parse-v1.1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ViT-H encoder + mBart decoder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~885M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benchmarks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B59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ADE-DPT2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API parser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960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/ Documents Used</a:t>
            </a:r>
            <a:endParaRPr lang="en-US" sz="14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298448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1887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/ Doc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 eval.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 format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PubLayNet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 format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DocBank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Token-level → block aggregation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medical catalog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(30pg PDF)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present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GT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(human-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annotated GT,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 elements)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product document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160520"/>
            <a:ext cx="11274552" cy="1691640"/>
          </a:xfrm>
          <a:prstGeom prst="roundRect">
            <a:avLst>
              <a:gd name="adj" fmla="val 3243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4315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Evaluation Tracks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46634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8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benchmark —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× 3 public datasets (DocLayNet, PubLayNet, DocBank), scored against published COCO-style annotations.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31520" y="51663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D9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benchmark —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models (DocLayoutYOLO, Nemotron-Parse) evaluated against human-labeled ground truth on a real 30-page medical product catalog.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Benchmark —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Detection Benchmarking — Results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(Intersection over Union)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167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IoU = Area(A ∩ B) / Area(A ∪ B)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unit of "how well two boxes overlap."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2311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Threshold/Remark: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≥ 0.50 is the standard match threshold.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70248" y="1024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/ F1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70248" y="1316736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13167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TP/(TP+FP)   R = TP/(TP+FN)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= 2PR / (P + R)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70248" y="18928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share of predictions that were real; R = share of real items found; F1 = balance of both.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70248" y="2350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Threshold/Remark: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&gt; 0.60 is generally considered usable.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83296" y="1024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11-pt Interpolated AP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83296" y="1316736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0456" y="13167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 = (1/11) · Σ max{P(r): r ≥ t}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t = 0, 0.1, ..., 1.0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83296" y="18928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a model that stays precise across all recall levels, not just one operating point.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83296" y="2350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Threshold/Remark: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1.0 = consistently strong across confidence thresholds.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 / mAP@50:95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465576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6557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mAP@50:95 = avg AP over IoU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0.50 → 0.95 in steps of 0.05,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averaged across classes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mAP@50:95 is the stricter score (rewards tight boxes); mAP@50 is more forgiving.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Threshold/Remark: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gap (e.g. 0.44 vs 0.30) means boxes are roughly right but not tightly localized.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70248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IoU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270248" y="3465576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34655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IoU = avg IoU of matched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(TP) pairs only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70248" y="4041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localization tightness, ignoring misses entirely.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70248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Threshold/Remark: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IoU &gt; 0.85 indicates tight boxes.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83296" y="317296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33101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via pycocotools (COCO standard)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47888" y="3721608"/>
            <a:ext cx="3236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metrics above are reported per dataset, per model, on the following slide.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Benchmark —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Detection Benchmarking — Results Review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7455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783080"/>
                <a:gridCol w="1280160"/>
                <a:gridCol w="1417320"/>
                <a:gridCol w="1280160"/>
                <a:gridCol w="1143000"/>
                <a:gridCol w="914400"/>
                <a:gridCol w="112471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mAP@50:95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IoU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DocLayoutYOLO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Nemotron-Parse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B59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ADE-DPT2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PubLayNet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DocLayoutYOLO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PubLayNet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Nemotron-Parse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PubLayNet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B59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ADE-DPT2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DocLayoutYOLO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Nemotron-Parse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B59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ADE-DPT2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14800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FBF0DD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114800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C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C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DocBank collapses for all 3 models (mAP@50 ≤ 0.023) — likely an annotation-granularity mismatch, not true model failure; flagged for investigation, not a real performance gap.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best value per metric within each dataset group.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Benchmark — Metrics (Layers 1–2)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Detection Benchmarking — Results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Geometric Match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1673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Hungarian-matched P / R / F1 / mean IoU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 IoU ≥ 0.50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Acc = correct-label matches /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matched pairs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both "did we find the region" and "did we label it right" — separately.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Threshold/Remark: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&gt; 0.60 good; Class Acc should track close to F1 — near 0 with healthy F1 signals a label-mapping bug, not real classification failure.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70248" y="1024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COTe Coverage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70248" y="1316736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13167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 = Area(GT ∩ anyPred) / Area(GT)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70248" y="17739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completeness — how much of the true region was found at all.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70248" y="22311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Threshold/Remark: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&gt; 0.70 is good.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83296" y="1024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COTe Overlap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83296" y="1316736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0456" y="13167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Overlap = Area(GT ∩ doubly-covered)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Area(Pred)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83296" y="18928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redundant double-coverage of ground truth by predictions.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83296" y="2350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Threshold/Remark: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better; should stay small relative to Coverage.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264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COTe Trespass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557016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570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Trespass = Area(Pred outside GT)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Area(Pred)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133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predicted area is "wasted" outside any true region.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590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Threshold/Remark: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Trespass &lt; 0.15 is good.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70248" y="3264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COTe Excess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270248" y="3557016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35570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Excess = Area(Pred) / Area(GT)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70248" y="40142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Over/under-detection ratio — total predicted area vs. total true area.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70248" y="44714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Threshold/Remark: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≈ 1.0 is ideal (&gt;1 over-detecting, &lt;1 under-detecting).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83296" y="3264408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3401568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Pixel-mask based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47888" y="3767328"/>
            <a:ext cx="3236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metrics operate on rendered pixel masks rather than box coordinates, giving a finer-grained read on spatial quality than IoU alone.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Benchmark — Metrics (Layers 3–4)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Detection Benchmarking — Results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LED Error Taxonomy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52728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Thresholds: IoU ≥ 0.10 "related" · ≥ 0.50 "matched" · ≥ 0.85 "duplicate"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27048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078224"/>
                <a:gridCol w="1554480"/>
                <a:gridCol w="4078224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 with no related pred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GT → multiple preds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 with no related GT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GT → 1 pred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Size-Error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Matched, 0.10 ≤ IoU &lt; 0.50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preds, mutual IoU ≥ 0.85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Matched, IoU ≥ 0.50, wrong label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Overlap-Pred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preds, 0.10 ≤ mutual IoU &lt; 0.85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one aggregate error rate into "what kind of mistake is happening" — directly actionable.  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Threshold/Remark: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+ Hallucination &lt; 10% = healthy; Misclassification &lt; 10% = good; anything dominating the breakdown points straight at the fix needed.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38328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Reading Order: ROKT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" y="3675888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3675888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ROKT (Kendall's τ) = (C − D) / (n(n−1)/2)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Hungarian-matched (IoU ≥ 0.30)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GT vs predicted order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437083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the model reconstructs the correct reading sequence, not just the right boxes.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482803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Threshold/Remark: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&gt; 0.70 = strong agreement; 1.0 is perfect.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91072" y="338328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Reading Order: ROA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91072" y="3675888"/>
            <a:ext cx="5440680" cy="384048"/>
          </a:xfrm>
          <a:prstGeom prst="roundRect">
            <a:avLst>
              <a:gd name="adj" fmla="val 14286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367588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 = 1 − (adjacent inversions) / (n − 1)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91072" y="413308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local reading-order correctness via adjacent-pair inversions.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91072" y="459028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Threshold/Remark: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is perfect; lower values indicate more local order swaps.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Benchmark — Results: Layer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Detection Benchmarking — Results Review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74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1691640"/>
                <a:gridCol w="1554480"/>
                <a:gridCol w="1371600"/>
                <a:gridCol w="1554480"/>
                <a:gridCol w="132588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IoU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Acc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DocLayoutYOLO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Nemotron-Parse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DocLayoutYOLO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Nemotron-Parse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DocLayoutYOLO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Nemotron-Parse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DocLayoutYOLO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Nemotron-Parse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DocLayoutYOLO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Nemotron-Parse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DocLayoutYOLO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Nemotron-Parse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69080"/>
            <a:ext cx="11274552" cy="594360"/>
          </a:xfrm>
          <a:prstGeom prst="roundRect">
            <a:avLst>
              <a:gd name="adj" fmla="val 7692"/>
            </a:avLst>
          </a:prstGeom>
          <a:solidFill>
            <a:srgbClr val="FBF0DD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069080"/>
            <a:ext cx="10835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C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C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Nemotron's Class Accuracy is 0.000 on every page despite healthy F1 — almost certainly a label-taxonomy normalization bug, flagged for engineering follow-up, not read as a real result.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Benchmark — Results: Layers 2–3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Detection Benchmarking — Results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Spatial Quality (COTe)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57784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325880"/>
                <a:gridCol w="914400"/>
                <a:gridCol w="914400"/>
                <a:gridCol w="914400"/>
                <a:gridCol w="914400"/>
              </a:tblGrid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896112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LED Error Taxonomy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09360" y="1152144"/>
            <a:ext cx="5422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out of 53 DocLayoutYOLO / 60 Nemotron-Parse total detections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408176"/>
          <a:ext cx="5422392" cy="914400"/>
        </p:xfrm>
        <a:graphic>
          <a:graphicData uri="http://schemas.openxmlformats.org/drawingml/2006/table">
            <a:tbl>
              <a:tblPr/>
              <a:tblGrid>
                <a:gridCol w="2221992"/>
                <a:gridCol w="1600200"/>
                <a:gridCol w="1600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DocLayoutYOLO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Nemotron-Parse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(20.8%)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(11.7%)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(5.7%)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(8.3%)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Size-Error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(3.8%)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(5.0%)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(0.0%)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(0.0%)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(1.9%)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(1.7%)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Overlap-Pred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(1.9%)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(0.0%)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(0.0%)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(0.0%)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(41.5%)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(86.7%)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160520"/>
            <a:ext cx="11274552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416052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two layers together: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DocLayoutYOLO holds higher Coverage with lower Trespass on most pages, while Nemotron's Layer 3 breakdown is dominated by Misclassification (86.7%) — consistent with the Class Accuracy bug seen in Layer 1.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4 Results &amp; Consolidated Scorecard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Detection Benchmarking — Results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Reading Order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51206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Kendall's 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87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DocLayoutYOLO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96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Nemotron-Parse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331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reading-order agreement across all pages for both models.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97880" y="914400"/>
            <a:ext cx="583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Scorecard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207008"/>
          <a:ext cx="58338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737360"/>
                <a:gridCol w="850392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DocLayoutYOLO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Nemotron-Parse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@ IoU 0.50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&gt;0.60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 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 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&gt;0.70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 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C6B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0.677  ⚠️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 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0.121 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+ Hallucination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C6B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26.5%  ⚠️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C6B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  ⚠️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2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41.5%  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2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86.7%  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Kendall's 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&gt;0.70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5349240"/>
            <a:ext cx="11274552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534924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scorecard as: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localization and reading order are solid for both models; the breakdown is concentrated entirely in classification accuracy, most severely for Nemotron-Parse.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Detection Benchmarking — Results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localize regions well and nail reading order — Layer 4 reading-order metrics hit a perfect 1.000 for both.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 the weak point for both models, and dramatically worse for Nemotron-Parse — likely a taxonomy-mapping bug that needs fixing before re-judging it.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DocLayoutYOLO is far cheaper to run (CPU-capable, ~20M params) and processed all 30 document pages, vs. Nemotron's 5.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sizes in both benchmarks are small (3 pages/dataset, 5 GT pages) — treat results as directional, not definitive.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960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63640" y="13258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Nemotron-Parse label-taxonomy mapping bug.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both benchmarks with larger samples for statistical confidence.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ADE-DPT2 to the custom benchmark for full 3-way parity.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393192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F4F6F8"/>
          </a:solidFill>
          <a:ln w="9525">
            <a:solidFill>
              <a:srgbClr val="DCE2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40782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Referenced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4434840"/>
            <a:ext cx="146304" cy="146304"/>
          </a:xfrm>
          <a:prstGeom prst="ellipse">
            <a:avLst/>
          </a:prstGeom>
          <a:solidFill>
            <a:srgbClr val="4878A8"/>
          </a:solidFill>
          <a:ln/>
        </p:spPr>
      </p:sp>
      <p:sp>
        <p:nvSpPr>
          <p:cNvPr id="12" name="Text 10"/>
          <p:cNvSpPr/>
          <p:nvPr/>
        </p:nvSpPr>
        <p:spPr>
          <a:xfrm>
            <a:off x="6711696" y="4370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DocLayoutYOLO — fast, cheap, CPU-capable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4754880"/>
            <a:ext cx="146304" cy="146304"/>
          </a:xfrm>
          <a:prstGeom prst="ellipse">
            <a:avLst/>
          </a:prstGeom>
          <a:solidFill>
            <a:srgbClr val="D9636B"/>
          </a:solidFill>
          <a:ln/>
        </p:spPr>
      </p:sp>
      <p:sp>
        <p:nvSpPr>
          <p:cNvPr id="14" name="Text 12"/>
          <p:cNvSpPr/>
          <p:nvPr/>
        </p:nvSpPr>
        <p:spPr>
          <a:xfrm>
            <a:off x="6711696" y="4690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Nemotron-Parse-v1.1 — strong but mislabeled classes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5074920"/>
            <a:ext cx="146304" cy="14630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6711696" y="5010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ADE-DPT2 — traditional benchmark only, to date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Detection Benchmarking — Results Review</dc:title>
  <dc:subject>PptxGenJS Presentation</dc:subject>
  <dc:creator>Layout Detection Benchmarking</dc:creator>
  <cp:lastModifiedBy>Layout Detection Benchmarking</cp:lastModifiedBy>
  <cp:revision>1</cp:revision>
  <dcterms:created xsi:type="dcterms:W3CDTF">2026-06-17T13:44:35Z</dcterms:created>
  <dcterms:modified xsi:type="dcterms:W3CDTF">2026-06-17T13:44:35Z</dcterms:modified>
</cp:coreProperties>
</file>